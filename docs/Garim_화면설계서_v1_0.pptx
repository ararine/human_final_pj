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986" autoAdjust="0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84" y="4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7438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D13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" y="1052513"/>
            <a:ext cx="457200" cy="952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714500" y="933450"/>
            <a:ext cx="290934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FFFFFF">
                    <a:alpha val="6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GARIM · 화면설계서 V1.0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143000" y="1485900"/>
            <a:ext cx="1373505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108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27개 화면 명세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1143000" y="2314575"/>
            <a:ext cx="1373505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108" dirty="0">
                <a:solidFill>
                  <a:srgbClr val="974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멀티모달 개인정보 도싱 방지 엔진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143000" y="3257550"/>
            <a:ext cx="10791825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00" dirty="0">
                <a:solidFill>
                  <a:srgbClr val="FFFFFF">
                    <a:alpha val="7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검출 → 분석 리포트 → 치환 → 다운로드 플로우 전반의 hi-fi 화면 명세서. MVP1 / v1 정식 / v2 단계 구분, B-1 컴플라이언스 원칙, 사용자 제어권 디자인 기조를 페이지별 표로 정리.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1143000" y="8582025"/>
            <a:ext cx="16002000" cy="9525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8858250"/>
            <a:ext cx="388505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96" dirty="0">
                <a:solidFill>
                  <a:srgbClr val="FFFFFF">
                    <a:alpha val="4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DOCUMENT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43000" y="9096375"/>
            <a:ext cx="38850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화면설계서 v1.0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19700" y="8858250"/>
            <a:ext cx="388505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96" dirty="0">
                <a:solidFill>
                  <a:srgbClr val="FFFFFF">
                    <a:alpha val="4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19700" y="9096375"/>
            <a:ext cx="38850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 screens · 7 groups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296400" y="8858250"/>
            <a:ext cx="388505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96" dirty="0">
                <a:solidFill>
                  <a:srgbClr val="FFFFFF">
                    <a:alpha val="4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STAGES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296400" y="9096375"/>
            <a:ext cx="38850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 / v1 정식 / v2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373100" y="8858250"/>
            <a:ext cx="388505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96" dirty="0">
                <a:solidFill>
                  <a:srgbClr val="FFFFFF">
                    <a:alpha val="4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UPDATED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373100" y="9096375"/>
            <a:ext cx="388505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2026.05.14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1726692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54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정보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62000" y="1666875"/>
            <a:ext cx="1726692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개정 이력 · 적용 범위 · 단계 구분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62000" y="2371725"/>
            <a:ext cx="8621018" cy="7381875"/>
          </a:xfrm>
          <a:prstGeom prst="roundRect">
            <a:avLst>
              <a:gd name="adj" fmla="val 516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38225" y="2981325"/>
            <a:ext cx="8068568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7" name="Text 5"/>
          <p:cNvSpPr/>
          <p:nvPr/>
        </p:nvSpPr>
        <p:spPr>
          <a:xfrm>
            <a:off x="1038225" y="2609850"/>
            <a:ext cx="83106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개정 이력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1038225" y="3114675"/>
            <a:ext cx="1390650" cy="423863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9" name="Shape 7"/>
          <p:cNvSpPr/>
          <p:nvPr/>
        </p:nvSpPr>
        <p:spPr>
          <a:xfrm>
            <a:off x="1038225" y="3529013"/>
            <a:ext cx="139065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0" name="Text 8"/>
          <p:cNvSpPr/>
          <p:nvPr/>
        </p:nvSpPr>
        <p:spPr>
          <a:xfrm>
            <a:off x="1114425" y="3209925"/>
            <a:ext cx="1314450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버전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428875" y="3114675"/>
            <a:ext cx="1581150" cy="423863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2428875" y="3529013"/>
            <a:ext cx="158115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3" name="Text 11"/>
          <p:cNvSpPr/>
          <p:nvPr/>
        </p:nvSpPr>
        <p:spPr>
          <a:xfrm>
            <a:off x="2505075" y="3209925"/>
            <a:ext cx="1504950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일자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010025" y="3114675"/>
            <a:ext cx="3801368" cy="423863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5" name="Shape 13"/>
          <p:cNvSpPr/>
          <p:nvPr/>
        </p:nvSpPr>
        <p:spPr>
          <a:xfrm>
            <a:off x="4010025" y="3529013"/>
            <a:ext cx="3801368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6" name="Text 14"/>
          <p:cNvSpPr/>
          <p:nvPr/>
        </p:nvSpPr>
        <p:spPr>
          <a:xfrm>
            <a:off x="4086225" y="3209925"/>
            <a:ext cx="3763009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 요지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811393" y="3114675"/>
            <a:ext cx="1295400" cy="423863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8" name="Shape 16"/>
          <p:cNvSpPr/>
          <p:nvPr/>
        </p:nvSpPr>
        <p:spPr>
          <a:xfrm>
            <a:off x="7811393" y="3529013"/>
            <a:ext cx="12954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9" name="Text 17"/>
          <p:cNvSpPr/>
          <p:nvPr/>
        </p:nvSpPr>
        <p:spPr>
          <a:xfrm>
            <a:off x="7887593" y="3209925"/>
            <a:ext cx="1219200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038225" y="4024313"/>
            <a:ext cx="139065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1" name="Text 19"/>
          <p:cNvSpPr/>
          <p:nvPr/>
        </p:nvSpPr>
        <p:spPr>
          <a:xfrm>
            <a:off x="1114425" y="3633787"/>
            <a:ext cx="1314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v0.6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2428875" y="4024313"/>
            <a:ext cx="158115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3" name="Text 21"/>
          <p:cNvSpPr/>
          <p:nvPr/>
        </p:nvSpPr>
        <p:spPr>
          <a:xfrm>
            <a:off x="2505075" y="3633787"/>
            <a:ext cx="15049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2026.04.18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4010025" y="4024313"/>
            <a:ext cx="3801368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5" name="Text 23"/>
          <p:cNvSpPr/>
          <p:nvPr/>
        </p:nvSpPr>
        <p:spPr>
          <a:xfrm>
            <a:off x="4086225" y="3633787"/>
            <a:ext cx="37630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와이어 27개 작성 (그룹 1~5)</a:t>
            </a:r>
            <a:endParaRPr lang="en-US" sz="1950" dirty="0"/>
          </a:p>
        </p:txBody>
      </p:sp>
      <p:sp>
        <p:nvSpPr>
          <p:cNvPr id="26" name="Shape 24"/>
          <p:cNvSpPr/>
          <p:nvPr/>
        </p:nvSpPr>
        <p:spPr>
          <a:xfrm>
            <a:off x="7811393" y="4024313"/>
            <a:ext cx="12954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7" name="Text 25"/>
          <p:cNvSpPr/>
          <p:nvPr/>
        </p:nvSpPr>
        <p:spPr>
          <a:xfrm>
            <a:off x="7887593" y="3633787"/>
            <a:ext cx="1219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038225" y="4519613"/>
            <a:ext cx="139065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9" name="Text 27"/>
          <p:cNvSpPr/>
          <p:nvPr/>
        </p:nvSpPr>
        <p:spPr>
          <a:xfrm>
            <a:off x="1114425" y="4129088"/>
            <a:ext cx="1314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v0.8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2428875" y="4519613"/>
            <a:ext cx="158115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1" name="Text 29"/>
          <p:cNvSpPr/>
          <p:nvPr/>
        </p:nvSpPr>
        <p:spPr>
          <a:xfrm>
            <a:off x="2505075" y="4129088"/>
            <a:ext cx="15049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2026.04.30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4010025" y="4519613"/>
            <a:ext cx="3801368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3" name="Text 31"/>
          <p:cNvSpPr/>
          <p:nvPr/>
        </p:nvSpPr>
        <p:spPr>
          <a:xfrm>
            <a:off x="4086225" y="4129088"/>
            <a:ext cx="37630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그룹 6·7 추가, 단계 배지 도입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7811393" y="4519613"/>
            <a:ext cx="12954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5" name="Text 33"/>
          <p:cNvSpPr/>
          <p:nvPr/>
        </p:nvSpPr>
        <p:spPr>
          <a:xfrm>
            <a:off x="7887593" y="4129088"/>
            <a:ext cx="121920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</a:t>
            </a:r>
            <a:endParaRPr lang="en-US" sz="1950" dirty="0"/>
          </a:p>
        </p:txBody>
      </p:sp>
      <p:sp>
        <p:nvSpPr>
          <p:cNvPr id="36" name="Shape 34"/>
          <p:cNvSpPr/>
          <p:nvPr/>
        </p:nvSpPr>
        <p:spPr>
          <a:xfrm>
            <a:off x="1038225" y="5310188"/>
            <a:ext cx="139065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7" name="Text 35"/>
          <p:cNvSpPr/>
          <p:nvPr/>
        </p:nvSpPr>
        <p:spPr>
          <a:xfrm>
            <a:off x="1114425" y="4624388"/>
            <a:ext cx="13144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v0.9</a:t>
            </a:r>
            <a:endParaRPr lang="en-US" sz="1950" dirty="0"/>
          </a:p>
        </p:txBody>
      </p:sp>
      <p:sp>
        <p:nvSpPr>
          <p:cNvPr id="38" name="Shape 36"/>
          <p:cNvSpPr/>
          <p:nvPr/>
        </p:nvSpPr>
        <p:spPr>
          <a:xfrm>
            <a:off x="2428875" y="5310188"/>
            <a:ext cx="158115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9" name="Text 37"/>
          <p:cNvSpPr/>
          <p:nvPr/>
        </p:nvSpPr>
        <p:spPr>
          <a:xfrm>
            <a:off x="2505075" y="4624388"/>
            <a:ext cx="15049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2026.05.08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4010025" y="5310188"/>
            <a:ext cx="3801368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1" name="Text 39"/>
          <p:cNvSpPr/>
          <p:nvPr/>
        </p:nvSpPr>
        <p:spPr>
          <a:xfrm>
            <a:off x="4086225" y="4624388"/>
            <a:ext cx="376300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B-1 동의 분리·B-3 워터마크 정책 반영</a:t>
            </a:r>
            <a:endParaRPr lang="en-US" sz="1950" dirty="0"/>
          </a:p>
        </p:txBody>
      </p:sp>
      <p:sp>
        <p:nvSpPr>
          <p:cNvPr id="42" name="Shape 40"/>
          <p:cNvSpPr/>
          <p:nvPr/>
        </p:nvSpPr>
        <p:spPr>
          <a:xfrm>
            <a:off x="7811393" y="5310188"/>
            <a:ext cx="12954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3" name="Text 41"/>
          <p:cNvSpPr/>
          <p:nvPr/>
        </p:nvSpPr>
        <p:spPr>
          <a:xfrm>
            <a:off x="7887593" y="4624388"/>
            <a:ext cx="12192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기획·법무</a:t>
            </a:r>
            <a:endParaRPr lang="en-US" sz="1950" dirty="0"/>
          </a:p>
        </p:txBody>
      </p:sp>
      <p:sp>
        <p:nvSpPr>
          <p:cNvPr id="44" name="Shape 42"/>
          <p:cNvSpPr/>
          <p:nvPr/>
        </p:nvSpPr>
        <p:spPr>
          <a:xfrm>
            <a:off x="1038225" y="6100763"/>
            <a:ext cx="139065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5" name="Text 43"/>
          <p:cNvSpPr/>
          <p:nvPr/>
        </p:nvSpPr>
        <p:spPr>
          <a:xfrm>
            <a:off x="1114425" y="5414963"/>
            <a:ext cx="13144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v1.0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2428875" y="6100763"/>
            <a:ext cx="158115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7" name="Text 45"/>
          <p:cNvSpPr/>
          <p:nvPr/>
        </p:nvSpPr>
        <p:spPr>
          <a:xfrm>
            <a:off x="2505075" y="5414963"/>
            <a:ext cx="15049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2026.05.14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4010025" y="6100763"/>
            <a:ext cx="3801368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9" name="Text 47"/>
          <p:cNvSpPr/>
          <p:nvPr/>
        </p:nvSpPr>
        <p:spPr>
          <a:xfrm>
            <a:off x="4086225" y="5414963"/>
            <a:ext cx="376300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리포트(10)·치환 옵션(15) 최우선 확정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7811393" y="6100763"/>
            <a:ext cx="12954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51" name="Text 49"/>
          <p:cNvSpPr/>
          <p:nvPr/>
        </p:nvSpPr>
        <p:spPr>
          <a:xfrm>
            <a:off x="7887593" y="5414963"/>
            <a:ext cx="12192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기획·디자인</a:t>
            </a:r>
            <a:endParaRPr lang="en-US" sz="1950" dirty="0"/>
          </a:p>
        </p:txBody>
      </p:sp>
      <p:sp>
        <p:nvSpPr>
          <p:cNvPr id="52" name="Shape 50"/>
          <p:cNvSpPr/>
          <p:nvPr/>
        </p:nvSpPr>
        <p:spPr>
          <a:xfrm>
            <a:off x="1038225" y="6772275"/>
            <a:ext cx="8068568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3" name="Text 51"/>
          <p:cNvSpPr/>
          <p:nvPr/>
        </p:nvSpPr>
        <p:spPr>
          <a:xfrm>
            <a:off x="1038225" y="6400800"/>
            <a:ext cx="83106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적용 범위</a:t>
            </a:r>
            <a:endParaRPr lang="en-US" sz="1950" dirty="0"/>
          </a:p>
        </p:txBody>
      </p:sp>
      <p:sp>
        <p:nvSpPr>
          <p:cNvPr id="54" name="Text 52"/>
          <p:cNvSpPr/>
          <p:nvPr/>
        </p:nvSpPr>
        <p:spPr>
          <a:xfrm>
            <a:off x="1038225" y="6905625"/>
            <a:ext cx="831062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27개 화면의 IA·컴포넌트 매핑·분기·데이터 보유 정책을 정의한다. 상호작용 디테일·마이크로 카피·반응형 변형은 별도 인터랙션 명세에서 다룬다.</a:t>
            </a:r>
            <a:endParaRPr lang="en-US" sz="1950" dirty="0"/>
          </a:p>
        </p:txBody>
      </p:sp>
      <p:sp>
        <p:nvSpPr>
          <p:cNvPr id="55" name="Shape 53"/>
          <p:cNvSpPr/>
          <p:nvPr/>
        </p:nvSpPr>
        <p:spPr>
          <a:xfrm>
            <a:off x="9725918" y="2371725"/>
            <a:ext cx="7800082" cy="7381875"/>
          </a:xfrm>
          <a:prstGeom prst="roundRect">
            <a:avLst>
              <a:gd name="adj" fmla="val 516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0002143" y="2981325"/>
            <a:ext cx="7247632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7" name="Text 55"/>
          <p:cNvSpPr/>
          <p:nvPr/>
        </p:nvSpPr>
        <p:spPr>
          <a:xfrm>
            <a:off x="10002143" y="2609850"/>
            <a:ext cx="74650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구분 (MVP1 / v1 정식 / v2)</a:t>
            </a:r>
            <a:endParaRPr lang="en-US" sz="1950" dirty="0"/>
          </a:p>
        </p:txBody>
      </p:sp>
      <p:sp>
        <p:nvSpPr>
          <p:cNvPr id="58" name="Shape 56"/>
          <p:cNvSpPr/>
          <p:nvPr/>
        </p:nvSpPr>
        <p:spPr>
          <a:xfrm>
            <a:off x="10002143" y="3114675"/>
            <a:ext cx="1390650" cy="423863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59" name="Shape 57"/>
          <p:cNvSpPr/>
          <p:nvPr/>
        </p:nvSpPr>
        <p:spPr>
          <a:xfrm>
            <a:off x="10002143" y="3529013"/>
            <a:ext cx="139065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60" name="Text 58"/>
          <p:cNvSpPr/>
          <p:nvPr/>
        </p:nvSpPr>
        <p:spPr>
          <a:xfrm>
            <a:off x="10078343" y="3209925"/>
            <a:ext cx="1314450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11392793" y="3114675"/>
            <a:ext cx="4942582" cy="423863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62" name="Shape 60"/>
          <p:cNvSpPr/>
          <p:nvPr/>
        </p:nvSpPr>
        <p:spPr>
          <a:xfrm>
            <a:off x="11392793" y="3529013"/>
            <a:ext cx="4942582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63" name="Text 61"/>
          <p:cNvSpPr/>
          <p:nvPr/>
        </p:nvSpPr>
        <p:spPr>
          <a:xfrm>
            <a:off x="11468993" y="3209925"/>
            <a:ext cx="4938459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범위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16335375" y="3114675"/>
            <a:ext cx="914400" cy="423863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65" name="Shape 63"/>
          <p:cNvSpPr/>
          <p:nvPr/>
        </p:nvSpPr>
        <p:spPr>
          <a:xfrm>
            <a:off x="16335375" y="3529013"/>
            <a:ext cx="9144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66" name="Text 64"/>
          <p:cNvSpPr/>
          <p:nvPr/>
        </p:nvSpPr>
        <p:spPr>
          <a:xfrm>
            <a:off x="16411575" y="3209925"/>
            <a:ext cx="838200" cy="2619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</a:t>
            </a:r>
            <a:endParaRPr lang="en-US" sz="1500" dirty="0"/>
          </a:p>
        </p:txBody>
      </p:sp>
      <p:sp>
        <p:nvSpPr>
          <p:cNvPr id="67" name="Shape 65"/>
          <p:cNvSpPr/>
          <p:nvPr/>
        </p:nvSpPr>
        <p:spPr>
          <a:xfrm>
            <a:off x="10002143" y="4319588"/>
            <a:ext cx="139065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68" name="Shape 66"/>
          <p:cNvSpPr/>
          <p:nvPr/>
        </p:nvSpPr>
        <p:spPr>
          <a:xfrm>
            <a:off x="10078343" y="3676650"/>
            <a:ext cx="712887" cy="276225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/>
        </p:spPr>
      </p:sp>
      <p:sp>
        <p:nvSpPr>
          <p:cNvPr id="69" name="Text 67"/>
          <p:cNvSpPr/>
          <p:nvPr/>
        </p:nvSpPr>
        <p:spPr>
          <a:xfrm>
            <a:off x="10192643" y="3714750"/>
            <a:ext cx="56048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157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</a:t>
            </a:r>
            <a:endParaRPr lang="en-US" sz="1350" dirty="0"/>
          </a:p>
        </p:txBody>
      </p:sp>
      <p:sp>
        <p:nvSpPr>
          <p:cNvPr id="70" name="Shape 68"/>
          <p:cNvSpPr/>
          <p:nvPr/>
        </p:nvSpPr>
        <p:spPr>
          <a:xfrm>
            <a:off x="11392793" y="4319588"/>
            <a:ext cx="4942582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71" name="Text 69"/>
          <p:cNvSpPr/>
          <p:nvPr/>
        </p:nvSpPr>
        <p:spPr>
          <a:xfrm>
            <a:off x="11468993" y="3633787"/>
            <a:ext cx="493845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검출 + 치환 + SNS 점검 + 다운로드 (워터마크 포함). 포트폴리오·시연 단계</a:t>
            </a:r>
            <a:endParaRPr lang="en-US" sz="1950" dirty="0"/>
          </a:p>
        </p:txBody>
      </p:sp>
      <p:sp>
        <p:nvSpPr>
          <p:cNvPr id="72" name="Shape 70"/>
          <p:cNvSpPr/>
          <p:nvPr/>
        </p:nvSpPr>
        <p:spPr>
          <a:xfrm>
            <a:off x="16335375" y="4319588"/>
            <a:ext cx="9144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73" name="Text 71"/>
          <p:cNvSpPr/>
          <p:nvPr/>
        </p:nvSpPr>
        <p:spPr>
          <a:xfrm>
            <a:off x="16373475" y="3633787"/>
            <a:ext cx="8382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950" dirty="0"/>
          </a:p>
        </p:txBody>
      </p:sp>
      <p:sp>
        <p:nvSpPr>
          <p:cNvPr id="74" name="Shape 72"/>
          <p:cNvSpPr/>
          <p:nvPr/>
        </p:nvSpPr>
        <p:spPr>
          <a:xfrm>
            <a:off x="10002143" y="5110163"/>
            <a:ext cx="139065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75" name="Shape 73"/>
          <p:cNvSpPr/>
          <p:nvPr/>
        </p:nvSpPr>
        <p:spPr>
          <a:xfrm>
            <a:off x="10078343" y="4467225"/>
            <a:ext cx="770334" cy="276225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76" name="Text 74"/>
          <p:cNvSpPr/>
          <p:nvPr/>
        </p:nvSpPr>
        <p:spPr>
          <a:xfrm>
            <a:off x="10192643" y="4505325"/>
            <a:ext cx="61793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 정식</a:t>
            </a:r>
            <a:endParaRPr lang="en-US" sz="1350" dirty="0"/>
          </a:p>
        </p:txBody>
      </p:sp>
      <p:sp>
        <p:nvSpPr>
          <p:cNvPr id="77" name="Shape 75"/>
          <p:cNvSpPr/>
          <p:nvPr/>
        </p:nvSpPr>
        <p:spPr>
          <a:xfrm>
            <a:off x="11392793" y="5110163"/>
            <a:ext cx="4942582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78" name="Text 76"/>
          <p:cNvSpPr/>
          <p:nvPr/>
        </p:nvSpPr>
        <p:spPr>
          <a:xfrm>
            <a:off x="11468993" y="4424363"/>
            <a:ext cx="493845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결제 시스템 (1회권 · Pro · Studio · Enterprise). 정식 출시</a:t>
            </a:r>
            <a:endParaRPr lang="en-US" sz="1950" dirty="0"/>
          </a:p>
        </p:txBody>
      </p:sp>
      <p:sp>
        <p:nvSpPr>
          <p:cNvPr id="79" name="Shape 77"/>
          <p:cNvSpPr/>
          <p:nvPr/>
        </p:nvSpPr>
        <p:spPr>
          <a:xfrm>
            <a:off x="16335375" y="5110163"/>
            <a:ext cx="9144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80" name="Text 78"/>
          <p:cNvSpPr/>
          <p:nvPr/>
        </p:nvSpPr>
        <p:spPr>
          <a:xfrm>
            <a:off x="16373475" y="4424363"/>
            <a:ext cx="8382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</a:t>
            </a:r>
            <a:endParaRPr lang="en-US" sz="1950" dirty="0"/>
          </a:p>
        </p:txBody>
      </p:sp>
      <p:sp>
        <p:nvSpPr>
          <p:cNvPr id="81" name="Shape 79"/>
          <p:cNvSpPr/>
          <p:nvPr/>
        </p:nvSpPr>
        <p:spPr>
          <a:xfrm>
            <a:off x="10002143" y="5900738"/>
            <a:ext cx="139065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82" name="Shape 80"/>
          <p:cNvSpPr/>
          <p:nvPr/>
        </p:nvSpPr>
        <p:spPr>
          <a:xfrm>
            <a:off x="10078343" y="5257800"/>
            <a:ext cx="433239" cy="276225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/>
        </p:spPr>
      </p:sp>
      <p:sp>
        <p:nvSpPr>
          <p:cNvPr id="83" name="Text 81"/>
          <p:cNvSpPr/>
          <p:nvPr/>
        </p:nvSpPr>
        <p:spPr>
          <a:xfrm>
            <a:off x="10192643" y="5295900"/>
            <a:ext cx="2808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4A14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v2</a:t>
            </a:r>
            <a:endParaRPr lang="en-US" sz="1350" dirty="0"/>
          </a:p>
        </p:txBody>
      </p:sp>
      <p:sp>
        <p:nvSpPr>
          <p:cNvPr id="84" name="Shape 82"/>
          <p:cNvSpPr/>
          <p:nvPr/>
        </p:nvSpPr>
        <p:spPr>
          <a:xfrm>
            <a:off x="11392793" y="5900738"/>
            <a:ext cx="4942582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85" name="Text 83"/>
          <p:cNvSpPr/>
          <p:nvPr/>
        </p:nvSpPr>
        <p:spPr>
          <a:xfrm>
            <a:off x="11468993" y="5214938"/>
            <a:ext cx="4938459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얼굴 자연 합성 · 음성 변조 · 모바일 · 문서 · 라이브</a:t>
            </a:r>
            <a:endParaRPr lang="en-US" sz="1950" dirty="0"/>
          </a:p>
        </p:txBody>
      </p:sp>
      <p:sp>
        <p:nvSpPr>
          <p:cNvPr id="86" name="Shape 84"/>
          <p:cNvSpPr/>
          <p:nvPr/>
        </p:nvSpPr>
        <p:spPr>
          <a:xfrm>
            <a:off x="16335375" y="5900738"/>
            <a:ext cx="9144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87" name="Text 85"/>
          <p:cNvSpPr/>
          <p:nvPr/>
        </p:nvSpPr>
        <p:spPr>
          <a:xfrm>
            <a:off x="16373475" y="5214938"/>
            <a:ext cx="83820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</a:t>
            </a:r>
            <a:endParaRPr lang="en-US" sz="1950" dirty="0"/>
          </a:p>
        </p:txBody>
      </p:sp>
      <p:sp>
        <p:nvSpPr>
          <p:cNvPr id="88" name="Shape 86"/>
          <p:cNvSpPr/>
          <p:nvPr/>
        </p:nvSpPr>
        <p:spPr>
          <a:xfrm>
            <a:off x="10002143" y="6572250"/>
            <a:ext cx="7247632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89" name="Text 87"/>
          <p:cNvSpPr/>
          <p:nvPr/>
        </p:nvSpPr>
        <p:spPr>
          <a:xfrm>
            <a:off x="10002143" y="6200775"/>
            <a:ext cx="746506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kern="0" spc="-19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컴플라이언스 원칙</a:t>
            </a:r>
            <a:endParaRPr lang="en-US" sz="1950" dirty="0"/>
          </a:p>
        </p:txBody>
      </p:sp>
      <p:sp>
        <p:nvSpPr>
          <p:cNvPr id="90" name="Shape 88"/>
          <p:cNvSpPr/>
          <p:nvPr/>
        </p:nvSpPr>
        <p:spPr>
          <a:xfrm>
            <a:off x="10002143" y="7186613"/>
            <a:ext cx="139065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1" name="Text 89"/>
          <p:cNvSpPr/>
          <p:nvPr/>
        </p:nvSpPr>
        <p:spPr>
          <a:xfrm>
            <a:off x="10078343" y="6800850"/>
            <a:ext cx="131445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B-1</a:t>
            </a:r>
            <a:endParaRPr lang="en-US" sz="1950" dirty="0"/>
          </a:p>
        </p:txBody>
      </p:sp>
      <p:sp>
        <p:nvSpPr>
          <p:cNvPr id="92" name="Shape 90"/>
          <p:cNvSpPr/>
          <p:nvPr/>
        </p:nvSpPr>
        <p:spPr>
          <a:xfrm>
            <a:off x="11392793" y="7186613"/>
            <a:ext cx="5856982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3" name="Text 91"/>
          <p:cNvSpPr/>
          <p:nvPr/>
        </p:nvSpPr>
        <p:spPr>
          <a:xfrm>
            <a:off x="11468993" y="6800850"/>
            <a:ext cx="588029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최소 수집 · 동의 분리 · 결제 정보 PG 위탁 비경유</a:t>
            </a:r>
            <a:endParaRPr lang="en-US" sz="1950" dirty="0"/>
          </a:p>
        </p:txBody>
      </p:sp>
      <p:sp>
        <p:nvSpPr>
          <p:cNvPr id="94" name="Shape 92"/>
          <p:cNvSpPr/>
          <p:nvPr/>
        </p:nvSpPr>
        <p:spPr>
          <a:xfrm>
            <a:off x="10002143" y="7681912"/>
            <a:ext cx="139065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5" name="Text 93"/>
          <p:cNvSpPr/>
          <p:nvPr/>
        </p:nvSpPr>
        <p:spPr>
          <a:xfrm>
            <a:off x="10078343" y="7291388"/>
            <a:ext cx="1314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B-2</a:t>
            </a:r>
            <a:endParaRPr lang="en-US" sz="1950" dirty="0"/>
          </a:p>
        </p:txBody>
      </p:sp>
      <p:sp>
        <p:nvSpPr>
          <p:cNvPr id="96" name="Shape 94"/>
          <p:cNvSpPr/>
          <p:nvPr/>
        </p:nvSpPr>
        <p:spPr>
          <a:xfrm>
            <a:off x="11392793" y="7681912"/>
            <a:ext cx="5856982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7" name="Text 95"/>
          <p:cNvSpPr/>
          <p:nvPr/>
        </p:nvSpPr>
        <p:spPr>
          <a:xfrm>
            <a:off x="11468993" y="7291388"/>
            <a:ext cx="58802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 본인 OAuth 한정. 크롤링 없음. 자동 게시·삭제 없음</a:t>
            </a:r>
            <a:endParaRPr lang="en-US" sz="1950" dirty="0"/>
          </a:p>
        </p:txBody>
      </p:sp>
      <p:sp>
        <p:nvSpPr>
          <p:cNvPr id="98" name="Shape 96"/>
          <p:cNvSpPr/>
          <p:nvPr/>
        </p:nvSpPr>
        <p:spPr>
          <a:xfrm>
            <a:off x="10002143" y="8472488"/>
            <a:ext cx="139065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9" name="Text 97"/>
          <p:cNvSpPr/>
          <p:nvPr/>
        </p:nvSpPr>
        <p:spPr>
          <a:xfrm>
            <a:off x="10078343" y="7786688"/>
            <a:ext cx="1314450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B-3</a:t>
            </a:r>
            <a:endParaRPr lang="en-US" sz="1950" dirty="0"/>
          </a:p>
        </p:txBody>
      </p:sp>
      <p:sp>
        <p:nvSpPr>
          <p:cNvPr id="100" name="Shape 98"/>
          <p:cNvSpPr/>
          <p:nvPr/>
        </p:nvSpPr>
        <p:spPr>
          <a:xfrm>
            <a:off x="11392793" y="8472488"/>
            <a:ext cx="5856982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01" name="Text 99"/>
          <p:cNvSpPr/>
          <p:nvPr/>
        </p:nvSpPr>
        <p:spPr>
          <a:xfrm>
            <a:off x="11468993" y="7786688"/>
            <a:ext cx="5880291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거부 콘텐츠 차단 · 처리 결과 스테가노그래피 워터마크 항상 적용</a:t>
            </a:r>
            <a:endParaRPr lang="en-US" sz="1950" dirty="0"/>
          </a:p>
        </p:txBody>
      </p:sp>
      <p:sp>
        <p:nvSpPr>
          <p:cNvPr id="102" name="Shape 100"/>
          <p:cNvSpPr/>
          <p:nvPr/>
        </p:nvSpPr>
        <p:spPr>
          <a:xfrm>
            <a:off x="10002143" y="8967788"/>
            <a:ext cx="139065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03" name="Text 101"/>
          <p:cNvSpPr/>
          <p:nvPr/>
        </p:nvSpPr>
        <p:spPr>
          <a:xfrm>
            <a:off x="10078343" y="8577262"/>
            <a:ext cx="1314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B-4</a:t>
            </a:r>
            <a:endParaRPr lang="en-US" sz="1950" dirty="0"/>
          </a:p>
        </p:txBody>
      </p:sp>
      <p:sp>
        <p:nvSpPr>
          <p:cNvPr id="104" name="Shape 102"/>
          <p:cNvSpPr/>
          <p:nvPr/>
        </p:nvSpPr>
        <p:spPr>
          <a:xfrm>
            <a:off x="11392793" y="8967788"/>
            <a:ext cx="5856982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05" name="Text 103"/>
          <p:cNvSpPr/>
          <p:nvPr/>
        </p:nvSpPr>
        <p:spPr>
          <a:xfrm>
            <a:off x="11468993" y="8577262"/>
            <a:ext cx="58802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제3자 권리 보호 — 본인 얼굴 화이트리스트 (v2)</a:t>
            </a:r>
            <a:endParaRPr lang="en-US" sz="1950" dirty="0"/>
          </a:p>
        </p:txBody>
      </p:sp>
      <p:sp>
        <p:nvSpPr>
          <p:cNvPr id="106" name="Shape 104"/>
          <p:cNvSpPr/>
          <p:nvPr/>
        </p:nvSpPr>
        <p:spPr>
          <a:xfrm>
            <a:off x="10002143" y="9463088"/>
            <a:ext cx="139065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07" name="Text 105"/>
          <p:cNvSpPr/>
          <p:nvPr/>
        </p:nvSpPr>
        <p:spPr>
          <a:xfrm>
            <a:off x="10078343" y="9072563"/>
            <a:ext cx="13144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B-6</a:t>
            </a:r>
            <a:endParaRPr lang="en-US" sz="1950" dirty="0"/>
          </a:p>
        </p:txBody>
      </p:sp>
      <p:sp>
        <p:nvSpPr>
          <p:cNvPr id="108" name="Shape 106"/>
          <p:cNvSpPr/>
          <p:nvPr/>
        </p:nvSpPr>
        <p:spPr>
          <a:xfrm>
            <a:off x="11392793" y="9463088"/>
            <a:ext cx="5856982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09" name="Text 107"/>
          <p:cNvSpPr/>
          <p:nvPr/>
        </p:nvSpPr>
        <p:spPr>
          <a:xfrm>
            <a:off x="11468993" y="9072563"/>
            <a:ext cx="588029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 매트릭스 운영 대응 — 어뷰징·GPU·법적 분쟁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1726692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54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페이지 인덱스 · 27개 화면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62000" y="1666875"/>
            <a:ext cx="1726692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그룹 7개 · 단계 3종 (MVP1 / v1 정식 / v2)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62000" y="2371725"/>
            <a:ext cx="762000" cy="411361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2764036"/>
            <a:ext cx="762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7" name="Text 5"/>
          <p:cNvSpPr/>
          <p:nvPr/>
        </p:nvSpPr>
        <p:spPr>
          <a:xfrm>
            <a:off x="895350" y="2438400"/>
            <a:ext cx="571500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524000" y="2371725"/>
            <a:ext cx="4267200" cy="411361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9" name="Shape 7"/>
          <p:cNvSpPr/>
          <p:nvPr/>
        </p:nvSpPr>
        <p:spPr>
          <a:xfrm>
            <a:off x="1524000" y="2764036"/>
            <a:ext cx="42672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10" name="Text 8"/>
          <p:cNvSpPr/>
          <p:nvPr/>
        </p:nvSpPr>
        <p:spPr>
          <a:xfrm>
            <a:off x="1657350" y="2438400"/>
            <a:ext cx="4128516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화면명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91200" y="2371725"/>
            <a:ext cx="1905000" cy="411361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2" name="Shape 10"/>
          <p:cNvSpPr/>
          <p:nvPr/>
        </p:nvSpPr>
        <p:spPr>
          <a:xfrm>
            <a:off x="5791200" y="2764036"/>
            <a:ext cx="1905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13" name="Text 11"/>
          <p:cNvSpPr/>
          <p:nvPr/>
        </p:nvSpPr>
        <p:spPr>
          <a:xfrm>
            <a:off x="5924550" y="2438400"/>
            <a:ext cx="1714500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그룹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696200" y="2371725"/>
            <a:ext cx="1333500" cy="411361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5" name="Shape 13"/>
          <p:cNvSpPr/>
          <p:nvPr/>
        </p:nvSpPr>
        <p:spPr>
          <a:xfrm>
            <a:off x="7696200" y="2764036"/>
            <a:ext cx="13335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16" name="Text 14"/>
          <p:cNvSpPr/>
          <p:nvPr/>
        </p:nvSpPr>
        <p:spPr>
          <a:xfrm>
            <a:off x="7829550" y="2438400"/>
            <a:ext cx="1143000" cy="297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62000" y="3275409"/>
            <a:ext cx="762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8" name="Text 16"/>
          <p:cNvSpPr/>
          <p:nvPr/>
        </p:nvSpPr>
        <p:spPr>
          <a:xfrm>
            <a:off x="895350" y="2849761"/>
            <a:ext cx="571500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1524000" y="3275409"/>
            <a:ext cx="42672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0" name="Text 18"/>
          <p:cNvSpPr/>
          <p:nvPr/>
        </p:nvSpPr>
        <p:spPr>
          <a:xfrm>
            <a:off x="1657350" y="2849761"/>
            <a:ext cx="4128516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랜딩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5791200" y="3275409"/>
            <a:ext cx="1905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2" name="Text 20"/>
          <p:cNvSpPr/>
          <p:nvPr/>
        </p:nvSpPr>
        <p:spPr>
          <a:xfrm>
            <a:off x="5924550" y="2849761"/>
            <a:ext cx="1714500" cy="3970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영역</a:t>
            </a:r>
            <a:endParaRPr lang="en-US" sz="1950" dirty="0"/>
          </a:p>
        </p:txBody>
      </p:sp>
      <p:sp>
        <p:nvSpPr>
          <p:cNvPr id="23" name="Shape 21"/>
          <p:cNvSpPr/>
          <p:nvPr/>
        </p:nvSpPr>
        <p:spPr>
          <a:xfrm>
            <a:off x="7696200" y="3275409"/>
            <a:ext cx="13335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4" name="Shape 22"/>
          <p:cNvSpPr/>
          <p:nvPr/>
        </p:nvSpPr>
        <p:spPr>
          <a:xfrm>
            <a:off x="7951291" y="2917329"/>
            <a:ext cx="823317" cy="276225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/>
        </p:spPr>
      </p:sp>
      <p:sp>
        <p:nvSpPr>
          <p:cNvPr id="25" name="Text 23"/>
          <p:cNvSpPr/>
          <p:nvPr/>
        </p:nvSpPr>
        <p:spPr>
          <a:xfrm>
            <a:off x="8027491" y="2955429"/>
            <a:ext cx="6709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157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62000" y="3772495"/>
            <a:ext cx="762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7" name="Text 25"/>
          <p:cNvSpPr/>
          <p:nvPr/>
        </p:nvSpPr>
        <p:spPr>
          <a:xfrm>
            <a:off x="895350" y="3351609"/>
            <a:ext cx="5715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524000" y="3772495"/>
            <a:ext cx="42672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9" name="Text 27"/>
          <p:cNvSpPr/>
          <p:nvPr/>
        </p:nvSpPr>
        <p:spPr>
          <a:xfrm>
            <a:off x="1657350" y="3351609"/>
            <a:ext cx="4128516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소개·요금제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5791200" y="3772495"/>
            <a:ext cx="1905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1" name="Text 29"/>
          <p:cNvSpPr/>
          <p:nvPr/>
        </p:nvSpPr>
        <p:spPr>
          <a:xfrm>
            <a:off x="5924550" y="3351609"/>
            <a:ext cx="1714500" cy="3923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영역</a:t>
            </a:r>
            <a:endParaRPr lang="en-US" sz="1950" dirty="0"/>
          </a:p>
        </p:txBody>
      </p:sp>
      <p:sp>
        <p:nvSpPr>
          <p:cNvPr id="32" name="Shape 30"/>
          <p:cNvSpPr/>
          <p:nvPr/>
        </p:nvSpPr>
        <p:spPr>
          <a:xfrm>
            <a:off x="7696200" y="3772495"/>
            <a:ext cx="13335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3" name="Shape 31"/>
          <p:cNvSpPr/>
          <p:nvPr/>
        </p:nvSpPr>
        <p:spPr>
          <a:xfrm>
            <a:off x="7951291" y="3414415"/>
            <a:ext cx="823317" cy="276225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/>
        </p:spPr>
      </p:sp>
      <p:sp>
        <p:nvSpPr>
          <p:cNvPr id="34" name="Text 32"/>
          <p:cNvSpPr/>
          <p:nvPr/>
        </p:nvSpPr>
        <p:spPr>
          <a:xfrm>
            <a:off x="8027491" y="3452515"/>
            <a:ext cx="6709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157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762000" y="4269730"/>
            <a:ext cx="762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6" name="Text 34"/>
          <p:cNvSpPr/>
          <p:nvPr/>
        </p:nvSpPr>
        <p:spPr>
          <a:xfrm>
            <a:off x="895350" y="3848695"/>
            <a:ext cx="571500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1524000" y="4269730"/>
            <a:ext cx="42672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8" name="Text 36"/>
          <p:cNvSpPr/>
          <p:nvPr/>
        </p:nvSpPr>
        <p:spPr>
          <a:xfrm>
            <a:off x="1657350" y="3848695"/>
            <a:ext cx="4128516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FAQ·도움말</a:t>
            </a:r>
            <a:endParaRPr lang="en-US" sz="1950" dirty="0"/>
          </a:p>
        </p:txBody>
      </p:sp>
      <p:sp>
        <p:nvSpPr>
          <p:cNvPr id="39" name="Shape 37"/>
          <p:cNvSpPr/>
          <p:nvPr/>
        </p:nvSpPr>
        <p:spPr>
          <a:xfrm>
            <a:off x="5791200" y="4269730"/>
            <a:ext cx="1905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0" name="Text 38"/>
          <p:cNvSpPr/>
          <p:nvPr/>
        </p:nvSpPr>
        <p:spPr>
          <a:xfrm>
            <a:off x="5924550" y="3848695"/>
            <a:ext cx="1714500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영역</a:t>
            </a:r>
            <a:endParaRPr lang="en-US" sz="1950" dirty="0"/>
          </a:p>
        </p:txBody>
      </p:sp>
      <p:sp>
        <p:nvSpPr>
          <p:cNvPr id="41" name="Shape 39"/>
          <p:cNvSpPr/>
          <p:nvPr/>
        </p:nvSpPr>
        <p:spPr>
          <a:xfrm>
            <a:off x="7696200" y="4269730"/>
            <a:ext cx="13335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2" name="Shape 40"/>
          <p:cNvSpPr/>
          <p:nvPr/>
        </p:nvSpPr>
        <p:spPr>
          <a:xfrm>
            <a:off x="7951291" y="3911501"/>
            <a:ext cx="823317" cy="276225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/>
        </p:spPr>
      </p:sp>
      <p:sp>
        <p:nvSpPr>
          <p:cNvPr id="43" name="Text 41"/>
          <p:cNvSpPr/>
          <p:nvPr/>
        </p:nvSpPr>
        <p:spPr>
          <a:xfrm>
            <a:off x="8027491" y="3949601"/>
            <a:ext cx="6709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157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762000" y="4766965"/>
            <a:ext cx="762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5" name="Text 43"/>
          <p:cNvSpPr/>
          <p:nvPr/>
        </p:nvSpPr>
        <p:spPr>
          <a:xfrm>
            <a:off x="895350" y="4345930"/>
            <a:ext cx="571500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1524000" y="4766965"/>
            <a:ext cx="42672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7" name="Text 45"/>
          <p:cNvSpPr/>
          <p:nvPr/>
        </p:nvSpPr>
        <p:spPr>
          <a:xfrm>
            <a:off x="1657350" y="4345930"/>
            <a:ext cx="4128516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약관·개인정보처리방침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5791200" y="4766965"/>
            <a:ext cx="1905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9" name="Text 47"/>
          <p:cNvSpPr/>
          <p:nvPr/>
        </p:nvSpPr>
        <p:spPr>
          <a:xfrm>
            <a:off x="5924550" y="4345930"/>
            <a:ext cx="1714500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영역</a:t>
            </a:r>
            <a:endParaRPr lang="en-US" sz="1950" dirty="0"/>
          </a:p>
        </p:txBody>
      </p:sp>
      <p:sp>
        <p:nvSpPr>
          <p:cNvPr id="50" name="Shape 48"/>
          <p:cNvSpPr/>
          <p:nvPr/>
        </p:nvSpPr>
        <p:spPr>
          <a:xfrm>
            <a:off x="7696200" y="4766965"/>
            <a:ext cx="13335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51" name="Shape 49"/>
          <p:cNvSpPr/>
          <p:nvPr/>
        </p:nvSpPr>
        <p:spPr>
          <a:xfrm>
            <a:off x="7951291" y="4408736"/>
            <a:ext cx="823317" cy="276225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/>
        </p:spPr>
      </p:sp>
      <p:sp>
        <p:nvSpPr>
          <p:cNvPr id="52" name="Text 50"/>
          <p:cNvSpPr/>
          <p:nvPr/>
        </p:nvSpPr>
        <p:spPr>
          <a:xfrm>
            <a:off x="8027491" y="4446836"/>
            <a:ext cx="6709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157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53" name="Shape 51"/>
          <p:cNvSpPr/>
          <p:nvPr/>
        </p:nvSpPr>
        <p:spPr>
          <a:xfrm>
            <a:off x="762000" y="5264200"/>
            <a:ext cx="762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54" name="Text 52"/>
          <p:cNvSpPr/>
          <p:nvPr/>
        </p:nvSpPr>
        <p:spPr>
          <a:xfrm>
            <a:off x="895350" y="4843165"/>
            <a:ext cx="571500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1950" dirty="0"/>
          </a:p>
        </p:txBody>
      </p:sp>
      <p:sp>
        <p:nvSpPr>
          <p:cNvPr id="55" name="Shape 53"/>
          <p:cNvSpPr/>
          <p:nvPr/>
        </p:nvSpPr>
        <p:spPr>
          <a:xfrm>
            <a:off x="1524000" y="5264200"/>
            <a:ext cx="42672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56" name="Text 54"/>
          <p:cNvSpPr/>
          <p:nvPr/>
        </p:nvSpPr>
        <p:spPr>
          <a:xfrm>
            <a:off x="1657350" y="4843165"/>
            <a:ext cx="4128516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회원가입</a:t>
            </a:r>
            <a:endParaRPr lang="en-US" sz="1950" dirty="0"/>
          </a:p>
        </p:txBody>
      </p:sp>
      <p:sp>
        <p:nvSpPr>
          <p:cNvPr id="57" name="Shape 55"/>
          <p:cNvSpPr/>
          <p:nvPr/>
        </p:nvSpPr>
        <p:spPr>
          <a:xfrm>
            <a:off x="5791200" y="5264200"/>
            <a:ext cx="1905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58" name="Text 56"/>
          <p:cNvSpPr/>
          <p:nvPr/>
        </p:nvSpPr>
        <p:spPr>
          <a:xfrm>
            <a:off x="5924550" y="4843165"/>
            <a:ext cx="1714500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계정</a:t>
            </a:r>
            <a:endParaRPr lang="en-US" sz="1950" dirty="0"/>
          </a:p>
        </p:txBody>
      </p:sp>
      <p:sp>
        <p:nvSpPr>
          <p:cNvPr id="59" name="Shape 57"/>
          <p:cNvSpPr/>
          <p:nvPr/>
        </p:nvSpPr>
        <p:spPr>
          <a:xfrm>
            <a:off x="7696200" y="5264200"/>
            <a:ext cx="13335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60" name="Shape 58"/>
          <p:cNvSpPr/>
          <p:nvPr/>
        </p:nvSpPr>
        <p:spPr>
          <a:xfrm>
            <a:off x="7951291" y="4905970"/>
            <a:ext cx="823317" cy="276225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/>
        </p:spPr>
      </p:sp>
      <p:sp>
        <p:nvSpPr>
          <p:cNvPr id="61" name="Text 59"/>
          <p:cNvSpPr/>
          <p:nvPr/>
        </p:nvSpPr>
        <p:spPr>
          <a:xfrm>
            <a:off x="8027491" y="4944070"/>
            <a:ext cx="6709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157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62" name="Shape 60"/>
          <p:cNvSpPr/>
          <p:nvPr/>
        </p:nvSpPr>
        <p:spPr>
          <a:xfrm>
            <a:off x="762000" y="5761434"/>
            <a:ext cx="762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63" name="Text 61"/>
          <p:cNvSpPr/>
          <p:nvPr/>
        </p:nvSpPr>
        <p:spPr>
          <a:xfrm>
            <a:off x="895350" y="5340400"/>
            <a:ext cx="571500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1950" dirty="0"/>
          </a:p>
        </p:txBody>
      </p:sp>
      <p:sp>
        <p:nvSpPr>
          <p:cNvPr id="64" name="Shape 62"/>
          <p:cNvSpPr/>
          <p:nvPr/>
        </p:nvSpPr>
        <p:spPr>
          <a:xfrm>
            <a:off x="1524000" y="5761434"/>
            <a:ext cx="42672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65" name="Text 63"/>
          <p:cNvSpPr/>
          <p:nvPr/>
        </p:nvSpPr>
        <p:spPr>
          <a:xfrm>
            <a:off x="1657350" y="5340400"/>
            <a:ext cx="4128516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</a:t>
            </a:r>
            <a:endParaRPr lang="en-US" sz="1950" dirty="0"/>
          </a:p>
        </p:txBody>
      </p:sp>
      <p:sp>
        <p:nvSpPr>
          <p:cNvPr id="66" name="Shape 64"/>
          <p:cNvSpPr/>
          <p:nvPr/>
        </p:nvSpPr>
        <p:spPr>
          <a:xfrm>
            <a:off x="5791200" y="5761434"/>
            <a:ext cx="1905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67" name="Text 65"/>
          <p:cNvSpPr/>
          <p:nvPr/>
        </p:nvSpPr>
        <p:spPr>
          <a:xfrm>
            <a:off x="5924550" y="5340400"/>
            <a:ext cx="1714500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계정</a:t>
            </a:r>
            <a:endParaRPr lang="en-US" sz="1950" dirty="0"/>
          </a:p>
        </p:txBody>
      </p:sp>
      <p:sp>
        <p:nvSpPr>
          <p:cNvPr id="68" name="Shape 66"/>
          <p:cNvSpPr/>
          <p:nvPr/>
        </p:nvSpPr>
        <p:spPr>
          <a:xfrm>
            <a:off x="7696200" y="5761434"/>
            <a:ext cx="13335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69" name="Shape 67"/>
          <p:cNvSpPr/>
          <p:nvPr/>
        </p:nvSpPr>
        <p:spPr>
          <a:xfrm>
            <a:off x="7951291" y="5403205"/>
            <a:ext cx="823317" cy="276225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/>
        </p:spPr>
      </p:sp>
      <p:sp>
        <p:nvSpPr>
          <p:cNvPr id="70" name="Text 68"/>
          <p:cNvSpPr/>
          <p:nvPr/>
        </p:nvSpPr>
        <p:spPr>
          <a:xfrm>
            <a:off x="8027491" y="5441305"/>
            <a:ext cx="6709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157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71" name="Shape 69"/>
          <p:cNvSpPr/>
          <p:nvPr/>
        </p:nvSpPr>
        <p:spPr>
          <a:xfrm>
            <a:off x="762000" y="6258669"/>
            <a:ext cx="762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72" name="Text 70"/>
          <p:cNvSpPr/>
          <p:nvPr/>
        </p:nvSpPr>
        <p:spPr>
          <a:xfrm>
            <a:off x="895350" y="5837634"/>
            <a:ext cx="571500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1950" dirty="0"/>
          </a:p>
        </p:txBody>
      </p:sp>
      <p:sp>
        <p:nvSpPr>
          <p:cNvPr id="73" name="Shape 71"/>
          <p:cNvSpPr/>
          <p:nvPr/>
        </p:nvSpPr>
        <p:spPr>
          <a:xfrm>
            <a:off x="1524000" y="6258669"/>
            <a:ext cx="42672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74" name="Text 72"/>
          <p:cNvSpPr/>
          <p:nvPr/>
        </p:nvSpPr>
        <p:spPr>
          <a:xfrm>
            <a:off x="1657350" y="5837634"/>
            <a:ext cx="4128516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비밀번호 재설정</a:t>
            </a:r>
            <a:endParaRPr lang="en-US" sz="1950" dirty="0"/>
          </a:p>
        </p:txBody>
      </p:sp>
      <p:sp>
        <p:nvSpPr>
          <p:cNvPr id="75" name="Shape 73"/>
          <p:cNvSpPr/>
          <p:nvPr/>
        </p:nvSpPr>
        <p:spPr>
          <a:xfrm>
            <a:off x="5791200" y="6258669"/>
            <a:ext cx="1905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76" name="Text 74"/>
          <p:cNvSpPr/>
          <p:nvPr/>
        </p:nvSpPr>
        <p:spPr>
          <a:xfrm>
            <a:off x="5924550" y="5837634"/>
            <a:ext cx="1714500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계정</a:t>
            </a:r>
            <a:endParaRPr lang="en-US" sz="1950" dirty="0"/>
          </a:p>
        </p:txBody>
      </p:sp>
      <p:sp>
        <p:nvSpPr>
          <p:cNvPr id="77" name="Shape 75"/>
          <p:cNvSpPr/>
          <p:nvPr/>
        </p:nvSpPr>
        <p:spPr>
          <a:xfrm>
            <a:off x="7696200" y="6258669"/>
            <a:ext cx="13335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78" name="Shape 76"/>
          <p:cNvSpPr/>
          <p:nvPr/>
        </p:nvSpPr>
        <p:spPr>
          <a:xfrm>
            <a:off x="7951291" y="5900440"/>
            <a:ext cx="823317" cy="276225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/>
        </p:spPr>
      </p:sp>
      <p:sp>
        <p:nvSpPr>
          <p:cNvPr id="79" name="Text 77"/>
          <p:cNvSpPr/>
          <p:nvPr/>
        </p:nvSpPr>
        <p:spPr>
          <a:xfrm>
            <a:off x="8027491" y="5938540"/>
            <a:ext cx="6709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157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80" name="Shape 78"/>
          <p:cNvSpPr/>
          <p:nvPr/>
        </p:nvSpPr>
        <p:spPr>
          <a:xfrm>
            <a:off x="762000" y="6755904"/>
            <a:ext cx="762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81" name="Text 79"/>
          <p:cNvSpPr/>
          <p:nvPr/>
        </p:nvSpPr>
        <p:spPr>
          <a:xfrm>
            <a:off x="895350" y="6334869"/>
            <a:ext cx="571500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950" dirty="0"/>
          </a:p>
        </p:txBody>
      </p:sp>
      <p:sp>
        <p:nvSpPr>
          <p:cNvPr id="82" name="Shape 80"/>
          <p:cNvSpPr/>
          <p:nvPr/>
        </p:nvSpPr>
        <p:spPr>
          <a:xfrm>
            <a:off x="1524000" y="6755904"/>
            <a:ext cx="42672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83" name="Text 81"/>
          <p:cNvSpPr/>
          <p:nvPr/>
        </p:nvSpPr>
        <p:spPr>
          <a:xfrm>
            <a:off x="1657350" y="6334869"/>
            <a:ext cx="4128516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업로드</a:t>
            </a:r>
            <a:endParaRPr lang="en-US" sz="1950" dirty="0"/>
          </a:p>
        </p:txBody>
      </p:sp>
      <p:sp>
        <p:nvSpPr>
          <p:cNvPr id="84" name="Shape 82"/>
          <p:cNvSpPr/>
          <p:nvPr/>
        </p:nvSpPr>
        <p:spPr>
          <a:xfrm>
            <a:off x="5791200" y="6755904"/>
            <a:ext cx="1905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85" name="Text 83"/>
          <p:cNvSpPr/>
          <p:nvPr/>
        </p:nvSpPr>
        <p:spPr>
          <a:xfrm>
            <a:off x="5924550" y="6334869"/>
            <a:ext cx="1714500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검출</a:t>
            </a:r>
            <a:endParaRPr lang="en-US" sz="1950" dirty="0"/>
          </a:p>
        </p:txBody>
      </p:sp>
      <p:sp>
        <p:nvSpPr>
          <p:cNvPr id="86" name="Shape 84"/>
          <p:cNvSpPr/>
          <p:nvPr/>
        </p:nvSpPr>
        <p:spPr>
          <a:xfrm>
            <a:off x="7696200" y="6755904"/>
            <a:ext cx="13335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87" name="Shape 85"/>
          <p:cNvSpPr/>
          <p:nvPr/>
        </p:nvSpPr>
        <p:spPr>
          <a:xfrm>
            <a:off x="7951291" y="6397675"/>
            <a:ext cx="823317" cy="276225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/>
        </p:spPr>
      </p:sp>
      <p:sp>
        <p:nvSpPr>
          <p:cNvPr id="88" name="Text 86"/>
          <p:cNvSpPr/>
          <p:nvPr/>
        </p:nvSpPr>
        <p:spPr>
          <a:xfrm>
            <a:off x="8027491" y="6435775"/>
            <a:ext cx="6709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157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89" name="Shape 87"/>
          <p:cNvSpPr/>
          <p:nvPr/>
        </p:nvSpPr>
        <p:spPr>
          <a:xfrm>
            <a:off x="762000" y="7253139"/>
            <a:ext cx="762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0" name="Text 88"/>
          <p:cNvSpPr/>
          <p:nvPr/>
        </p:nvSpPr>
        <p:spPr>
          <a:xfrm>
            <a:off x="895350" y="6832104"/>
            <a:ext cx="571500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1950" dirty="0"/>
          </a:p>
        </p:txBody>
      </p:sp>
      <p:sp>
        <p:nvSpPr>
          <p:cNvPr id="91" name="Shape 89"/>
          <p:cNvSpPr/>
          <p:nvPr/>
        </p:nvSpPr>
        <p:spPr>
          <a:xfrm>
            <a:off x="1524000" y="7253139"/>
            <a:ext cx="42672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2" name="Text 90"/>
          <p:cNvSpPr/>
          <p:nvPr/>
        </p:nvSpPr>
        <p:spPr>
          <a:xfrm>
            <a:off x="1657350" y="6832104"/>
            <a:ext cx="4128516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처리 진행</a:t>
            </a:r>
            <a:endParaRPr lang="en-US" sz="1950" dirty="0"/>
          </a:p>
        </p:txBody>
      </p:sp>
      <p:sp>
        <p:nvSpPr>
          <p:cNvPr id="93" name="Shape 91"/>
          <p:cNvSpPr/>
          <p:nvPr/>
        </p:nvSpPr>
        <p:spPr>
          <a:xfrm>
            <a:off x="5791200" y="7253139"/>
            <a:ext cx="1905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4" name="Text 92"/>
          <p:cNvSpPr/>
          <p:nvPr/>
        </p:nvSpPr>
        <p:spPr>
          <a:xfrm>
            <a:off x="5924550" y="6832104"/>
            <a:ext cx="1714500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검출</a:t>
            </a:r>
            <a:endParaRPr lang="en-US" sz="1950" dirty="0"/>
          </a:p>
        </p:txBody>
      </p:sp>
      <p:sp>
        <p:nvSpPr>
          <p:cNvPr id="95" name="Shape 93"/>
          <p:cNvSpPr/>
          <p:nvPr/>
        </p:nvSpPr>
        <p:spPr>
          <a:xfrm>
            <a:off x="7696200" y="7253139"/>
            <a:ext cx="13335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6" name="Shape 94"/>
          <p:cNvSpPr/>
          <p:nvPr/>
        </p:nvSpPr>
        <p:spPr>
          <a:xfrm>
            <a:off x="7951291" y="6894909"/>
            <a:ext cx="823317" cy="276225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/>
        </p:spPr>
      </p:sp>
      <p:sp>
        <p:nvSpPr>
          <p:cNvPr id="97" name="Text 95"/>
          <p:cNvSpPr/>
          <p:nvPr/>
        </p:nvSpPr>
        <p:spPr>
          <a:xfrm>
            <a:off x="8027491" y="6933009"/>
            <a:ext cx="6709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157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98" name="Shape 96"/>
          <p:cNvSpPr/>
          <p:nvPr/>
        </p:nvSpPr>
        <p:spPr>
          <a:xfrm>
            <a:off x="762000" y="7750373"/>
            <a:ext cx="762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9" name="Text 97"/>
          <p:cNvSpPr/>
          <p:nvPr/>
        </p:nvSpPr>
        <p:spPr>
          <a:xfrm>
            <a:off x="895350" y="7329339"/>
            <a:ext cx="571500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1950" dirty="0"/>
          </a:p>
        </p:txBody>
      </p:sp>
      <p:sp>
        <p:nvSpPr>
          <p:cNvPr id="100" name="Shape 98"/>
          <p:cNvSpPr/>
          <p:nvPr/>
        </p:nvSpPr>
        <p:spPr>
          <a:xfrm>
            <a:off x="1524000" y="7750373"/>
            <a:ext cx="42672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01" name="Text 99"/>
          <p:cNvSpPr/>
          <p:nvPr/>
        </p:nvSpPr>
        <p:spPr>
          <a:xfrm>
            <a:off x="1657350" y="7329339"/>
            <a:ext cx="4128516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리포트 </a:t>
            </a:r>
            <a:r>
              <a:rPr lang="en-US" sz="1950" b="1" dirty="0">
                <a:solidFill>
                  <a:srgbClr val="D32F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</a:t>
            </a:r>
            <a:endParaRPr lang="en-US" sz="1950" dirty="0"/>
          </a:p>
        </p:txBody>
      </p:sp>
      <p:sp>
        <p:nvSpPr>
          <p:cNvPr id="102" name="Shape 100"/>
          <p:cNvSpPr/>
          <p:nvPr/>
        </p:nvSpPr>
        <p:spPr>
          <a:xfrm>
            <a:off x="5791200" y="7750373"/>
            <a:ext cx="1905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03" name="Text 101"/>
          <p:cNvSpPr/>
          <p:nvPr/>
        </p:nvSpPr>
        <p:spPr>
          <a:xfrm>
            <a:off x="5924550" y="7329339"/>
            <a:ext cx="1714500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검출</a:t>
            </a:r>
            <a:endParaRPr lang="en-US" sz="1950" dirty="0"/>
          </a:p>
        </p:txBody>
      </p:sp>
      <p:sp>
        <p:nvSpPr>
          <p:cNvPr id="104" name="Shape 102"/>
          <p:cNvSpPr/>
          <p:nvPr/>
        </p:nvSpPr>
        <p:spPr>
          <a:xfrm>
            <a:off x="7696200" y="7750373"/>
            <a:ext cx="13335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05" name="Shape 103"/>
          <p:cNvSpPr/>
          <p:nvPr/>
        </p:nvSpPr>
        <p:spPr>
          <a:xfrm>
            <a:off x="7951291" y="7392144"/>
            <a:ext cx="823317" cy="276225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/>
        </p:spPr>
      </p:sp>
      <p:sp>
        <p:nvSpPr>
          <p:cNvPr id="106" name="Text 104"/>
          <p:cNvSpPr/>
          <p:nvPr/>
        </p:nvSpPr>
        <p:spPr>
          <a:xfrm>
            <a:off x="8027491" y="7430244"/>
            <a:ext cx="6709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157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107" name="Shape 105"/>
          <p:cNvSpPr/>
          <p:nvPr/>
        </p:nvSpPr>
        <p:spPr>
          <a:xfrm>
            <a:off x="762000" y="8247608"/>
            <a:ext cx="762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08" name="Text 106"/>
          <p:cNvSpPr/>
          <p:nvPr/>
        </p:nvSpPr>
        <p:spPr>
          <a:xfrm>
            <a:off x="895350" y="7826573"/>
            <a:ext cx="571500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1950" dirty="0"/>
          </a:p>
        </p:txBody>
      </p:sp>
      <p:sp>
        <p:nvSpPr>
          <p:cNvPr id="109" name="Shape 107"/>
          <p:cNvSpPr/>
          <p:nvPr/>
        </p:nvSpPr>
        <p:spPr>
          <a:xfrm>
            <a:off x="1524000" y="8247608"/>
            <a:ext cx="42672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10" name="Text 108"/>
          <p:cNvSpPr/>
          <p:nvPr/>
        </p:nvSpPr>
        <p:spPr>
          <a:xfrm>
            <a:off x="1657350" y="7826573"/>
            <a:ext cx="4128516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 연결 (Instagram OAuth)</a:t>
            </a:r>
            <a:endParaRPr lang="en-US" sz="1950" dirty="0"/>
          </a:p>
        </p:txBody>
      </p:sp>
      <p:sp>
        <p:nvSpPr>
          <p:cNvPr id="111" name="Shape 109"/>
          <p:cNvSpPr/>
          <p:nvPr/>
        </p:nvSpPr>
        <p:spPr>
          <a:xfrm>
            <a:off x="5791200" y="8247608"/>
            <a:ext cx="1905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12" name="Text 110"/>
          <p:cNvSpPr/>
          <p:nvPr/>
        </p:nvSpPr>
        <p:spPr>
          <a:xfrm>
            <a:off x="5924550" y="7826573"/>
            <a:ext cx="1714500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</a:t>
            </a:r>
            <a:endParaRPr lang="en-US" sz="1950" dirty="0"/>
          </a:p>
        </p:txBody>
      </p:sp>
      <p:sp>
        <p:nvSpPr>
          <p:cNvPr id="113" name="Shape 111"/>
          <p:cNvSpPr/>
          <p:nvPr/>
        </p:nvSpPr>
        <p:spPr>
          <a:xfrm>
            <a:off x="7696200" y="8247608"/>
            <a:ext cx="13335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14" name="Shape 112"/>
          <p:cNvSpPr/>
          <p:nvPr/>
        </p:nvSpPr>
        <p:spPr>
          <a:xfrm>
            <a:off x="7951291" y="7889379"/>
            <a:ext cx="823317" cy="276225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/>
        </p:spPr>
      </p:sp>
      <p:sp>
        <p:nvSpPr>
          <p:cNvPr id="115" name="Text 113"/>
          <p:cNvSpPr/>
          <p:nvPr/>
        </p:nvSpPr>
        <p:spPr>
          <a:xfrm>
            <a:off x="8027491" y="7927479"/>
            <a:ext cx="6709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157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116" name="Shape 114"/>
          <p:cNvSpPr/>
          <p:nvPr/>
        </p:nvSpPr>
        <p:spPr>
          <a:xfrm>
            <a:off x="762000" y="8744843"/>
            <a:ext cx="762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17" name="Text 115"/>
          <p:cNvSpPr/>
          <p:nvPr/>
        </p:nvSpPr>
        <p:spPr>
          <a:xfrm>
            <a:off x="895350" y="8323808"/>
            <a:ext cx="571500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1950" dirty="0"/>
          </a:p>
        </p:txBody>
      </p:sp>
      <p:sp>
        <p:nvSpPr>
          <p:cNvPr id="118" name="Shape 116"/>
          <p:cNvSpPr/>
          <p:nvPr/>
        </p:nvSpPr>
        <p:spPr>
          <a:xfrm>
            <a:off x="1524000" y="8744843"/>
            <a:ext cx="42672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19" name="Text 117"/>
          <p:cNvSpPr/>
          <p:nvPr/>
        </p:nvSpPr>
        <p:spPr>
          <a:xfrm>
            <a:off x="1657350" y="8323808"/>
            <a:ext cx="4128516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 진단 결과</a:t>
            </a:r>
            <a:endParaRPr lang="en-US" sz="1950" dirty="0"/>
          </a:p>
        </p:txBody>
      </p:sp>
      <p:sp>
        <p:nvSpPr>
          <p:cNvPr id="120" name="Shape 118"/>
          <p:cNvSpPr/>
          <p:nvPr/>
        </p:nvSpPr>
        <p:spPr>
          <a:xfrm>
            <a:off x="5791200" y="8744843"/>
            <a:ext cx="1905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21" name="Text 119"/>
          <p:cNvSpPr/>
          <p:nvPr/>
        </p:nvSpPr>
        <p:spPr>
          <a:xfrm>
            <a:off x="5924550" y="8323808"/>
            <a:ext cx="1714500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</a:t>
            </a:r>
            <a:endParaRPr lang="en-US" sz="1950" dirty="0"/>
          </a:p>
        </p:txBody>
      </p:sp>
      <p:sp>
        <p:nvSpPr>
          <p:cNvPr id="122" name="Shape 120"/>
          <p:cNvSpPr/>
          <p:nvPr/>
        </p:nvSpPr>
        <p:spPr>
          <a:xfrm>
            <a:off x="7696200" y="8744843"/>
            <a:ext cx="13335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23" name="Shape 121"/>
          <p:cNvSpPr/>
          <p:nvPr/>
        </p:nvSpPr>
        <p:spPr>
          <a:xfrm>
            <a:off x="7951291" y="8386614"/>
            <a:ext cx="823317" cy="276225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/>
        </p:spPr>
      </p:sp>
      <p:sp>
        <p:nvSpPr>
          <p:cNvPr id="124" name="Text 122"/>
          <p:cNvSpPr/>
          <p:nvPr/>
        </p:nvSpPr>
        <p:spPr>
          <a:xfrm>
            <a:off x="8027491" y="8424714"/>
            <a:ext cx="6709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157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125" name="Shape 123"/>
          <p:cNvSpPr/>
          <p:nvPr/>
        </p:nvSpPr>
        <p:spPr>
          <a:xfrm>
            <a:off x="762000" y="9242078"/>
            <a:ext cx="762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26" name="Text 124"/>
          <p:cNvSpPr/>
          <p:nvPr/>
        </p:nvSpPr>
        <p:spPr>
          <a:xfrm>
            <a:off x="895350" y="8821043"/>
            <a:ext cx="571500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950" dirty="0"/>
          </a:p>
        </p:txBody>
      </p:sp>
      <p:sp>
        <p:nvSpPr>
          <p:cNvPr id="127" name="Shape 125"/>
          <p:cNvSpPr/>
          <p:nvPr/>
        </p:nvSpPr>
        <p:spPr>
          <a:xfrm>
            <a:off x="1524000" y="9242078"/>
            <a:ext cx="42672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28" name="Text 126"/>
          <p:cNvSpPr/>
          <p:nvPr/>
        </p:nvSpPr>
        <p:spPr>
          <a:xfrm>
            <a:off x="1657350" y="8821043"/>
            <a:ext cx="4128516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게이트·플랜 선택</a:t>
            </a:r>
            <a:endParaRPr lang="en-US" sz="1950" dirty="0"/>
          </a:p>
        </p:txBody>
      </p:sp>
      <p:sp>
        <p:nvSpPr>
          <p:cNvPr id="129" name="Shape 127"/>
          <p:cNvSpPr/>
          <p:nvPr/>
        </p:nvSpPr>
        <p:spPr>
          <a:xfrm>
            <a:off x="5791200" y="9242078"/>
            <a:ext cx="1905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30" name="Text 128"/>
          <p:cNvSpPr/>
          <p:nvPr/>
        </p:nvSpPr>
        <p:spPr>
          <a:xfrm>
            <a:off x="5924550" y="8821043"/>
            <a:ext cx="1714500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치환</a:t>
            </a:r>
            <a:endParaRPr lang="en-US" sz="1950" dirty="0"/>
          </a:p>
        </p:txBody>
      </p:sp>
      <p:sp>
        <p:nvSpPr>
          <p:cNvPr id="131" name="Shape 129"/>
          <p:cNvSpPr/>
          <p:nvPr/>
        </p:nvSpPr>
        <p:spPr>
          <a:xfrm>
            <a:off x="7696200" y="9242078"/>
            <a:ext cx="13335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32" name="Shape 130"/>
          <p:cNvSpPr/>
          <p:nvPr/>
        </p:nvSpPr>
        <p:spPr>
          <a:xfrm>
            <a:off x="7922568" y="8883848"/>
            <a:ext cx="880765" cy="276225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133" name="Text 131"/>
          <p:cNvSpPr/>
          <p:nvPr/>
        </p:nvSpPr>
        <p:spPr>
          <a:xfrm>
            <a:off x="7998768" y="8921948"/>
            <a:ext cx="72836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 정식~</a:t>
            </a:r>
            <a:endParaRPr lang="en-US" sz="1350" dirty="0"/>
          </a:p>
        </p:txBody>
      </p:sp>
      <p:sp>
        <p:nvSpPr>
          <p:cNvPr id="134" name="Shape 132"/>
          <p:cNvSpPr/>
          <p:nvPr/>
        </p:nvSpPr>
        <p:spPr>
          <a:xfrm>
            <a:off x="762000" y="9739313"/>
            <a:ext cx="762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35" name="Text 133"/>
          <p:cNvSpPr/>
          <p:nvPr/>
        </p:nvSpPr>
        <p:spPr>
          <a:xfrm>
            <a:off x="895350" y="9318278"/>
            <a:ext cx="571500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1950" dirty="0"/>
          </a:p>
        </p:txBody>
      </p:sp>
      <p:sp>
        <p:nvSpPr>
          <p:cNvPr id="136" name="Shape 134"/>
          <p:cNvSpPr/>
          <p:nvPr/>
        </p:nvSpPr>
        <p:spPr>
          <a:xfrm>
            <a:off x="1524000" y="9739313"/>
            <a:ext cx="42672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37" name="Text 135"/>
          <p:cNvSpPr/>
          <p:nvPr/>
        </p:nvSpPr>
        <p:spPr>
          <a:xfrm>
            <a:off x="1657350" y="9318278"/>
            <a:ext cx="4128516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페이지</a:t>
            </a:r>
            <a:endParaRPr lang="en-US" sz="1950" dirty="0"/>
          </a:p>
        </p:txBody>
      </p:sp>
      <p:sp>
        <p:nvSpPr>
          <p:cNvPr id="138" name="Shape 136"/>
          <p:cNvSpPr/>
          <p:nvPr/>
        </p:nvSpPr>
        <p:spPr>
          <a:xfrm>
            <a:off x="5791200" y="9739313"/>
            <a:ext cx="1905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39" name="Text 137"/>
          <p:cNvSpPr/>
          <p:nvPr/>
        </p:nvSpPr>
        <p:spPr>
          <a:xfrm>
            <a:off x="5924550" y="9318278"/>
            <a:ext cx="1714500" cy="3924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치환</a:t>
            </a:r>
            <a:endParaRPr lang="en-US" sz="1950" dirty="0"/>
          </a:p>
        </p:txBody>
      </p:sp>
      <p:sp>
        <p:nvSpPr>
          <p:cNvPr id="140" name="Shape 138"/>
          <p:cNvSpPr/>
          <p:nvPr/>
        </p:nvSpPr>
        <p:spPr>
          <a:xfrm>
            <a:off x="7696200" y="9739313"/>
            <a:ext cx="13335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41" name="Shape 139"/>
          <p:cNvSpPr/>
          <p:nvPr/>
        </p:nvSpPr>
        <p:spPr>
          <a:xfrm>
            <a:off x="7922568" y="9381083"/>
            <a:ext cx="880765" cy="276225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142" name="Text 140"/>
          <p:cNvSpPr/>
          <p:nvPr/>
        </p:nvSpPr>
        <p:spPr>
          <a:xfrm>
            <a:off x="7998768" y="9419183"/>
            <a:ext cx="72836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 정식~</a:t>
            </a:r>
            <a:endParaRPr lang="en-US" sz="1350" dirty="0"/>
          </a:p>
        </p:txBody>
      </p:sp>
      <p:sp>
        <p:nvSpPr>
          <p:cNvPr id="143" name="Shape 141"/>
          <p:cNvSpPr/>
          <p:nvPr/>
        </p:nvSpPr>
        <p:spPr>
          <a:xfrm>
            <a:off x="9258300" y="2371725"/>
            <a:ext cx="762000" cy="446931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44" name="Shape 142"/>
          <p:cNvSpPr/>
          <p:nvPr/>
        </p:nvSpPr>
        <p:spPr>
          <a:xfrm>
            <a:off x="9258300" y="2799606"/>
            <a:ext cx="762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145" name="Text 143"/>
          <p:cNvSpPr/>
          <p:nvPr/>
        </p:nvSpPr>
        <p:spPr>
          <a:xfrm>
            <a:off x="9391650" y="2438400"/>
            <a:ext cx="571500" cy="332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</a:t>
            </a:r>
            <a:endParaRPr lang="en-US" sz="1500" dirty="0"/>
          </a:p>
        </p:txBody>
      </p:sp>
      <p:sp>
        <p:nvSpPr>
          <p:cNvPr id="146" name="Shape 144"/>
          <p:cNvSpPr/>
          <p:nvPr/>
        </p:nvSpPr>
        <p:spPr>
          <a:xfrm>
            <a:off x="10020300" y="2371725"/>
            <a:ext cx="4267200" cy="446931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47" name="Shape 145"/>
          <p:cNvSpPr/>
          <p:nvPr/>
        </p:nvSpPr>
        <p:spPr>
          <a:xfrm>
            <a:off x="10020300" y="2799606"/>
            <a:ext cx="42672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148" name="Text 146"/>
          <p:cNvSpPr/>
          <p:nvPr/>
        </p:nvSpPr>
        <p:spPr>
          <a:xfrm>
            <a:off x="10153650" y="2438400"/>
            <a:ext cx="4128516" cy="332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화면명</a:t>
            </a:r>
            <a:endParaRPr lang="en-US" sz="1500" dirty="0"/>
          </a:p>
        </p:txBody>
      </p:sp>
      <p:sp>
        <p:nvSpPr>
          <p:cNvPr id="149" name="Shape 147"/>
          <p:cNvSpPr/>
          <p:nvPr/>
        </p:nvSpPr>
        <p:spPr>
          <a:xfrm>
            <a:off x="14287500" y="2371725"/>
            <a:ext cx="1905000" cy="446931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50" name="Shape 148"/>
          <p:cNvSpPr/>
          <p:nvPr/>
        </p:nvSpPr>
        <p:spPr>
          <a:xfrm>
            <a:off x="14287500" y="2799606"/>
            <a:ext cx="1905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151" name="Text 149"/>
          <p:cNvSpPr/>
          <p:nvPr/>
        </p:nvSpPr>
        <p:spPr>
          <a:xfrm>
            <a:off x="14420850" y="2438400"/>
            <a:ext cx="1714500" cy="332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그룹</a:t>
            </a:r>
            <a:endParaRPr lang="en-US" sz="1500" dirty="0"/>
          </a:p>
        </p:txBody>
      </p:sp>
      <p:sp>
        <p:nvSpPr>
          <p:cNvPr id="152" name="Shape 150"/>
          <p:cNvSpPr/>
          <p:nvPr/>
        </p:nvSpPr>
        <p:spPr>
          <a:xfrm>
            <a:off x="16192500" y="2371725"/>
            <a:ext cx="1333500" cy="446931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53" name="Shape 151"/>
          <p:cNvSpPr/>
          <p:nvPr/>
        </p:nvSpPr>
        <p:spPr>
          <a:xfrm>
            <a:off x="16192500" y="2799606"/>
            <a:ext cx="13335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154" name="Text 152"/>
          <p:cNvSpPr/>
          <p:nvPr/>
        </p:nvSpPr>
        <p:spPr>
          <a:xfrm>
            <a:off x="16325850" y="2438400"/>
            <a:ext cx="1143000" cy="3326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 kern="0" spc="9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</a:t>
            </a:r>
            <a:endParaRPr lang="en-US" sz="1500" dirty="0"/>
          </a:p>
        </p:txBody>
      </p:sp>
      <p:sp>
        <p:nvSpPr>
          <p:cNvPr id="155" name="Shape 153"/>
          <p:cNvSpPr/>
          <p:nvPr/>
        </p:nvSpPr>
        <p:spPr>
          <a:xfrm>
            <a:off x="9258300" y="3346549"/>
            <a:ext cx="762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56" name="Text 154"/>
          <p:cNvSpPr/>
          <p:nvPr/>
        </p:nvSpPr>
        <p:spPr>
          <a:xfrm>
            <a:off x="9391650" y="2885331"/>
            <a:ext cx="571500" cy="432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1950" dirty="0"/>
          </a:p>
        </p:txBody>
      </p:sp>
      <p:sp>
        <p:nvSpPr>
          <p:cNvPr id="157" name="Shape 155"/>
          <p:cNvSpPr/>
          <p:nvPr/>
        </p:nvSpPr>
        <p:spPr>
          <a:xfrm>
            <a:off x="10020300" y="3346549"/>
            <a:ext cx="42672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58" name="Text 156"/>
          <p:cNvSpPr/>
          <p:nvPr/>
        </p:nvSpPr>
        <p:spPr>
          <a:xfrm>
            <a:off x="10153650" y="2885331"/>
            <a:ext cx="4128516" cy="432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치환 옵션 설정 </a:t>
            </a:r>
            <a:r>
              <a:rPr lang="en-US" sz="1950" b="1" dirty="0">
                <a:solidFill>
                  <a:srgbClr val="D32F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</a:t>
            </a:r>
            <a:endParaRPr lang="en-US" sz="1950" dirty="0"/>
          </a:p>
        </p:txBody>
      </p:sp>
      <p:sp>
        <p:nvSpPr>
          <p:cNvPr id="159" name="Shape 157"/>
          <p:cNvSpPr/>
          <p:nvPr/>
        </p:nvSpPr>
        <p:spPr>
          <a:xfrm>
            <a:off x="14287500" y="3346549"/>
            <a:ext cx="1905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60" name="Text 158"/>
          <p:cNvSpPr/>
          <p:nvPr/>
        </p:nvSpPr>
        <p:spPr>
          <a:xfrm>
            <a:off x="14420850" y="2885331"/>
            <a:ext cx="1714500" cy="432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치환</a:t>
            </a:r>
            <a:endParaRPr lang="en-US" sz="1950" dirty="0"/>
          </a:p>
        </p:txBody>
      </p:sp>
      <p:sp>
        <p:nvSpPr>
          <p:cNvPr id="161" name="Shape 159"/>
          <p:cNvSpPr/>
          <p:nvPr/>
        </p:nvSpPr>
        <p:spPr>
          <a:xfrm>
            <a:off x="16192500" y="3346549"/>
            <a:ext cx="13335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62" name="Shape 160"/>
          <p:cNvSpPr/>
          <p:nvPr/>
        </p:nvSpPr>
        <p:spPr>
          <a:xfrm>
            <a:off x="16447591" y="2970609"/>
            <a:ext cx="823317" cy="276225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/>
        </p:spPr>
      </p:sp>
      <p:sp>
        <p:nvSpPr>
          <p:cNvPr id="163" name="Text 161"/>
          <p:cNvSpPr/>
          <p:nvPr/>
        </p:nvSpPr>
        <p:spPr>
          <a:xfrm>
            <a:off x="16523791" y="3008709"/>
            <a:ext cx="6709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157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164" name="Shape 162"/>
          <p:cNvSpPr/>
          <p:nvPr/>
        </p:nvSpPr>
        <p:spPr>
          <a:xfrm>
            <a:off x="9258300" y="3879205"/>
            <a:ext cx="762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65" name="Text 163"/>
          <p:cNvSpPr/>
          <p:nvPr/>
        </p:nvSpPr>
        <p:spPr>
          <a:xfrm>
            <a:off x="9391650" y="3422749"/>
            <a:ext cx="571500" cy="427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1950" dirty="0"/>
          </a:p>
        </p:txBody>
      </p:sp>
      <p:sp>
        <p:nvSpPr>
          <p:cNvPr id="166" name="Shape 164"/>
          <p:cNvSpPr/>
          <p:nvPr/>
        </p:nvSpPr>
        <p:spPr>
          <a:xfrm>
            <a:off x="10020300" y="3879205"/>
            <a:ext cx="42672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67" name="Text 165"/>
          <p:cNvSpPr/>
          <p:nvPr/>
        </p:nvSpPr>
        <p:spPr>
          <a:xfrm>
            <a:off x="10153650" y="3422749"/>
            <a:ext cx="4128516" cy="427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전 미리보기</a:t>
            </a:r>
            <a:endParaRPr lang="en-US" sz="1950" dirty="0"/>
          </a:p>
        </p:txBody>
      </p:sp>
      <p:sp>
        <p:nvSpPr>
          <p:cNvPr id="168" name="Shape 166"/>
          <p:cNvSpPr/>
          <p:nvPr/>
        </p:nvSpPr>
        <p:spPr>
          <a:xfrm>
            <a:off x="14287500" y="3879205"/>
            <a:ext cx="1905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69" name="Text 167"/>
          <p:cNvSpPr/>
          <p:nvPr/>
        </p:nvSpPr>
        <p:spPr>
          <a:xfrm>
            <a:off x="14420850" y="3422749"/>
            <a:ext cx="1714500" cy="427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치환</a:t>
            </a:r>
            <a:endParaRPr lang="en-US" sz="1950" dirty="0"/>
          </a:p>
        </p:txBody>
      </p:sp>
      <p:sp>
        <p:nvSpPr>
          <p:cNvPr id="170" name="Shape 168"/>
          <p:cNvSpPr/>
          <p:nvPr/>
        </p:nvSpPr>
        <p:spPr>
          <a:xfrm>
            <a:off x="16192500" y="3879205"/>
            <a:ext cx="13335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71" name="Shape 169"/>
          <p:cNvSpPr/>
          <p:nvPr/>
        </p:nvSpPr>
        <p:spPr>
          <a:xfrm>
            <a:off x="16447591" y="3503265"/>
            <a:ext cx="823317" cy="276225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/>
        </p:spPr>
      </p:sp>
      <p:sp>
        <p:nvSpPr>
          <p:cNvPr id="172" name="Text 170"/>
          <p:cNvSpPr/>
          <p:nvPr/>
        </p:nvSpPr>
        <p:spPr>
          <a:xfrm>
            <a:off x="16523791" y="3541365"/>
            <a:ext cx="6709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157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173" name="Shape 171"/>
          <p:cNvSpPr/>
          <p:nvPr/>
        </p:nvSpPr>
        <p:spPr>
          <a:xfrm>
            <a:off x="9258300" y="4411861"/>
            <a:ext cx="762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74" name="Text 172"/>
          <p:cNvSpPr/>
          <p:nvPr/>
        </p:nvSpPr>
        <p:spPr>
          <a:xfrm>
            <a:off x="9391650" y="3955405"/>
            <a:ext cx="571500" cy="427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1950" dirty="0"/>
          </a:p>
        </p:txBody>
      </p:sp>
      <p:sp>
        <p:nvSpPr>
          <p:cNvPr id="175" name="Shape 173"/>
          <p:cNvSpPr/>
          <p:nvPr/>
        </p:nvSpPr>
        <p:spPr>
          <a:xfrm>
            <a:off x="10020300" y="4411861"/>
            <a:ext cx="42672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76" name="Text 174"/>
          <p:cNvSpPr/>
          <p:nvPr/>
        </p:nvSpPr>
        <p:spPr>
          <a:xfrm>
            <a:off x="10153650" y="3955405"/>
            <a:ext cx="4128516" cy="427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진행 (본 처리)</a:t>
            </a:r>
            <a:endParaRPr lang="en-US" sz="1950" dirty="0"/>
          </a:p>
        </p:txBody>
      </p:sp>
      <p:sp>
        <p:nvSpPr>
          <p:cNvPr id="177" name="Shape 175"/>
          <p:cNvSpPr/>
          <p:nvPr/>
        </p:nvSpPr>
        <p:spPr>
          <a:xfrm>
            <a:off x="14287500" y="4411861"/>
            <a:ext cx="1905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78" name="Text 176"/>
          <p:cNvSpPr/>
          <p:nvPr/>
        </p:nvSpPr>
        <p:spPr>
          <a:xfrm>
            <a:off x="14420850" y="3955405"/>
            <a:ext cx="1714500" cy="427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치환</a:t>
            </a:r>
            <a:endParaRPr lang="en-US" sz="1950" dirty="0"/>
          </a:p>
        </p:txBody>
      </p:sp>
      <p:sp>
        <p:nvSpPr>
          <p:cNvPr id="179" name="Shape 177"/>
          <p:cNvSpPr/>
          <p:nvPr/>
        </p:nvSpPr>
        <p:spPr>
          <a:xfrm>
            <a:off x="16192500" y="4411861"/>
            <a:ext cx="13335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80" name="Shape 178"/>
          <p:cNvSpPr/>
          <p:nvPr/>
        </p:nvSpPr>
        <p:spPr>
          <a:xfrm>
            <a:off x="16447591" y="4035921"/>
            <a:ext cx="823317" cy="276225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/>
        </p:spPr>
      </p:sp>
      <p:sp>
        <p:nvSpPr>
          <p:cNvPr id="181" name="Text 179"/>
          <p:cNvSpPr/>
          <p:nvPr/>
        </p:nvSpPr>
        <p:spPr>
          <a:xfrm>
            <a:off x="16523791" y="4074021"/>
            <a:ext cx="6709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157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182" name="Shape 180"/>
          <p:cNvSpPr/>
          <p:nvPr/>
        </p:nvSpPr>
        <p:spPr>
          <a:xfrm>
            <a:off x="9258300" y="4944517"/>
            <a:ext cx="762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83" name="Text 181"/>
          <p:cNvSpPr/>
          <p:nvPr/>
        </p:nvSpPr>
        <p:spPr>
          <a:xfrm>
            <a:off x="9391650" y="4488061"/>
            <a:ext cx="571500" cy="427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1950" dirty="0"/>
          </a:p>
        </p:txBody>
      </p:sp>
      <p:sp>
        <p:nvSpPr>
          <p:cNvPr id="184" name="Shape 182"/>
          <p:cNvSpPr/>
          <p:nvPr/>
        </p:nvSpPr>
        <p:spPr>
          <a:xfrm>
            <a:off x="10020300" y="4944517"/>
            <a:ext cx="42672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85" name="Text 183"/>
          <p:cNvSpPr/>
          <p:nvPr/>
        </p:nvSpPr>
        <p:spPr>
          <a:xfrm>
            <a:off x="10153650" y="4488061"/>
            <a:ext cx="4128516" cy="427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다운로드</a:t>
            </a:r>
            <a:endParaRPr lang="en-US" sz="1950" dirty="0"/>
          </a:p>
        </p:txBody>
      </p:sp>
      <p:sp>
        <p:nvSpPr>
          <p:cNvPr id="186" name="Shape 184"/>
          <p:cNvSpPr/>
          <p:nvPr/>
        </p:nvSpPr>
        <p:spPr>
          <a:xfrm>
            <a:off x="14287500" y="4944517"/>
            <a:ext cx="1905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87" name="Text 185"/>
          <p:cNvSpPr/>
          <p:nvPr/>
        </p:nvSpPr>
        <p:spPr>
          <a:xfrm>
            <a:off x="14420850" y="4488061"/>
            <a:ext cx="1714500" cy="427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치환</a:t>
            </a:r>
            <a:endParaRPr lang="en-US" sz="1950" dirty="0"/>
          </a:p>
        </p:txBody>
      </p:sp>
      <p:sp>
        <p:nvSpPr>
          <p:cNvPr id="188" name="Shape 186"/>
          <p:cNvSpPr/>
          <p:nvPr/>
        </p:nvSpPr>
        <p:spPr>
          <a:xfrm>
            <a:off x="16192500" y="4944517"/>
            <a:ext cx="13335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89" name="Shape 187"/>
          <p:cNvSpPr/>
          <p:nvPr/>
        </p:nvSpPr>
        <p:spPr>
          <a:xfrm>
            <a:off x="16447591" y="4568577"/>
            <a:ext cx="823317" cy="276225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/>
        </p:spPr>
      </p:sp>
      <p:sp>
        <p:nvSpPr>
          <p:cNvPr id="190" name="Text 188"/>
          <p:cNvSpPr/>
          <p:nvPr/>
        </p:nvSpPr>
        <p:spPr>
          <a:xfrm>
            <a:off x="16523791" y="4606677"/>
            <a:ext cx="6709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157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191" name="Shape 189"/>
          <p:cNvSpPr/>
          <p:nvPr/>
        </p:nvSpPr>
        <p:spPr>
          <a:xfrm>
            <a:off x="9258300" y="5477173"/>
            <a:ext cx="762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92" name="Text 190"/>
          <p:cNvSpPr/>
          <p:nvPr/>
        </p:nvSpPr>
        <p:spPr>
          <a:xfrm>
            <a:off x="9391650" y="5020717"/>
            <a:ext cx="571500" cy="427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1950" dirty="0"/>
          </a:p>
        </p:txBody>
      </p:sp>
      <p:sp>
        <p:nvSpPr>
          <p:cNvPr id="193" name="Shape 191"/>
          <p:cNvSpPr/>
          <p:nvPr/>
        </p:nvSpPr>
        <p:spPr>
          <a:xfrm>
            <a:off x="10020300" y="5477173"/>
            <a:ext cx="42672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94" name="Text 192"/>
          <p:cNvSpPr/>
          <p:nvPr/>
        </p:nvSpPr>
        <p:spPr>
          <a:xfrm>
            <a:off x="10153650" y="5020717"/>
            <a:ext cx="4128516" cy="427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 대시보드</a:t>
            </a:r>
            <a:endParaRPr lang="en-US" sz="1950" dirty="0"/>
          </a:p>
        </p:txBody>
      </p:sp>
      <p:sp>
        <p:nvSpPr>
          <p:cNvPr id="195" name="Shape 193"/>
          <p:cNvSpPr/>
          <p:nvPr/>
        </p:nvSpPr>
        <p:spPr>
          <a:xfrm>
            <a:off x="14287500" y="5477173"/>
            <a:ext cx="1905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96" name="Text 194"/>
          <p:cNvSpPr/>
          <p:nvPr/>
        </p:nvSpPr>
        <p:spPr>
          <a:xfrm>
            <a:off x="14420850" y="5020717"/>
            <a:ext cx="1714500" cy="427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마이페이지</a:t>
            </a:r>
            <a:endParaRPr lang="en-US" sz="1950" dirty="0"/>
          </a:p>
        </p:txBody>
      </p:sp>
      <p:sp>
        <p:nvSpPr>
          <p:cNvPr id="197" name="Shape 195"/>
          <p:cNvSpPr/>
          <p:nvPr/>
        </p:nvSpPr>
        <p:spPr>
          <a:xfrm>
            <a:off x="16192500" y="5477173"/>
            <a:ext cx="13335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98" name="Shape 196"/>
          <p:cNvSpPr/>
          <p:nvPr/>
        </p:nvSpPr>
        <p:spPr>
          <a:xfrm>
            <a:off x="16447591" y="5101233"/>
            <a:ext cx="823317" cy="276225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/>
        </p:spPr>
      </p:sp>
      <p:sp>
        <p:nvSpPr>
          <p:cNvPr id="199" name="Text 197"/>
          <p:cNvSpPr/>
          <p:nvPr/>
        </p:nvSpPr>
        <p:spPr>
          <a:xfrm>
            <a:off x="16523791" y="5139333"/>
            <a:ext cx="6709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157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200" name="Shape 198"/>
          <p:cNvSpPr/>
          <p:nvPr/>
        </p:nvSpPr>
        <p:spPr>
          <a:xfrm>
            <a:off x="9258300" y="6009829"/>
            <a:ext cx="762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01" name="Text 199"/>
          <p:cNvSpPr/>
          <p:nvPr/>
        </p:nvSpPr>
        <p:spPr>
          <a:xfrm>
            <a:off x="9391650" y="5553373"/>
            <a:ext cx="571500" cy="427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1950" dirty="0"/>
          </a:p>
        </p:txBody>
      </p:sp>
      <p:sp>
        <p:nvSpPr>
          <p:cNvPr id="202" name="Shape 200"/>
          <p:cNvSpPr/>
          <p:nvPr/>
        </p:nvSpPr>
        <p:spPr>
          <a:xfrm>
            <a:off x="10020300" y="6009829"/>
            <a:ext cx="42672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03" name="Text 201"/>
          <p:cNvSpPr/>
          <p:nvPr/>
        </p:nvSpPr>
        <p:spPr>
          <a:xfrm>
            <a:off x="10153650" y="5553373"/>
            <a:ext cx="4128516" cy="427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이력</a:t>
            </a:r>
            <a:endParaRPr lang="en-US" sz="1950" dirty="0"/>
          </a:p>
        </p:txBody>
      </p:sp>
      <p:sp>
        <p:nvSpPr>
          <p:cNvPr id="204" name="Shape 202"/>
          <p:cNvSpPr/>
          <p:nvPr/>
        </p:nvSpPr>
        <p:spPr>
          <a:xfrm>
            <a:off x="14287500" y="6009829"/>
            <a:ext cx="1905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05" name="Text 203"/>
          <p:cNvSpPr/>
          <p:nvPr/>
        </p:nvSpPr>
        <p:spPr>
          <a:xfrm>
            <a:off x="14420850" y="5553373"/>
            <a:ext cx="1714500" cy="427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마이페이지</a:t>
            </a:r>
            <a:endParaRPr lang="en-US" sz="1950" dirty="0"/>
          </a:p>
        </p:txBody>
      </p:sp>
      <p:sp>
        <p:nvSpPr>
          <p:cNvPr id="206" name="Shape 204"/>
          <p:cNvSpPr/>
          <p:nvPr/>
        </p:nvSpPr>
        <p:spPr>
          <a:xfrm>
            <a:off x="16192500" y="6009829"/>
            <a:ext cx="13335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07" name="Shape 205"/>
          <p:cNvSpPr/>
          <p:nvPr/>
        </p:nvSpPr>
        <p:spPr>
          <a:xfrm>
            <a:off x="16447591" y="5633889"/>
            <a:ext cx="823317" cy="276225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/>
        </p:spPr>
      </p:sp>
      <p:sp>
        <p:nvSpPr>
          <p:cNvPr id="208" name="Text 206"/>
          <p:cNvSpPr/>
          <p:nvPr/>
        </p:nvSpPr>
        <p:spPr>
          <a:xfrm>
            <a:off x="16523791" y="5671989"/>
            <a:ext cx="6709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157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209" name="Shape 207"/>
          <p:cNvSpPr/>
          <p:nvPr/>
        </p:nvSpPr>
        <p:spPr>
          <a:xfrm>
            <a:off x="9258300" y="6542484"/>
            <a:ext cx="762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10" name="Text 208"/>
          <p:cNvSpPr/>
          <p:nvPr/>
        </p:nvSpPr>
        <p:spPr>
          <a:xfrm>
            <a:off x="9391650" y="6086029"/>
            <a:ext cx="571500" cy="427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</a:t>
            </a:r>
            <a:endParaRPr lang="en-US" sz="1950" dirty="0"/>
          </a:p>
        </p:txBody>
      </p:sp>
      <p:sp>
        <p:nvSpPr>
          <p:cNvPr id="211" name="Shape 209"/>
          <p:cNvSpPr/>
          <p:nvPr/>
        </p:nvSpPr>
        <p:spPr>
          <a:xfrm>
            <a:off x="10020300" y="6542484"/>
            <a:ext cx="42672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12" name="Text 210"/>
          <p:cNvSpPr/>
          <p:nvPr/>
        </p:nvSpPr>
        <p:spPr>
          <a:xfrm>
            <a:off x="10153650" y="6086029"/>
            <a:ext cx="4128516" cy="427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결제·구독 관리</a:t>
            </a:r>
            <a:endParaRPr lang="en-US" sz="1950" dirty="0"/>
          </a:p>
        </p:txBody>
      </p:sp>
      <p:sp>
        <p:nvSpPr>
          <p:cNvPr id="213" name="Shape 211"/>
          <p:cNvSpPr/>
          <p:nvPr/>
        </p:nvSpPr>
        <p:spPr>
          <a:xfrm>
            <a:off x="14287500" y="6542484"/>
            <a:ext cx="1905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14" name="Text 212"/>
          <p:cNvSpPr/>
          <p:nvPr/>
        </p:nvSpPr>
        <p:spPr>
          <a:xfrm>
            <a:off x="14420850" y="6086029"/>
            <a:ext cx="1714500" cy="427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마이페이지</a:t>
            </a:r>
            <a:endParaRPr lang="en-US" sz="1950" dirty="0"/>
          </a:p>
        </p:txBody>
      </p:sp>
      <p:sp>
        <p:nvSpPr>
          <p:cNvPr id="215" name="Shape 213"/>
          <p:cNvSpPr/>
          <p:nvPr/>
        </p:nvSpPr>
        <p:spPr>
          <a:xfrm>
            <a:off x="16192500" y="6542484"/>
            <a:ext cx="13335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16" name="Shape 214"/>
          <p:cNvSpPr/>
          <p:nvPr/>
        </p:nvSpPr>
        <p:spPr>
          <a:xfrm>
            <a:off x="16418868" y="6166545"/>
            <a:ext cx="880765" cy="276225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217" name="Text 215"/>
          <p:cNvSpPr/>
          <p:nvPr/>
        </p:nvSpPr>
        <p:spPr>
          <a:xfrm>
            <a:off x="16495068" y="6204645"/>
            <a:ext cx="72836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 정식~</a:t>
            </a:r>
            <a:endParaRPr lang="en-US" sz="1350" dirty="0"/>
          </a:p>
        </p:txBody>
      </p:sp>
      <p:sp>
        <p:nvSpPr>
          <p:cNvPr id="218" name="Shape 216"/>
          <p:cNvSpPr/>
          <p:nvPr/>
        </p:nvSpPr>
        <p:spPr>
          <a:xfrm>
            <a:off x="9258300" y="7075289"/>
            <a:ext cx="762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19" name="Text 217"/>
          <p:cNvSpPr/>
          <p:nvPr/>
        </p:nvSpPr>
        <p:spPr>
          <a:xfrm>
            <a:off x="9391650" y="6618684"/>
            <a:ext cx="571500" cy="428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</a:t>
            </a:r>
            <a:endParaRPr lang="en-US" sz="1950" dirty="0"/>
          </a:p>
        </p:txBody>
      </p:sp>
      <p:sp>
        <p:nvSpPr>
          <p:cNvPr id="220" name="Shape 218"/>
          <p:cNvSpPr/>
          <p:nvPr/>
        </p:nvSpPr>
        <p:spPr>
          <a:xfrm>
            <a:off x="10020300" y="7075289"/>
            <a:ext cx="42672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21" name="Text 219"/>
          <p:cNvSpPr/>
          <p:nvPr/>
        </p:nvSpPr>
        <p:spPr>
          <a:xfrm>
            <a:off x="10153650" y="6618684"/>
            <a:ext cx="4128516" cy="428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프로필·환경 설정</a:t>
            </a:r>
            <a:endParaRPr lang="en-US" sz="1950" dirty="0"/>
          </a:p>
        </p:txBody>
      </p:sp>
      <p:sp>
        <p:nvSpPr>
          <p:cNvPr id="222" name="Shape 220"/>
          <p:cNvSpPr/>
          <p:nvPr/>
        </p:nvSpPr>
        <p:spPr>
          <a:xfrm>
            <a:off x="14287500" y="7075289"/>
            <a:ext cx="1905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23" name="Text 221"/>
          <p:cNvSpPr/>
          <p:nvPr/>
        </p:nvSpPr>
        <p:spPr>
          <a:xfrm>
            <a:off x="14420850" y="6618684"/>
            <a:ext cx="1714500" cy="428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마이페이지</a:t>
            </a:r>
            <a:endParaRPr lang="en-US" sz="1950" dirty="0"/>
          </a:p>
        </p:txBody>
      </p:sp>
      <p:sp>
        <p:nvSpPr>
          <p:cNvPr id="224" name="Shape 222"/>
          <p:cNvSpPr/>
          <p:nvPr/>
        </p:nvSpPr>
        <p:spPr>
          <a:xfrm>
            <a:off x="16192500" y="7075289"/>
            <a:ext cx="13335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25" name="Shape 223"/>
          <p:cNvSpPr/>
          <p:nvPr/>
        </p:nvSpPr>
        <p:spPr>
          <a:xfrm>
            <a:off x="16447591" y="6699349"/>
            <a:ext cx="823317" cy="276225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/>
        </p:spPr>
      </p:sp>
      <p:sp>
        <p:nvSpPr>
          <p:cNvPr id="226" name="Text 224"/>
          <p:cNvSpPr/>
          <p:nvPr/>
        </p:nvSpPr>
        <p:spPr>
          <a:xfrm>
            <a:off x="16523791" y="6737449"/>
            <a:ext cx="6709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157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227" name="Shape 225"/>
          <p:cNvSpPr/>
          <p:nvPr/>
        </p:nvSpPr>
        <p:spPr>
          <a:xfrm>
            <a:off x="9258300" y="7608094"/>
            <a:ext cx="762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28" name="Text 226"/>
          <p:cNvSpPr/>
          <p:nvPr/>
        </p:nvSpPr>
        <p:spPr>
          <a:xfrm>
            <a:off x="9391650" y="7151489"/>
            <a:ext cx="571500" cy="428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</a:t>
            </a:r>
            <a:endParaRPr lang="en-US" sz="1950" dirty="0"/>
          </a:p>
        </p:txBody>
      </p:sp>
      <p:sp>
        <p:nvSpPr>
          <p:cNvPr id="229" name="Shape 227"/>
          <p:cNvSpPr/>
          <p:nvPr/>
        </p:nvSpPr>
        <p:spPr>
          <a:xfrm>
            <a:off x="10020300" y="7608094"/>
            <a:ext cx="42672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30" name="Text 228"/>
          <p:cNvSpPr/>
          <p:nvPr/>
        </p:nvSpPr>
        <p:spPr>
          <a:xfrm>
            <a:off x="10153650" y="7151489"/>
            <a:ext cx="4128516" cy="428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데이터 동의 토글</a:t>
            </a:r>
            <a:endParaRPr lang="en-US" sz="1950" dirty="0"/>
          </a:p>
        </p:txBody>
      </p:sp>
      <p:sp>
        <p:nvSpPr>
          <p:cNvPr id="231" name="Shape 229"/>
          <p:cNvSpPr/>
          <p:nvPr/>
        </p:nvSpPr>
        <p:spPr>
          <a:xfrm>
            <a:off x="14287500" y="7608094"/>
            <a:ext cx="1905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32" name="Text 230"/>
          <p:cNvSpPr/>
          <p:nvPr/>
        </p:nvSpPr>
        <p:spPr>
          <a:xfrm>
            <a:off x="14420850" y="7151489"/>
            <a:ext cx="1714500" cy="428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마이페이지</a:t>
            </a:r>
            <a:endParaRPr lang="en-US" sz="1950" dirty="0"/>
          </a:p>
        </p:txBody>
      </p:sp>
      <p:sp>
        <p:nvSpPr>
          <p:cNvPr id="233" name="Shape 231"/>
          <p:cNvSpPr/>
          <p:nvPr/>
        </p:nvSpPr>
        <p:spPr>
          <a:xfrm>
            <a:off x="16192500" y="7608094"/>
            <a:ext cx="13335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34" name="Shape 232"/>
          <p:cNvSpPr/>
          <p:nvPr/>
        </p:nvSpPr>
        <p:spPr>
          <a:xfrm>
            <a:off x="16447591" y="7232154"/>
            <a:ext cx="823317" cy="276225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/>
        </p:spPr>
      </p:sp>
      <p:sp>
        <p:nvSpPr>
          <p:cNvPr id="235" name="Text 233"/>
          <p:cNvSpPr/>
          <p:nvPr/>
        </p:nvSpPr>
        <p:spPr>
          <a:xfrm>
            <a:off x="16523791" y="7270254"/>
            <a:ext cx="6709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157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236" name="Shape 234"/>
          <p:cNvSpPr/>
          <p:nvPr/>
        </p:nvSpPr>
        <p:spPr>
          <a:xfrm>
            <a:off x="9258300" y="8140898"/>
            <a:ext cx="762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37" name="Text 235"/>
          <p:cNvSpPr/>
          <p:nvPr/>
        </p:nvSpPr>
        <p:spPr>
          <a:xfrm>
            <a:off x="9391650" y="7684294"/>
            <a:ext cx="571500" cy="428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1950" dirty="0"/>
          </a:p>
        </p:txBody>
      </p:sp>
      <p:sp>
        <p:nvSpPr>
          <p:cNvPr id="238" name="Shape 236"/>
          <p:cNvSpPr/>
          <p:nvPr/>
        </p:nvSpPr>
        <p:spPr>
          <a:xfrm>
            <a:off x="10020300" y="8140898"/>
            <a:ext cx="42672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39" name="Text 237"/>
          <p:cNvSpPr/>
          <p:nvPr/>
        </p:nvSpPr>
        <p:spPr>
          <a:xfrm>
            <a:off x="10153650" y="7684294"/>
            <a:ext cx="4128516" cy="428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본인 얼굴 화이트리스트</a:t>
            </a:r>
            <a:endParaRPr lang="en-US" sz="1950" dirty="0"/>
          </a:p>
        </p:txBody>
      </p:sp>
      <p:sp>
        <p:nvSpPr>
          <p:cNvPr id="240" name="Shape 238"/>
          <p:cNvSpPr/>
          <p:nvPr/>
        </p:nvSpPr>
        <p:spPr>
          <a:xfrm>
            <a:off x="14287500" y="8140898"/>
            <a:ext cx="1905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41" name="Text 239"/>
          <p:cNvSpPr/>
          <p:nvPr/>
        </p:nvSpPr>
        <p:spPr>
          <a:xfrm>
            <a:off x="14420850" y="7684294"/>
            <a:ext cx="1714500" cy="428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마이페이지</a:t>
            </a:r>
            <a:endParaRPr lang="en-US" sz="1950" dirty="0"/>
          </a:p>
        </p:txBody>
      </p:sp>
      <p:sp>
        <p:nvSpPr>
          <p:cNvPr id="242" name="Shape 240"/>
          <p:cNvSpPr/>
          <p:nvPr/>
        </p:nvSpPr>
        <p:spPr>
          <a:xfrm>
            <a:off x="16192500" y="8140898"/>
            <a:ext cx="13335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43" name="Shape 241"/>
          <p:cNvSpPr/>
          <p:nvPr/>
        </p:nvSpPr>
        <p:spPr>
          <a:xfrm>
            <a:off x="16587341" y="7764959"/>
            <a:ext cx="543818" cy="276225"/>
          </a:xfrm>
          <a:prstGeom prst="roundRect">
            <a:avLst>
              <a:gd name="adj" fmla="val 50000"/>
            </a:avLst>
          </a:prstGeom>
          <a:solidFill>
            <a:srgbClr val="F3E5F5"/>
          </a:solidFill>
          <a:ln/>
        </p:spPr>
      </p:sp>
      <p:sp>
        <p:nvSpPr>
          <p:cNvPr id="244" name="Text 242"/>
          <p:cNvSpPr/>
          <p:nvPr/>
        </p:nvSpPr>
        <p:spPr>
          <a:xfrm>
            <a:off x="16663541" y="7803059"/>
            <a:ext cx="39141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4A148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v2~</a:t>
            </a:r>
            <a:endParaRPr lang="en-US" sz="1350" dirty="0"/>
          </a:p>
        </p:txBody>
      </p:sp>
      <p:sp>
        <p:nvSpPr>
          <p:cNvPr id="245" name="Shape 243"/>
          <p:cNvSpPr/>
          <p:nvPr/>
        </p:nvSpPr>
        <p:spPr>
          <a:xfrm>
            <a:off x="9258300" y="8673703"/>
            <a:ext cx="762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46" name="Text 244"/>
          <p:cNvSpPr/>
          <p:nvPr/>
        </p:nvSpPr>
        <p:spPr>
          <a:xfrm>
            <a:off x="9391650" y="8217098"/>
            <a:ext cx="571500" cy="428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</a:t>
            </a:r>
            <a:endParaRPr lang="en-US" sz="1950" dirty="0"/>
          </a:p>
        </p:txBody>
      </p:sp>
      <p:sp>
        <p:nvSpPr>
          <p:cNvPr id="247" name="Shape 245"/>
          <p:cNvSpPr/>
          <p:nvPr/>
        </p:nvSpPr>
        <p:spPr>
          <a:xfrm>
            <a:off x="10020300" y="8673703"/>
            <a:ext cx="42672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48" name="Text 246"/>
          <p:cNvSpPr/>
          <p:nvPr/>
        </p:nvSpPr>
        <p:spPr>
          <a:xfrm>
            <a:off x="10153650" y="8217098"/>
            <a:ext cx="4128516" cy="428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어뷰징 모니터링</a:t>
            </a:r>
            <a:endParaRPr lang="en-US" sz="1950" dirty="0"/>
          </a:p>
        </p:txBody>
      </p:sp>
      <p:sp>
        <p:nvSpPr>
          <p:cNvPr id="249" name="Shape 247"/>
          <p:cNvSpPr/>
          <p:nvPr/>
        </p:nvSpPr>
        <p:spPr>
          <a:xfrm>
            <a:off x="14287500" y="8673703"/>
            <a:ext cx="1905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50" name="Text 248"/>
          <p:cNvSpPr/>
          <p:nvPr/>
        </p:nvSpPr>
        <p:spPr>
          <a:xfrm>
            <a:off x="14420850" y="8217098"/>
            <a:ext cx="1714500" cy="428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</a:t>
            </a:r>
            <a:endParaRPr lang="en-US" sz="1950" dirty="0"/>
          </a:p>
        </p:txBody>
      </p:sp>
      <p:sp>
        <p:nvSpPr>
          <p:cNvPr id="251" name="Shape 249"/>
          <p:cNvSpPr/>
          <p:nvPr/>
        </p:nvSpPr>
        <p:spPr>
          <a:xfrm>
            <a:off x="16192500" y="8673703"/>
            <a:ext cx="13335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52" name="Shape 250"/>
          <p:cNvSpPr/>
          <p:nvPr/>
        </p:nvSpPr>
        <p:spPr>
          <a:xfrm>
            <a:off x="16447591" y="8297763"/>
            <a:ext cx="823317" cy="276225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/>
        </p:spPr>
      </p:sp>
      <p:sp>
        <p:nvSpPr>
          <p:cNvPr id="253" name="Text 251"/>
          <p:cNvSpPr/>
          <p:nvPr/>
        </p:nvSpPr>
        <p:spPr>
          <a:xfrm>
            <a:off x="16523791" y="8335863"/>
            <a:ext cx="6709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157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254" name="Shape 252"/>
          <p:cNvSpPr/>
          <p:nvPr/>
        </p:nvSpPr>
        <p:spPr>
          <a:xfrm>
            <a:off x="9258300" y="9206508"/>
            <a:ext cx="762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55" name="Text 253"/>
          <p:cNvSpPr/>
          <p:nvPr/>
        </p:nvSpPr>
        <p:spPr>
          <a:xfrm>
            <a:off x="9391650" y="8749903"/>
            <a:ext cx="571500" cy="428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</a:t>
            </a:r>
            <a:endParaRPr lang="en-US" sz="1950" dirty="0"/>
          </a:p>
        </p:txBody>
      </p:sp>
      <p:sp>
        <p:nvSpPr>
          <p:cNvPr id="256" name="Shape 254"/>
          <p:cNvSpPr/>
          <p:nvPr/>
        </p:nvSpPr>
        <p:spPr>
          <a:xfrm>
            <a:off x="10020300" y="9206508"/>
            <a:ext cx="42672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57" name="Text 255"/>
          <p:cNvSpPr/>
          <p:nvPr/>
        </p:nvSpPr>
        <p:spPr>
          <a:xfrm>
            <a:off x="10153650" y="8749903"/>
            <a:ext cx="4128516" cy="428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큐 관리</a:t>
            </a:r>
            <a:endParaRPr lang="en-US" sz="1950" dirty="0"/>
          </a:p>
        </p:txBody>
      </p:sp>
      <p:sp>
        <p:nvSpPr>
          <p:cNvPr id="258" name="Shape 256"/>
          <p:cNvSpPr/>
          <p:nvPr/>
        </p:nvSpPr>
        <p:spPr>
          <a:xfrm>
            <a:off x="14287500" y="9206508"/>
            <a:ext cx="1905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59" name="Text 257"/>
          <p:cNvSpPr/>
          <p:nvPr/>
        </p:nvSpPr>
        <p:spPr>
          <a:xfrm>
            <a:off x="14420850" y="8749903"/>
            <a:ext cx="1714500" cy="428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</a:t>
            </a:r>
            <a:endParaRPr lang="en-US" sz="1950" dirty="0"/>
          </a:p>
        </p:txBody>
      </p:sp>
      <p:sp>
        <p:nvSpPr>
          <p:cNvPr id="260" name="Shape 258"/>
          <p:cNvSpPr/>
          <p:nvPr/>
        </p:nvSpPr>
        <p:spPr>
          <a:xfrm>
            <a:off x="16192500" y="9206508"/>
            <a:ext cx="13335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61" name="Shape 259"/>
          <p:cNvSpPr/>
          <p:nvPr/>
        </p:nvSpPr>
        <p:spPr>
          <a:xfrm>
            <a:off x="16447591" y="8830568"/>
            <a:ext cx="823317" cy="276225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/>
        </p:spPr>
      </p:sp>
      <p:sp>
        <p:nvSpPr>
          <p:cNvPr id="262" name="Text 260"/>
          <p:cNvSpPr/>
          <p:nvPr/>
        </p:nvSpPr>
        <p:spPr>
          <a:xfrm>
            <a:off x="16523791" y="8868668"/>
            <a:ext cx="6709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157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263" name="Shape 261"/>
          <p:cNvSpPr/>
          <p:nvPr/>
        </p:nvSpPr>
        <p:spPr>
          <a:xfrm>
            <a:off x="9258300" y="9739313"/>
            <a:ext cx="762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64" name="Text 262"/>
          <p:cNvSpPr/>
          <p:nvPr/>
        </p:nvSpPr>
        <p:spPr>
          <a:xfrm>
            <a:off x="9391650" y="9282708"/>
            <a:ext cx="571500" cy="428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</a:t>
            </a:r>
            <a:endParaRPr lang="en-US" sz="1950" dirty="0"/>
          </a:p>
        </p:txBody>
      </p:sp>
      <p:sp>
        <p:nvSpPr>
          <p:cNvPr id="265" name="Shape 263"/>
          <p:cNvSpPr/>
          <p:nvPr/>
        </p:nvSpPr>
        <p:spPr>
          <a:xfrm>
            <a:off x="10020300" y="9739313"/>
            <a:ext cx="42672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66" name="Text 264"/>
          <p:cNvSpPr/>
          <p:nvPr/>
        </p:nvSpPr>
        <p:spPr>
          <a:xfrm>
            <a:off x="10153650" y="9282708"/>
            <a:ext cx="4128516" cy="428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컴플라이언스 로그·감사</a:t>
            </a:r>
            <a:endParaRPr lang="en-US" sz="1950" dirty="0"/>
          </a:p>
        </p:txBody>
      </p:sp>
      <p:sp>
        <p:nvSpPr>
          <p:cNvPr id="267" name="Shape 265"/>
          <p:cNvSpPr/>
          <p:nvPr/>
        </p:nvSpPr>
        <p:spPr>
          <a:xfrm>
            <a:off x="14287500" y="9739313"/>
            <a:ext cx="1905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68" name="Text 266"/>
          <p:cNvSpPr/>
          <p:nvPr/>
        </p:nvSpPr>
        <p:spPr>
          <a:xfrm>
            <a:off x="14420850" y="9282708"/>
            <a:ext cx="1714500" cy="4280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</a:t>
            </a:r>
            <a:endParaRPr lang="en-US" sz="1950" dirty="0"/>
          </a:p>
        </p:txBody>
      </p:sp>
      <p:sp>
        <p:nvSpPr>
          <p:cNvPr id="269" name="Shape 267"/>
          <p:cNvSpPr/>
          <p:nvPr/>
        </p:nvSpPr>
        <p:spPr>
          <a:xfrm>
            <a:off x="16192500" y="9739313"/>
            <a:ext cx="13335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270" name="Shape 268"/>
          <p:cNvSpPr/>
          <p:nvPr/>
        </p:nvSpPr>
        <p:spPr>
          <a:xfrm>
            <a:off x="16447591" y="9363373"/>
            <a:ext cx="823317" cy="276225"/>
          </a:xfrm>
          <a:prstGeom prst="roundRect">
            <a:avLst>
              <a:gd name="adj" fmla="val 50000"/>
            </a:avLst>
          </a:prstGeom>
          <a:solidFill>
            <a:srgbClr val="E1F5FE"/>
          </a:solidFill>
          <a:ln/>
        </p:spPr>
      </p:sp>
      <p:sp>
        <p:nvSpPr>
          <p:cNvPr id="271" name="Text 269"/>
          <p:cNvSpPr/>
          <p:nvPr/>
        </p:nvSpPr>
        <p:spPr>
          <a:xfrm>
            <a:off x="16523791" y="9401473"/>
            <a:ext cx="6709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1579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228600" y="1343025"/>
            <a:ext cx="11582400" cy="8486775"/>
          </a:xfrm>
          <a:prstGeom prst="roundRect">
            <a:avLst>
              <a:gd name="adj" fmla="val 224"/>
            </a:avLst>
          </a:prstGeom>
          <a:solidFill>
            <a:srgbClr val="FFFFFF"/>
          </a:solidFill>
          <a:ln w="9525">
            <a:solidFill>
              <a:srgbClr val="B8BDC7"/>
            </a:solidFill>
            <a:prstDash val="solid"/>
          </a:ln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78" name="그림 77" descr="C:\Users\human\AppData\Local\Microsoft\Windows\INetCache\Content.Word\스크린샷_15-5-2026_91233_.jpeg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7348"/>
          <a:stretch/>
        </p:blipFill>
        <p:spPr bwMode="auto">
          <a:xfrm>
            <a:off x="522373" y="1404688"/>
            <a:ext cx="4568401" cy="6696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그림 78" descr="C:\Users\human\AppData\Local\Microsoft\Windows\INetCache\Content.Word\스크린샷_15-5-2026_91233_.jpeg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696" b="5424"/>
          <a:stretch/>
        </p:blipFill>
        <p:spPr bwMode="auto">
          <a:xfrm>
            <a:off x="6790764" y="1521140"/>
            <a:ext cx="4568401" cy="783140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hape 0"/>
          <p:cNvSpPr/>
          <p:nvPr/>
        </p:nvSpPr>
        <p:spPr>
          <a:xfrm>
            <a:off x="0" y="876300"/>
            <a:ext cx="18288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00200" cy="91440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" name="Text 2"/>
          <p:cNvSpPr/>
          <p:nvPr/>
        </p:nvSpPr>
        <p:spPr>
          <a:xfrm>
            <a:off x="560636" y="147638"/>
            <a:ext cx="5549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216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5335" y="309563"/>
            <a:ext cx="6057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kern="0" spc="-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828800" y="152400"/>
            <a:ext cx="1248463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27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랜딩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28800" y="561975"/>
            <a:ext cx="124846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Landing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178409" y="0"/>
            <a:ext cx="9525" cy="914400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" name="Shape 7"/>
          <p:cNvSpPr/>
          <p:nvPr/>
        </p:nvSpPr>
        <p:spPr>
          <a:xfrm>
            <a:off x="14454634" y="304800"/>
            <a:ext cx="882253" cy="304800"/>
          </a:xfrm>
          <a:prstGeom prst="roundRect">
            <a:avLst>
              <a:gd name="adj" fmla="val 12500"/>
            </a:avLst>
          </a:prstGeom>
          <a:solidFill>
            <a:srgbClr val="455A64"/>
          </a:solidFill>
          <a:ln w="9525">
            <a:solidFill>
              <a:srgbClr val="455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578459" y="314325"/>
            <a:ext cx="7108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영역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432137" y="304800"/>
            <a:ext cx="831503" cy="304800"/>
          </a:xfrm>
          <a:prstGeom prst="roundRect">
            <a:avLst>
              <a:gd name="adj" fmla="val 12500"/>
            </a:avLst>
          </a:prstGeom>
          <a:solidFill>
            <a:srgbClr val="0288D1"/>
          </a:solidFill>
          <a:ln w="9525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55962" y="314325"/>
            <a:ext cx="6600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6358890" y="314325"/>
            <a:ext cx="166241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473190" y="314325"/>
            <a:ext cx="1510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2026.05.14 · v1.0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8600" y="1066800"/>
            <a:ext cx="2028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와이어 / Hi-Fi Mockup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742712" y="1066800"/>
            <a:ext cx="103018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garim.kr/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1485900" y="2047875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466850" y="2066925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50" dirty="0"/>
          </a:p>
        </p:txBody>
      </p:sp>
      <p:grpSp>
        <p:nvGrpSpPr>
          <p:cNvPr id="80" name="그룹 79"/>
          <p:cNvGrpSpPr/>
          <p:nvPr/>
        </p:nvGrpSpPr>
        <p:grpSpPr>
          <a:xfrm>
            <a:off x="1790139" y="5776913"/>
            <a:ext cx="381000" cy="361950"/>
            <a:chOff x="8835628" y="3043982"/>
            <a:chExt cx="381000" cy="361950"/>
          </a:xfrm>
        </p:grpSpPr>
        <p:sp>
          <p:nvSpPr>
            <p:cNvPr id="21" name="Shape 18"/>
            <p:cNvSpPr/>
            <p:nvPr/>
          </p:nvSpPr>
          <p:spPr>
            <a:xfrm>
              <a:off x="8854678" y="3043982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2" name="Text 19"/>
            <p:cNvSpPr/>
            <p:nvPr/>
          </p:nvSpPr>
          <p:spPr>
            <a:xfrm>
              <a:off x="8835628" y="3063032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2</a:t>
              </a:r>
              <a:endParaRPr lang="en-US" sz="1350" dirty="0"/>
            </a:p>
          </p:txBody>
        </p:sp>
      </p:grpSp>
      <p:grpSp>
        <p:nvGrpSpPr>
          <p:cNvPr id="81" name="그룹 80"/>
          <p:cNvGrpSpPr/>
          <p:nvPr/>
        </p:nvGrpSpPr>
        <p:grpSpPr>
          <a:xfrm>
            <a:off x="8106292" y="1452563"/>
            <a:ext cx="381000" cy="361950"/>
            <a:chOff x="2822823" y="5414963"/>
            <a:chExt cx="381000" cy="361950"/>
          </a:xfrm>
        </p:grpSpPr>
        <p:sp>
          <p:nvSpPr>
            <p:cNvPr id="23" name="Shape 20"/>
            <p:cNvSpPr/>
            <p:nvPr/>
          </p:nvSpPr>
          <p:spPr>
            <a:xfrm>
              <a:off x="2841873" y="5414963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4" name="Text 21"/>
            <p:cNvSpPr/>
            <p:nvPr/>
          </p:nvSpPr>
          <p:spPr>
            <a:xfrm>
              <a:off x="2822823" y="5434013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3</a:t>
              </a:r>
              <a:endParaRPr lang="en-US" sz="1350" dirty="0"/>
            </a:p>
          </p:txBody>
        </p:sp>
      </p:grpSp>
      <p:grpSp>
        <p:nvGrpSpPr>
          <p:cNvPr id="82" name="그룹 81"/>
          <p:cNvGrpSpPr/>
          <p:nvPr/>
        </p:nvGrpSpPr>
        <p:grpSpPr>
          <a:xfrm>
            <a:off x="7915792" y="3693205"/>
            <a:ext cx="381000" cy="361950"/>
            <a:chOff x="5829300" y="7277844"/>
            <a:chExt cx="381000" cy="361950"/>
          </a:xfrm>
        </p:grpSpPr>
        <p:sp>
          <p:nvSpPr>
            <p:cNvPr id="25" name="Shape 22"/>
            <p:cNvSpPr/>
            <p:nvPr/>
          </p:nvSpPr>
          <p:spPr>
            <a:xfrm>
              <a:off x="5848350" y="7277844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6" name="Text 23"/>
            <p:cNvSpPr/>
            <p:nvPr/>
          </p:nvSpPr>
          <p:spPr>
            <a:xfrm>
              <a:off x="5829300" y="7296894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4</a:t>
              </a:r>
              <a:endParaRPr lang="en-US" sz="1350" dirty="0"/>
            </a:p>
          </p:txBody>
        </p:sp>
      </p:grpSp>
      <p:grpSp>
        <p:nvGrpSpPr>
          <p:cNvPr id="83" name="그룹 82"/>
          <p:cNvGrpSpPr/>
          <p:nvPr/>
        </p:nvGrpSpPr>
        <p:grpSpPr>
          <a:xfrm>
            <a:off x="9397943" y="5221089"/>
            <a:ext cx="381000" cy="361950"/>
            <a:chOff x="9298186" y="8632627"/>
            <a:chExt cx="381000" cy="361950"/>
          </a:xfrm>
        </p:grpSpPr>
        <p:sp>
          <p:nvSpPr>
            <p:cNvPr id="27" name="Shape 24"/>
            <p:cNvSpPr/>
            <p:nvPr/>
          </p:nvSpPr>
          <p:spPr>
            <a:xfrm>
              <a:off x="9317236" y="8632627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8" name="Text 25"/>
            <p:cNvSpPr/>
            <p:nvPr/>
          </p:nvSpPr>
          <p:spPr>
            <a:xfrm>
              <a:off x="9298186" y="8651677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5</a:t>
              </a:r>
              <a:endParaRPr lang="en-US" sz="1350" dirty="0"/>
            </a:p>
          </p:txBody>
        </p:sp>
      </p:grpSp>
      <p:sp>
        <p:nvSpPr>
          <p:cNvPr id="29" name="Shape 26"/>
          <p:cNvSpPr/>
          <p:nvPr/>
        </p:nvSpPr>
        <p:spPr>
          <a:xfrm>
            <a:off x="12001500" y="13144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0" name="Text 27"/>
          <p:cNvSpPr/>
          <p:nvPr/>
        </p:nvSpPr>
        <p:spPr>
          <a:xfrm>
            <a:off x="12001500" y="1028700"/>
            <a:ext cx="12997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· 컴포넌트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3320266" y="1104900"/>
            <a:ext cx="15653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Purpose · Components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2001500" y="1428750"/>
            <a:ext cx="623963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비방문자에게 서비스 가치를 8초 안에 전달, 무료 검출 가입 유도</a:t>
            </a:r>
            <a:endParaRPr lang="en-US" sz="1650" dirty="0"/>
          </a:p>
        </p:txBody>
      </p:sp>
      <p:sp>
        <p:nvSpPr>
          <p:cNvPr id="33" name="Shape 30"/>
          <p:cNvSpPr/>
          <p:nvPr/>
        </p:nvSpPr>
        <p:spPr>
          <a:xfrm>
            <a:off x="12001500" y="239077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4" name="Shape 31"/>
          <p:cNvSpPr/>
          <p:nvPr/>
        </p:nvSpPr>
        <p:spPr>
          <a:xfrm>
            <a:off x="12001500" y="18859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5" name="Text 32"/>
          <p:cNvSpPr/>
          <p:nvPr/>
        </p:nvSpPr>
        <p:spPr>
          <a:xfrm>
            <a:off x="11963400" y="18859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2287250" y="1866900"/>
            <a:ext cx="594531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Hero · 핵심 카피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"택배 송장도, 영상 속 이름표도. 보이지 않게." 무료 시작 Primary CTA</a:t>
            </a:r>
            <a:endParaRPr lang="en-US" sz="1425" dirty="0"/>
          </a:p>
        </p:txBody>
      </p:sp>
      <p:sp>
        <p:nvSpPr>
          <p:cNvPr id="37" name="Shape 34"/>
          <p:cNvSpPr/>
          <p:nvPr/>
        </p:nvSpPr>
        <p:spPr>
          <a:xfrm>
            <a:off x="12001500" y="272415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8" name="Shape 35"/>
          <p:cNvSpPr/>
          <p:nvPr/>
        </p:nvSpPr>
        <p:spPr>
          <a:xfrm>
            <a:off x="12001500" y="24669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9" name="Text 36"/>
          <p:cNvSpPr/>
          <p:nvPr/>
        </p:nvSpPr>
        <p:spPr>
          <a:xfrm>
            <a:off x="11963400" y="24669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2287250" y="244792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통계 카드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누적 검출 건수·발견 개인정보 카운트. 신뢰 지표</a:t>
            </a:r>
            <a:endParaRPr lang="en-US" sz="1425" dirty="0"/>
          </a:p>
        </p:txBody>
      </p:sp>
      <p:sp>
        <p:nvSpPr>
          <p:cNvPr id="41" name="Shape 38"/>
          <p:cNvSpPr/>
          <p:nvPr/>
        </p:nvSpPr>
        <p:spPr>
          <a:xfrm>
            <a:off x="12001500" y="305752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2" name="Shape 39"/>
          <p:cNvSpPr/>
          <p:nvPr/>
        </p:nvSpPr>
        <p:spPr>
          <a:xfrm>
            <a:off x="12001500" y="28003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3" name="Text 40"/>
          <p:cNvSpPr/>
          <p:nvPr/>
        </p:nvSpPr>
        <p:spPr>
          <a:xfrm>
            <a:off x="11963400" y="28003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2287250" y="27813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솔루션 차별점 3카드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멀티모달 검출 / 사용자 제어권 / 결과 보장 (워터마크)</a:t>
            </a:r>
            <a:endParaRPr lang="en-US" sz="1425" dirty="0"/>
          </a:p>
        </p:txBody>
      </p:sp>
      <p:sp>
        <p:nvSpPr>
          <p:cNvPr id="45" name="Shape 42"/>
          <p:cNvSpPr/>
          <p:nvPr/>
        </p:nvSpPr>
        <p:spPr>
          <a:xfrm>
            <a:off x="12001500" y="339090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6" name="Shape 43"/>
          <p:cNvSpPr/>
          <p:nvPr/>
        </p:nvSpPr>
        <p:spPr>
          <a:xfrm>
            <a:off x="12001500" y="313372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7" name="Text 44"/>
          <p:cNvSpPr/>
          <p:nvPr/>
        </p:nvSpPr>
        <p:spPr>
          <a:xfrm>
            <a:off x="11963400" y="313372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2287250" y="311467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 흐름 stepper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업로드 → 검출 → 옵션 → 다운로드 4단계 시각화</a:t>
            </a:r>
            <a:endParaRPr lang="en-US" sz="1425" dirty="0"/>
          </a:p>
        </p:txBody>
      </p:sp>
      <p:sp>
        <p:nvSpPr>
          <p:cNvPr id="49" name="Shape 46"/>
          <p:cNvSpPr/>
          <p:nvPr/>
        </p:nvSpPr>
        <p:spPr>
          <a:xfrm>
            <a:off x="12001500" y="346710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50" name="Text 47"/>
          <p:cNvSpPr/>
          <p:nvPr/>
        </p:nvSpPr>
        <p:spPr>
          <a:xfrm>
            <a:off x="11963400" y="346710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2287250" y="344805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최종 CTA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비로그인 = "무료로 시작" / 로그인 = "내 대시보드로"</a:t>
            </a:r>
            <a:endParaRPr lang="en-US" sz="1425" dirty="0"/>
          </a:p>
        </p:txBody>
      </p:sp>
      <p:sp>
        <p:nvSpPr>
          <p:cNvPr id="52" name="Shape 49"/>
          <p:cNvSpPr/>
          <p:nvPr/>
        </p:nvSpPr>
        <p:spPr>
          <a:xfrm>
            <a:off x="12001500" y="4105275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3" name="Text 50"/>
          <p:cNvSpPr/>
          <p:nvPr/>
        </p:nvSpPr>
        <p:spPr>
          <a:xfrm>
            <a:off x="12001500" y="3819525"/>
            <a:ext cx="9603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/ 이탈</a:t>
            </a:r>
            <a:endParaRPr lang="en-US" sz="1650" dirty="0"/>
          </a:p>
        </p:txBody>
      </p:sp>
      <p:sp>
        <p:nvSpPr>
          <p:cNvPr id="54" name="Text 51"/>
          <p:cNvSpPr/>
          <p:nvPr/>
        </p:nvSpPr>
        <p:spPr>
          <a:xfrm>
            <a:off x="12980938" y="3895725"/>
            <a:ext cx="7868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Entry · Exit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12006263" y="4224338"/>
            <a:ext cx="1047750" cy="8572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2091988" y="4271963"/>
            <a:ext cx="9525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</a:t>
            </a:r>
            <a:endParaRPr lang="en-US" sz="1425" dirty="0"/>
          </a:p>
        </p:txBody>
      </p:sp>
      <p:sp>
        <p:nvSpPr>
          <p:cNvPr id="57" name="Shape 54"/>
          <p:cNvSpPr/>
          <p:nvPr/>
        </p:nvSpPr>
        <p:spPr>
          <a:xfrm>
            <a:off x="13054013" y="4224338"/>
            <a:ext cx="5000625" cy="8572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3179743" y="4267200"/>
            <a:ext cx="487013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SEO (택배 송장 가리기 등)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 광고·콘텐츠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미니 인플루언서 협찬</a:t>
            </a:r>
            <a:endParaRPr lang="en-US" sz="1425" dirty="0"/>
          </a:p>
        </p:txBody>
      </p:sp>
      <p:sp>
        <p:nvSpPr>
          <p:cNvPr id="59" name="Shape 56"/>
          <p:cNvSpPr/>
          <p:nvPr/>
        </p:nvSpPr>
        <p:spPr>
          <a:xfrm>
            <a:off x="12006263" y="5081588"/>
            <a:ext cx="1047750" cy="8572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2091988" y="5129213"/>
            <a:ext cx="9525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/ 다음</a:t>
            </a:r>
            <a:endParaRPr lang="en-US" sz="1425" dirty="0"/>
          </a:p>
        </p:txBody>
      </p:sp>
      <p:sp>
        <p:nvSpPr>
          <p:cNvPr id="61" name="Shape 58"/>
          <p:cNvSpPr/>
          <p:nvPr/>
        </p:nvSpPr>
        <p:spPr>
          <a:xfrm>
            <a:off x="13054013" y="5081588"/>
            <a:ext cx="5000625" cy="8572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3179743" y="5124450"/>
            <a:ext cx="487013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"무료로 시작" → 05 회원가입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헤더 "요금제" → 02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 사용자 → 19 대시보드</a:t>
            </a:r>
            <a:endParaRPr lang="en-US" sz="1425" dirty="0"/>
          </a:p>
        </p:txBody>
      </p:sp>
      <p:sp>
        <p:nvSpPr>
          <p:cNvPr id="63" name="Shape 60"/>
          <p:cNvSpPr/>
          <p:nvPr/>
        </p:nvSpPr>
        <p:spPr>
          <a:xfrm>
            <a:off x="12001500" y="632460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64" name="Text 61"/>
          <p:cNvSpPr/>
          <p:nvPr/>
        </p:nvSpPr>
        <p:spPr>
          <a:xfrm>
            <a:off x="12001500" y="6038850"/>
            <a:ext cx="849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분기·규칙</a:t>
            </a:r>
            <a:endParaRPr lang="en-US" sz="1650" dirty="0"/>
          </a:p>
        </p:txBody>
      </p:sp>
      <p:sp>
        <p:nvSpPr>
          <p:cNvPr id="65" name="Text 62"/>
          <p:cNvSpPr/>
          <p:nvPr/>
        </p:nvSpPr>
        <p:spPr>
          <a:xfrm>
            <a:off x="12869912" y="6115050"/>
            <a:ext cx="4344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Rules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12006263" y="6443663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2091988" y="6491288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비로그인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13054013" y="6443663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3139738" y="6491288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Primary = "무료로 시작하기"</a:t>
            </a:r>
            <a:endParaRPr lang="en-US" sz="1425" dirty="0"/>
          </a:p>
        </p:txBody>
      </p:sp>
      <p:sp>
        <p:nvSpPr>
          <p:cNvPr id="70" name="Shape 67"/>
          <p:cNvSpPr/>
          <p:nvPr/>
        </p:nvSpPr>
        <p:spPr>
          <a:xfrm>
            <a:off x="12006263" y="6767513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2091988" y="6815138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</a:t>
            </a:r>
            <a:endParaRPr lang="en-US" sz="1425" dirty="0"/>
          </a:p>
        </p:txBody>
      </p:sp>
      <p:sp>
        <p:nvSpPr>
          <p:cNvPr id="72" name="Shape 69"/>
          <p:cNvSpPr/>
          <p:nvPr/>
        </p:nvSpPr>
        <p:spPr>
          <a:xfrm>
            <a:off x="13054013" y="6767513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3139738" y="6815138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Primary = "내 대시보드로" (→ 19)</a:t>
            </a:r>
            <a:endParaRPr lang="en-US" sz="1425" dirty="0"/>
          </a:p>
        </p:txBody>
      </p:sp>
      <p:sp>
        <p:nvSpPr>
          <p:cNvPr id="74" name="Shape 71"/>
          <p:cNvSpPr/>
          <p:nvPr/>
        </p:nvSpPr>
        <p:spPr>
          <a:xfrm>
            <a:off x="0" y="9944100"/>
            <a:ext cx="18288000" cy="3429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75" name="Shape 72"/>
          <p:cNvSpPr/>
          <p:nvPr/>
        </p:nvSpPr>
        <p:spPr>
          <a:xfrm>
            <a:off x="0" y="9944100"/>
            <a:ext cx="18288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76" name="Text 73"/>
          <p:cNvSpPr/>
          <p:nvPr/>
        </p:nvSpPr>
        <p:spPr>
          <a:xfrm>
            <a:off x="304800" y="10034588"/>
            <a:ext cx="342088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54" dirty="0">
                <a:solidFill>
                  <a:srgbClr val="798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· 화면설계서 v1.0 · #garim.kr/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14912429" y="10020300"/>
            <a:ext cx="316289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P01 · 랜딩 · ref: Linear · Vercel · 채널톡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76300"/>
            <a:ext cx="18288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00200" cy="91440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" name="Text 2"/>
          <p:cNvSpPr/>
          <p:nvPr/>
        </p:nvSpPr>
        <p:spPr>
          <a:xfrm>
            <a:off x="560636" y="147638"/>
            <a:ext cx="5549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216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5335" y="309563"/>
            <a:ext cx="6057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kern="0" spc="-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828800" y="152400"/>
            <a:ext cx="1248463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27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서비스 소개·요금제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28800" y="561975"/>
            <a:ext cx="124846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Pricing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178409" y="0"/>
            <a:ext cx="9525" cy="914400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" name="Shape 7"/>
          <p:cNvSpPr/>
          <p:nvPr/>
        </p:nvSpPr>
        <p:spPr>
          <a:xfrm>
            <a:off x="14454634" y="304800"/>
            <a:ext cx="882253" cy="304800"/>
          </a:xfrm>
          <a:prstGeom prst="roundRect">
            <a:avLst>
              <a:gd name="adj" fmla="val 12500"/>
            </a:avLst>
          </a:prstGeom>
          <a:solidFill>
            <a:srgbClr val="455A64"/>
          </a:solidFill>
          <a:ln w="9525">
            <a:solidFill>
              <a:srgbClr val="455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578459" y="314325"/>
            <a:ext cx="7108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영역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432137" y="304800"/>
            <a:ext cx="831503" cy="304800"/>
          </a:xfrm>
          <a:prstGeom prst="roundRect">
            <a:avLst>
              <a:gd name="adj" fmla="val 12500"/>
            </a:avLst>
          </a:prstGeom>
          <a:solidFill>
            <a:srgbClr val="0288D1"/>
          </a:solidFill>
          <a:ln w="9525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55962" y="314325"/>
            <a:ext cx="6600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6358890" y="314325"/>
            <a:ext cx="166241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473190" y="314325"/>
            <a:ext cx="1510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2026.05.14 · v1.0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8600" y="1066800"/>
            <a:ext cx="2028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와이어 / Hi-Fi Mockup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000952" y="1066800"/>
            <a:ext cx="17719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garim.kr/pricing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28600" y="1343025"/>
            <a:ext cx="11582400" cy="8486775"/>
          </a:xfrm>
          <a:prstGeom prst="roundRect">
            <a:avLst>
              <a:gd name="adj" fmla="val 224"/>
            </a:avLst>
          </a:prstGeom>
          <a:solidFill>
            <a:srgbClr val="FFFFFF"/>
          </a:solidFill>
          <a:ln w="9525">
            <a:solidFill>
              <a:srgbClr val="B8BDC7"/>
            </a:solidFill>
            <a:prstDash val="solid"/>
          </a:ln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2001500" y="13144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28" name="Text 25"/>
          <p:cNvSpPr/>
          <p:nvPr/>
        </p:nvSpPr>
        <p:spPr>
          <a:xfrm>
            <a:off x="12001500" y="1028700"/>
            <a:ext cx="12997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· 컴포넌트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3320266" y="1104900"/>
            <a:ext cx="15653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Purpose · Components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2001500" y="1428750"/>
            <a:ext cx="623963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망설이는 사용자에게 기능·플랜 차이를 정리해 결제 결정 지원</a:t>
            </a:r>
            <a:endParaRPr lang="en-US" sz="1650" dirty="0"/>
          </a:p>
        </p:txBody>
      </p:sp>
      <p:sp>
        <p:nvSpPr>
          <p:cNvPr id="31" name="Shape 28"/>
          <p:cNvSpPr/>
          <p:nvPr/>
        </p:nvSpPr>
        <p:spPr>
          <a:xfrm>
            <a:off x="12001500" y="214312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2" name="Shape 29"/>
          <p:cNvSpPr/>
          <p:nvPr/>
        </p:nvSpPr>
        <p:spPr>
          <a:xfrm>
            <a:off x="12001500" y="18859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3" name="Text 30"/>
          <p:cNvSpPr/>
          <p:nvPr/>
        </p:nvSpPr>
        <p:spPr>
          <a:xfrm>
            <a:off x="11963400" y="18859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2287250" y="18669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월/연 toggle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연결제 시 약 17% 할인 표기</a:t>
            </a:r>
            <a:endParaRPr lang="en-US" sz="1425" dirty="0"/>
          </a:p>
        </p:txBody>
      </p:sp>
      <p:sp>
        <p:nvSpPr>
          <p:cNvPr id="35" name="Shape 32"/>
          <p:cNvSpPr/>
          <p:nvPr/>
        </p:nvSpPr>
        <p:spPr>
          <a:xfrm>
            <a:off x="12001500" y="247650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6" name="Shape 33"/>
          <p:cNvSpPr/>
          <p:nvPr/>
        </p:nvSpPr>
        <p:spPr>
          <a:xfrm>
            <a:off x="12001500" y="221932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7" name="Text 34"/>
          <p:cNvSpPr/>
          <p:nvPr/>
        </p:nvSpPr>
        <p:spPr>
          <a:xfrm>
            <a:off x="11963400" y="221932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2287250" y="220027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플랜 카드 4종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Free · 1회권 · Pro (베스트셀러) · Studio</a:t>
            </a:r>
            <a:endParaRPr lang="en-US" sz="1425" dirty="0"/>
          </a:p>
        </p:txBody>
      </p:sp>
      <p:sp>
        <p:nvSpPr>
          <p:cNvPr id="39" name="Shape 36"/>
          <p:cNvSpPr/>
          <p:nvPr/>
        </p:nvSpPr>
        <p:spPr>
          <a:xfrm>
            <a:off x="12001500" y="280987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0" name="Shape 37"/>
          <p:cNvSpPr/>
          <p:nvPr/>
        </p:nvSpPr>
        <p:spPr>
          <a:xfrm>
            <a:off x="12001500" y="255270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1" name="Text 38"/>
          <p:cNvSpPr/>
          <p:nvPr/>
        </p:nvSpPr>
        <p:spPr>
          <a:xfrm>
            <a:off x="11963400" y="255270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2287250" y="253365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비교 표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검출 한도·해상도·우선순위·동의 옵션 비교 매트릭스</a:t>
            </a:r>
            <a:endParaRPr lang="en-US" sz="1425" dirty="0"/>
          </a:p>
        </p:txBody>
      </p:sp>
      <p:sp>
        <p:nvSpPr>
          <p:cNvPr id="43" name="Shape 40"/>
          <p:cNvSpPr/>
          <p:nvPr/>
        </p:nvSpPr>
        <p:spPr>
          <a:xfrm>
            <a:off x="12001500" y="28860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4" name="Text 41"/>
          <p:cNvSpPr/>
          <p:nvPr/>
        </p:nvSpPr>
        <p:spPr>
          <a:xfrm>
            <a:off x="11963400" y="28860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2287250" y="286702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짧은 FAQ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환불·자동 결제·플랜 변경 3건. 페이지 3로 연결</a:t>
            </a:r>
            <a:endParaRPr lang="en-US" sz="1425" dirty="0"/>
          </a:p>
        </p:txBody>
      </p:sp>
      <p:sp>
        <p:nvSpPr>
          <p:cNvPr id="46" name="Shape 43"/>
          <p:cNvSpPr/>
          <p:nvPr/>
        </p:nvSpPr>
        <p:spPr>
          <a:xfrm>
            <a:off x="12001500" y="35242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7" name="Text 44"/>
          <p:cNvSpPr/>
          <p:nvPr/>
        </p:nvSpPr>
        <p:spPr>
          <a:xfrm>
            <a:off x="12001500" y="3238500"/>
            <a:ext cx="9603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/ 이탈</a:t>
            </a:r>
            <a:endParaRPr lang="en-US" sz="1650" dirty="0"/>
          </a:p>
        </p:txBody>
      </p:sp>
      <p:sp>
        <p:nvSpPr>
          <p:cNvPr id="48" name="Text 45"/>
          <p:cNvSpPr/>
          <p:nvPr/>
        </p:nvSpPr>
        <p:spPr>
          <a:xfrm>
            <a:off x="12980938" y="3314700"/>
            <a:ext cx="7868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Entry · Exit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12006263" y="3643313"/>
            <a:ext cx="1047750" cy="8572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2091988" y="3690937"/>
            <a:ext cx="9525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</a:t>
            </a:r>
            <a:endParaRPr lang="en-US" sz="1425" dirty="0"/>
          </a:p>
        </p:txBody>
      </p:sp>
      <p:sp>
        <p:nvSpPr>
          <p:cNvPr id="51" name="Shape 48"/>
          <p:cNvSpPr/>
          <p:nvPr/>
        </p:nvSpPr>
        <p:spPr>
          <a:xfrm>
            <a:off x="13054013" y="3643313"/>
            <a:ext cx="5000625" cy="8572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3179743" y="3686175"/>
            <a:ext cx="487013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헤더 "요금제"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랜딩 가격 카드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 "플랜 업그레이드"</a:t>
            </a:r>
            <a:endParaRPr lang="en-US" sz="1425" dirty="0"/>
          </a:p>
        </p:txBody>
      </p:sp>
      <p:sp>
        <p:nvSpPr>
          <p:cNvPr id="53" name="Shape 50"/>
          <p:cNvSpPr/>
          <p:nvPr/>
        </p:nvSpPr>
        <p:spPr>
          <a:xfrm>
            <a:off x="12006263" y="4500563"/>
            <a:ext cx="1047750" cy="8572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2091988" y="4548188"/>
            <a:ext cx="9525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/ 다음</a:t>
            </a:r>
            <a:endParaRPr lang="en-US" sz="1425" dirty="0"/>
          </a:p>
        </p:txBody>
      </p:sp>
      <p:sp>
        <p:nvSpPr>
          <p:cNvPr id="55" name="Shape 52"/>
          <p:cNvSpPr/>
          <p:nvPr/>
        </p:nvSpPr>
        <p:spPr>
          <a:xfrm>
            <a:off x="13054013" y="4500563"/>
            <a:ext cx="5000625" cy="8572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3179743" y="4543425"/>
            <a:ext cx="487013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"무료로 시작" → 05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"Pro 시작" → 13 결제 게이트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"문의" → 03 FAQ</a:t>
            </a:r>
            <a:endParaRPr lang="en-US" sz="1425" dirty="0"/>
          </a:p>
        </p:txBody>
      </p:sp>
      <p:sp>
        <p:nvSpPr>
          <p:cNvPr id="57" name="Shape 54"/>
          <p:cNvSpPr/>
          <p:nvPr/>
        </p:nvSpPr>
        <p:spPr>
          <a:xfrm>
            <a:off x="12001500" y="5743575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8" name="Text 55"/>
          <p:cNvSpPr/>
          <p:nvPr/>
        </p:nvSpPr>
        <p:spPr>
          <a:xfrm>
            <a:off x="12001500" y="5457825"/>
            <a:ext cx="849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분기·규칙</a:t>
            </a:r>
            <a:endParaRPr lang="en-US" sz="1650" dirty="0"/>
          </a:p>
        </p:txBody>
      </p:sp>
      <p:sp>
        <p:nvSpPr>
          <p:cNvPr id="59" name="Text 56"/>
          <p:cNvSpPr/>
          <p:nvPr/>
        </p:nvSpPr>
        <p:spPr>
          <a:xfrm>
            <a:off x="12869912" y="5534025"/>
            <a:ext cx="4344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Rules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12006263" y="5862638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2091988" y="5910262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비로그인</a:t>
            </a:r>
            <a:endParaRPr lang="en-US" sz="1425" dirty="0"/>
          </a:p>
        </p:txBody>
      </p:sp>
      <p:sp>
        <p:nvSpPr>
          <p:cNvPr id="62" name="Shape 59"/>
          <p:cNvSpPr/>
          <p:nvPr/>
        </p:nvSpPr>
        <p:spPr>
          <a:xfrm>
            <a:off x="13054013" y="5862638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3139738" y="5910262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CTA → 가입 후 결제 게이트 복귀</a:t>
            </a:r>
            <a:endParaRPr lang="en-US" sz="1425" dirty="0"/>
          </a:p>
        </p:txBody>
      </p:sp>
      <p:sp>
        <p:nvSpPr>
          <p:cNvPr id="64" name="Shape 61"/>
          <p:cNvSpPr/>
          <p:nvPr/>
        </p:nvSpPr>
        <p:spPr>
          <a:xfrm>
            <a:off x="12006263" y="6186488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2091988" y="6234113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</a:t>
            </a:r>
            <a:endParaRPr lang="en-US" sz="1425" dirty="0"/>
          </a:p>
        </p:txBody>
      </p:sp>
      <p:sp>
        <p:nvSpPr>
          <p:cNvPr id="66" name="Shape 63"/>
          <p:cNvSpPr/>
          <p:nvPr/>
        </p:nvSpPr>
        <p:spPr>
          <a:xfrm>
            <a:off x="13054013" y="6186488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3139738" y="6234113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플랜 = "현재 플랜" 배지 + 보조 CTA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0" y="9944100"/>
            <a:ext cx="18288000" cy="3429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69" name="Shape 66"/>
          <p:cNvSpPr/>
          <p:nvPr/>
        </p:nvSpPr>
        <p:spPr>
          <a:xfrm>
            <a:off x="0" y="9944100"/>
            <a:ext cx="18288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70" name="Text 67"/>
          <p:cNvSpPr/>
          <p:nvPr/>
        </p:nvSpPr>
        <p:spPr>
          <a:xfrm>
            <a:off x="304800" y="10034588"/>
            <a:ext cx="414948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54" dirty="0">
                <a:solidFill>
                  <a:srgbClr val="798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· 화면설계서 v1.0 · #garim.kr/pricing</a:t>
            </a:r>
            <a:endParaRPr lang="en-US" sz="1200" dirty="0"/>
          </a:p>
        </p:txBody>
      </p:sp>
      <p:sp>
        <p:nvSpPr>
          <p:cNvPr id="71" name="Text 68"/>
          <p:cNvSpPr/>
          <p:nvPr/>
        </p:nvSpPr>
        <p:spPr>
          <a:xfrm>
            <a:off x="13607207" y="10020300"/>
            <a:ext cx="450727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P02 · 서비스 소개·요금제 · ref: Stripe · Notion 가격 페이지</a:t>
            </a:r>
            <a:endParaRPr lang="en-US" sz="1350" dirty="0"/>
          </a:p>
        </p:txBody>
      </p:sp>
      <p:pic>
        <p:nvPicPr>
          <p:cNvPr id="72" name="그림 71"/>
          <p:cNvPicPr/>
          <p:nvPr/>
        </p:nvPicPr>
        <p:blipFill rotWithShape="1">
          <a:blip r:embed="rId3"/>
          <a:srcRect b="66727"/>
          <a:stretch/>
        </p:blipFill>
        <p:spPr>
          <a:xfrm>
            <a:off x="472654" y="2628650"/>
            <a:ext cx="4880396" cy="3900738"/>
          </a:xfrm>
          <a:prstGeom prst="rect">
            <a:avLst/>
          </a:prstGeom>
        </p:spPr>
      </p:pic>
      <p:pic>
        <p:nvPicPr>
          <p:cNvPr id="73" name="그림 72"/>
          <p:cNvPicPr/>
          <p:nvPr/>
        </p:nvPicPr>
        <p:blipFill rotWithShape="1">
          <a:blip r:embed="rId3"/>
          <a:srcRect t="34494" b="10223"/>
          <a:stretch/>
        </p:blipFill>
        <p:spPr>
          <a:xfrm>
            <a:off x="6496050" y="2503070"/>
            <a:ext cx="4880396" cy="6481010"/>
          </a:xfrm>
          <a:prstGeom prst="rect">
            <a:avLst/>
          </a:prstGeom>
        </p:spPr>
      </p:pic>
      <p:grpSp>
        <p:nvGrpSpPr>
          <p:cNvPr id="75" name="그룹 74"/>
          <p:cNvGrpSpPr/>
          <p:nvPr/>
        </p:nvGrpSpPr>
        <p:grpSpPr>
          <a:xfrm>
            <a:off x="532728" y="3189982"/>
            <a:ext cx="381000" cy="361950"/>
            <a:chOff x="5829300" y="1858417"/>
            <a:chExt cx="381000" cy="361950"/>
          </a:xfrm>
        </p:grpSpPr>
        <p:sp>
          <p:nvSpPr>
            <p:cNvPr id="76" name="Shape 16"/>
            <p:cNvSpPr/>
            <p:nvPr/>
          </p:nvSpPr>
          <p:spPr>
            <a:xfrm>
              <a:off x="5848350" y="1858417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77" name="Text 17"/>
            <p:cNvSpPr/>
            <p:nvPr/>
          </p:nvSpPr>
          <p:spPr>
            <a:xfrm>
              <a:off x="5829300" y="1877467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</a:t>
              </a:r>
              <a:endParaRPr lang="en-US" sz="1350" dirty="0"/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4073287" y="3781723"/>
            <a:ext cx="381000" cy="361950"/>
            <a:chOff x="5829300" y="3551932"/>
            <a:chExt cx="381000" cy="361950"/>
          </a:xfrm>
        </p:grpSpPr>
        <p:sp>
          <p:nvSpPr>
            <p:cNvPr id="80" name="Shape 18"/>
            <p:cNvSpPr/>
            <p:nvPr/>
          </p:nvSpPr>
          <p:spPr>
            <a:xfrm>
              <a:off x="5848350" y="3551932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81" name="Text 19"/>
            <p:cNvSpPr/>
            <p:nvPr/>
          </p:nvSpPr>
          <p:spPr>
            <a:xfrm>
              <a:off x="5829300" y="3570982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2</a:t>
              </a:r>
              <a:endParaRPr lang="en-US" sz="1350" dirty="0"/>
            </a:p>
          </p:txBody>
        </p:sp>
      </p:grpSp>
      <p:grpSp>
        <p:nvGrpSpPr>
          <p:cNvPr id="83" name="그룹 82"/>
          <p:cNvGrpSpPr/>
          <p:nvPr/>
        </p:nvGrpSpPr>
        <p:grpSpPr>
          <a:xfrm>
            <a:off x="8071119" y="2541671"/>
            <a:ext cx="381000" cy="361950"/>
            <a:chOff x="5829300" y="6092279"/>
            <a:chExt cx="381000" cy="361950"/>
          </a:xfrm>
        </p:grpSpPr>
        <p:sp>
          <p:nvSpPr>
            <p:cNvPr id="84" name="Shape 20"/>
            <p:cNvSpPr/>
            <p:nvPr/>
          </p:nvSpPr>
          <p:spPr>
            <a:xfrm>
              <a:off x="5848350" y="6092279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85" name="Text 21"/>
            <p:cNvSpPr/>
            <p:nvPr/>
          </p:nvSpPr>
          <p:spPr>
            <a:xfrm>
              <a:off x="5829300" y="6111329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3</a:t>
              </a:r>
              <a:endParaRPr lang="en-US" sz="1350" dirty="0"/>
            </a:p>
          </p:txBody>
        </p:sp>
      </p:grpSp>
      <p:grpSp>
        <p:nvGrpSpPr>
          <p:cNvPr id="87" name="그룹 86"/>
          <p:cNvGrpSpPr/>
          <p:nvPr/>
        </p:nvGrpSpPr>
        <p:grpSpPr>
          <a:xfrm>
            <a:off x="8020573" y="6470734"/>
            <a:ext cx="381000" cy="361950"/>
            <a:chOff x="5829300" y="8463260"/>
            <a:chExt cx="381000" cy="361950"/>
          </a:xfrm>
        </p:grpSpPr>
        <p:sp>
          <p:nvSpPr>
            <p:cNvPr id="88" name="Shape 22"/>
            <p:cNvSpPr/>
            <p:nvPr/>
          </p:nvSpPr>
          <p:spPr>
            <a:xfrm>
              <a:off x="5848350" y="8463260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89" name="Text 23"/>
            <p:cNvSpPr/>
            <p:nvPr/>
          </p:nvSpPr>
          <p:spPr>
            <a:xfrm>
              <a:off x="5829300" y="8482310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4</a:t>
              </a:r>
              <a:endParaRPr lang="en-US" sz="1350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228600" y="1343025"/>
            <a:ext cx="11582400" cy="8486775"/>
          </a:xfrm>
          <a:prstGeom prst="roundRect">
            <a:avLst>
              <a:gd name="adj" fmla="val 224"/>
            </a:avLst>
          </a:prstGeom>
          <a:solidFill>
            <a:srgbClr val="FFFFFF"/>
          </a:solidFill>
          <a:ln w="9525">
            <a:solidFill>
              <a:srgbClr val="B8BDC7"/>
            </a:solidFill>
            <a:prstDash val="solid"/>
          </a:ln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72" name="그림 71"/>
          <p:cNvPicPr>
            <a:picLocks noChangeAspect="1"/>
          </p:cNvPicPr>
          <p:nvPr/>
        </p:nvPicPr>
        <p:blipFill rotWithShape="1">
          <a:blip r:embed="rId3"/>
          <a:srcRect t="6235" b="26008"/>
          <a:stretch/>
        </p:blipFill>
        <p:spPr>
          <a:xfrm>
            <a:off x="388144" y="1445544"/>
            <a:ext cx="10991850" cy="835793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876300"/>
            <a:ext cx="18288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00200" cy="91440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" name="Text 2"/>
          <p:cNvSpPr/>
          <p:nvPr/>
        </p:nvSpPr>
        <p:spPr>
          <a:xfrm>
            <a:off x="560636" y="147638"/>
            <a:ext cx="5549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216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5335" y="309563"/>
            <a:ext cx="6057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kern="0" spc="-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828800" y="152400"/>
            <a:ext cx="1248463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27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FAQ·도움말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28800" y="561975"/>
            <a:ext cx="124846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Help Center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178409" y="0"/>
            <a:ext cx="9525" cy="914400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" name="Shape 7"/>
          <p:cNvSpPr/>
          <p:nvPr/>
        </p:nvSpPr>
        <p:spPr>
          <a:xfrm>
            <a:off x="14454634" y="304800"/>
            <a:ext cx="882253" cy="304800"/>
          </a:xfrm>
          <a:prstGeom prst="roundRect">
            <a:avLst>
              <a:gd name="adj" fmla="val 12500"/>
            </a:avLst>
          </a:prstGeom>
          <a:solidFill>
            <a:srgbClr val="455A64"/>
          </a:solidFill>
          <a:ln w="9525">
            <a:solidFill>
              <a:srgbClr val="455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578459" y="314325"/>
            <a:ext cx="7108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영역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432137" y="304800"/>
            <a:ext cx="831503" cy="304800"/>
          </a:xfrm>
          <a:prstGeom prst="roundRect">
            <a:avLst>
              <a:gd name="adj" fmla="val 12500"/>
            </a:avLst>
          </a:prstGeom>
          <a:solidFill>
            <a:srgbClr val="0288D1"/>
          </a:solidFill>
          <a:ln w="9525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55962" y="314325"/>
            <a:ext cx="6600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6358890" y="314325"/>
            <a:ext cx="166241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473190" y="314325"/>
            <a:ext cx="1510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2026.05.14 · v1.0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8600" y="1066800"/>
            <a:ext cx="2028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와이어 / Hi-Fi Mockup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318849" y="1066800"/>
            <a:ext cx="145405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garim.kr/help</a:t>
            </a:r>
            <a:endParaRPr lang="en-US" sz="1350" dirty="0"/>
          </a:p>
        </p:txBody>
      </p:sp>
      <p:grpSp>
        <p:nvGrpSpPr>
          <p:cNvPr id="73" name="그룹 72"/>
          <p:cNvGrpSpPr/>
          <p:nvPr/>
        </p:nvGrpSpPr>
        <p:grpSpPr>
          <a:xfrm>
            <a:off x="3391901" y="1971675"/>
            <a:ext cx="381000" cy="361950"/>
            <a:chOff x="5829300" y="2197150"/>
            <a:chExt cx="381000" cy="361950"/>
          </a:xfrm>
        </p:grpSpPr>
        <p:sp>
          <p:nvSpPr>
            <p:cNvPr id="19" name="Shape 16"/>
            <p:cNvSpPr/>
            <p:nvPr/>
          </p:nvSpPr>
          <p:spPr>
            <a:xfrm>
              <a:off x="5848350" y="2197150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0" name="Text 17"/>
            <p:cNvSpPr/>
            <p:nvPr/>
          </p:nvSpPr>
          <p:spPr>
            <a:xfrm>
              <a:off x="5829300" y="2216200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</a:t>
              </a:r>
              <a:endParaRPr lang="en-US" sz="1350" dirty="0"/>
            </a:p>
          </p:txBody>
        </p:sp>
      </p:grpSp>
      <p:grpSp>
        <p:nvGrpSpPr>
          <p:cNvPr id="74" name="그룹 73"/>
          <p:cNvGrpSpPr/>
          <p:nvPr/>
        </p:nvGrpSpPr>
        <p:grpSpPr>
          <a:xfrm>
            <a:off x="1868062" y="3745330"/>
            <a:ext cx="381000" cy="361950"/>
            <a:chOff x="1897707" y="5414963"/>
            <a:chExt cx="381000" cy="361950"/>
          </a:xfrm>
        </p:grpSpPr>
        <p:sp>
          <p:nvSpPr>
            <p:cNvPr id="21" name="Shape 18"/>
            <p:cNvSpPr/>
            <p:nvPr/>
          </p:nvSpPr>
          <p:spPr>
            <a:xfrm>
              <a:off x="1916757" y="5414963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2" name="Text 19"/>
            <p:cNvSpPr/>
            <p:nvPr/>
          </p:nvSpPr>
          <p:spPr>
            <a:xfrm>
              <a:off x="1897707" y="5434013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2</a:t>
              </a:r>
              <a:endParaRPr lang="en-US" sz="1350" dirty="0"/>
            </a:p>
          </p:txBody>
        </p:sp>
      </p:grpSp>
      <p:grpSp>
        <p:nvGrpSpPr>
          <p:cNvPr id="75" name="그룹 74"/>
          <p:cNvGrpSpPr/>
          <p:nvPr/>
        </p:nvGrpSpPr>
        <p:grpSpPr>
          <a:xfrm>
            <a:off x="3171323" y="7077075"/>
            <a:ext cx="381000" cy="361950"/>
            <a:chOff x="6985546" y="5414963"/>
            <a:chExt cx="381000" cy="361950"/>
          </a:xfrm>
        </p:grpSpPr>
        <p:sp>
          <p:nvSpPr>
            <p:cNvPr id="23" name="Shape 20"/>
            <p:cNvSpPr/>
            <p:nvPr/>
          </p:nvSpPr>
          <p:spPr>
            <a:xfrm>
              <a:off x="7004596" y="5414963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4" name="Text 21"/>
            <p:cNvSpPr/>
            <p:nvPr/>
          </p:nvSpPr>
          <p:spPr>
            <a:xfrm>
              <a:off x="6985546" y="5434013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3</a:t>
              </a:r>
              <a:endParaRPr lang="en-US" sz="1350" dirty="0"/>
            </a:p>
          </p:txBody>
        </p:sp>
      </p:grpSp>
      <p:grpSp>
        <p:nvGrpSpPr>
          <p:cNvPr id="76" name="그룹 75"/>
          <p:cNvGrpSpPr/>
          <p:nvPr/>
        </p:nvGrpSpPr>
        <p:grpSpPr>
          <a:xfrm>
            <a:off x="4767623" y="9486900"/>
            <a:ext cx="381000" cy="361950"/>
            <a:chOff x="9066907" y="8463260"/>
            <a:chExt cx="381000" cy="361950"/>
          </a:xfrm>
        </p:grpSpPr>
        <p:sp>
          <p:nvSpPr>
            <p:cNvPr id="25" name="Shape 22"/>
            <p:cNvSpPr/>
            <p:nvPr/>
          </p:nvSpPr>
          <p:spPr>
            <a:xfrm>
              <a:off x="9085957" y="8463260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6" name="Text 23"/>
            <p:cNvSpPr/>
            <p:nvPr/>
          </p:nvSpPr>
          <p:spPr>
            <a:xfrm>
              <a:off x="9066907" y="8482310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4</a:t>
              </a:r>
              <a:endParaRPr lang="en-US" sz="1350" dirty="0"/>
            </a:p>
          </p:txBody>
        </p:sp>
      </p:grpSp>
      <p:sp>
        <p:nvSpPr>
          <p:cNvPr id="27" name="Shape 24"/>
          <p:cNvSpPr/>
          <p:nvPr/>
        </p:nvSpPr>
        <p:spPr>
          <a:xfrm>
            <a:off x="12001500" y="13144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28" name="Text 25"/>
          <p:cNvSpPr/>
          <p:nvPr/>
        </p:nvSpPr>
        <p:spPr>
          <a:xfrm>
            <a:off x="12001500" y="1028700"/>
            <a:ext cx="12997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· 컴포넌트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3320266" y="1104900"/>
            <a:ext cx="15653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Purpose · Components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2001500" y="1428750"/>
            <a:ext cx="623963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 전·사용 중 의문 해소로 CS 부담 절감 + 이탈 방지</a:t>
            </a:r>
            <a:endParaRPr lang="en-US" sz="1650" dirty="0"/>
          </a:p>
        </p:txBody>
      </p:sp>
      <p:sp>
        <p:nvSpPr>
          <p:cNvPr id="31" name="Shape 28"/>
          <p:cNvSpPr/>
          <p:nvPr/>
        </p:nvSpPr>
        <p:spPr>
          <a:xfrm>
            <a:off x="12001500" y="214312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2" name="Shape 29"/>
          <p:cNvSpPr/>
          <p:nvPr/>
        </p:nvSpPr>
        <p:spPr>
          <a:xfrm>
            <a:off x="12001500" y="18859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3" name="Text 30"/>
          <p:cNvSpPr/>
          <p:nvPr/>
        </p:nvSpPr>
        <p:spPr>
          <a:xfrm>
            <a:off x="11963400" y="18859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2287250" y="18669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바 (자동완성)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입력 시 매칭 질문 inline drop. 빈 결과 안내 + 문의 CTA</a:t>
            </a:r>
            <a:endParaRPr lang="en-US" sz="1425" dirty="0"/>
          </a:p>
        </p:txBody>
      </p:sp>
      <p:sp>
        <p:nvSpPr>
          <p:cNvPr id="35" name="Shape 32"/>
          <p:cNvSpPr/>
          <p:nvPr/>
        </p:nvSpPr>
        <p:spPr>
          <a:xfrm>
            <a:off x="12001500" y="272415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6" name="Shape 33"/>
          <p:cNvSpPr/>
          <p:nvPr/>
        </p:nvSpPr>
        <p:spPr>
          <a:xfrm>
            <a:off x="12001500" y="221932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7" name="Text 34"/>
          <p:cNvSpPr/>
          <p:nvPr/>
        </p:nvSpPr>
        <p:spPr>
          <a:xfrm>
            <a:off x="11963400" y="221932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2287250" y="2200275"/>
            <a:ext cx="594531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사이드바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시작하기 / 검출 / 치환 (STE 한계 포함) / 결제 / 데이터·보안 / SNS / 사양</a:t>
            </a:r>
            <a:endParaRPr lang="en-US" sz="1425" dirty="0"/>
          </a:p>
        </p:txBody>
      </p:sp>
      <p:sp>
        <p:nvSpPr>
          <p:cNvPr id="39" name="Shape 36"/>
          <p:cNvSpPr/>
          <p:nvPr/>
        </p:nvSpPr>
        <p:spPr>
          <a:xfrm>
            <a:off x="12001500" y="305752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0" name="Shape 37"/>
          <p:cNvSpPr/>
          <p:nvPr/>
        </p:nvSpPr>
        <p:spPr>
          <a:xfrm>
            <a:off x="12001500" y="28003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1" name="Text 38"/>
          <p:cNvSpPr/>
          <p:nvPr/>
        </p:nvSpPr>
        <p:spPr>
          <a:xfrm>
            <a:off x="11963400" y="28003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2287250" y="27813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FAQ 아코디언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인기 Top 5 강조. 각 답변 하단 "도움됨/도움 안됨" 피드백</a:t>
            </a:r>
            <a:endParaRPr lang="en-US" sz="1425" dirty="0"/>
          </a:p>
        </p:txBody>
      </p:sp>
      <p:sp>
        <p:nvSpPr>
          <p:cNvPr id="43" name="Shape 40"/>
          <p:cNvSpPr/>
          <p:nvPr/>
        </p:nvSpPr>
        <p:spPr>
          <a:xfrm>
            <a:off x="12001500" y="313372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4" name="Text 41"/>
          <p:cNvSpPr/>
          <p:nvPr/>
        </p:nvSpPr>
        <p:spPr>
          <a:xfrm>
            <a:off x="11963400" y="313372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2287250" y="311467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"문의하기" CTA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sticky. 검색 결과 없을 때도 자동 노출</a:t>
            </a:r>
            <a:endParaRPr lang="en-US" sz="1425" dirty="0"/>
          </a:p>
        </p:txBody>
      </p:sp>
      <p:sp>
        <p:nvSpPr>
          <p:cNvPr id="46" name="Shape 43"/>
          <p:cNvSpPr/>
          <p:nvPr/>
        </p:nvSpPr>
        <p:spPr>
          <a:xfrm>
            <a:off x="12001500" y="377190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7" name="Text 44"/>
          <p:cNvSpPr/>
          <p:nvPr/>
        </p:nvSpPr>
        <p:spPr>
          <a:xfrm>
            <a:off x="12001500" y="3486150"/>
            <a:ext cx="9603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/ 이탈</a:t>
            </a:r>
            <a:endParaRPr lang="en-US" sz="1650" dirty="0"/>
          </a:p>
        </p:txBody>
      </p:sp>
      <p:sp>
        <p:nvSpPr>
          <p:cNvPr id="48" name="Text 45"/>
          <p:cNvSpPr/>
          <p:nvPr/>
        </p:nvSpPr>
        <p:spPr>
          <a:xfrm>
            <a:off x="12980938" y="3562350"/>
            <a:ext cx="7868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Entry · Exit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12006263" y="3890962"/>
            <a:ext cx="1047750" cy="8572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2091988" y="3938587"/>
            <a:ext cx="9525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</a:t>
            </a:r>
            <a:endParaRPr lang="en-US" sz="1425" dirty="0"/>
          </a:p>
        </p:txBody>
      </p:sp>
      <p:sp>
        <p:nvSpPr>
          <p:cNvPr id="51" name="Shape 48"/>
          <p:cNvSpPr/>
          <p:nvPr/>
        </p:nvSpPr>
        <p:spPr>
          <a:xfrm>
            <a:off x="13054013" y="3890962"/>
            <a:ext cx="5000625" cy="8572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3179743" y="3933825"/>
            <a:ext cx="487013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헤더 "도움말"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화면 ? 아이콘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검색엔진 SEO 질문 페이지</a:t>
            </a:r>
            <a:endParaRPr lang="en-US" sz="1425" dirty="0"/>
          </a:p>
        </p:txBody>
      </p:sp>
      <p:sp>
        <p:nvSpPr>
          <p:cNvPr id="53" name="Shape 50"/>
          <p:cNvSpPr/>
          <p:nvPr/>
        </p:nvSpPr>
        <p:spPr>
          <a:xfrm>
            <a:off x="12006263" y="4748213"/>
            <a:ext cx="1047750" cy="8572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2091988" y="4795837"/>
            <a:ext cx="9525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/ 다음</a:t>
            </a:r>
            <a:endParaRPr lang="en-US" sz="1425" dirty="0"/>
          </a:p>
        </p:txBody>
      </p:sp>
      <p:sp>
        <p:nvSpPr>
          <p:cNvPr id="55" name="Shape 52"/>
          <p:cNvSpPr/>
          <p:nvPr/>
        </p:nvSpPr>
        <p:spPr>
          <a:xfrm>
            <a:off x="13054013" y="4748213"/>
            <a:ext cx="5000625" cy="8572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3179743" y="4791075"/>
            <a:ext cx="487013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카테고리별 답변 페이지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"문의하기" → 메일·채널톡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"가입" → 05</a:t>
            </a:r>
            <a:endParaRPr lang="en-US" sz="1425" dirty="0"/>
          </a:p>
        </p:txBody>
      </p:sp>
      <p:sp>
        <p:nvSpPr>
          <p:cNvPr id="57" name="Shape 54"/>
          <p:cNvSpPr/>
          <p:nvPr/>
        </p:nvSpPr>
        <p:spPr>
          <a:xfrm>
            <a:off x="12001500" y="5991225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8" name="Text 55"/>
          <p:cNvSpPr/>
          <p:nvPr/>
        </p:nvSpPr>
        <p:spPr>
          <a:xfrm>
            <a:off x="12001500" y="5705475"/>
            <a:ext cx="849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분기·규칙</a:t>
            </a:r>
            <a:endParaRPr lang="en-US" sz="1650" dirty="0"/>
          </a:p>
        </p:txBody>
      </p:sp>
      <p:sp>
        <p:nvSpPr>
          <p:cNvPr id="59" name="Text 56"/>
          <p:cNvSpPr/>
          <p:nvPr/>
        </p:nvSpPr>
        <p:spPr>
          <a:xfrm>
            <a:off x="12869912" y="5781675"/>
            <a:ext cx="4344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Rules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12006263" y="6110288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2091988" y="6157913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매칭 0건</a:t>
            </a:r>
            <a:endParaRPr lang="en-US" sz="1425" dirty="0"/>
          </a:p>
        </p:txBody>
      </p:sp>
      <p:sp>
        <p:nvSpPr>
          <p:cNvPr id="62" name="Shape 59"/>
          <p:cNvSpPr/>
          <p:nvPr/>
        </p:nvSpPr>
        <p:spPr>
          <a:xfrm>
            <a:off x="13054013" y="6110288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3139738" y="6157913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"이런 키워드로 찾아보세요" + 문의 CTA</a:t>
            </a:r>
            <a:endParaRPr lang="en-US" sz="1425" dirty="0"/>
          </a:p>
        </p:txBody>
      </p:sp>
      <p:sp>
        <p:nvSpPr>
          <p:cNvPr id="64" name="Shape 61"/>
          <p:cNvSpPr/>
          <p:nvPr/>
        </p:nvSpPr>
        <p:spPr>
          <a:xfrm>
            <a:off x="12006263" y="6672263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2091988" y="6719888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카테고리</a:t>
            </a:r>
            <a:endParaRPr lang="en-US" sz="1425" dirty="0"/>
          </a:p>
        </p:txBody>
      </p:sp>
      <p:sp>
        <p:nvSpPr>
          <p:cNvPr id="66" name="Shape 63"/>
          <p:cNvSpPr/>
          <p:nvPr/>
        </p:nvSpPr>
        <p:spPr>
          <a:xfrm>
            <a:off x="13054013" y="6672263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3139738" y="6719888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 정식 출시 후 활성 (MVP1 비활성 안내)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0" y="9944100"/>
            <a:ext cx="18288000" cy="3429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69" name="Shape 66"/>
          <p:cNvSpPr/>
          <p:nvPr/>
        </p:nvSpPr>
        <p:spPr>
          <a:xfrm>
            <a:off x="0" y="9944100"/>
            <a:ext cx="18288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70" name="Text 67"/>
          <p:cNvSpPr/>
          <p:nvPr/>
        </p:nvSpPr>
        <p:spPr>
          <a:xfrm>
            <a:off x="304800" y="10034588"/>
            <a:ext cx="38372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54" dirty="0">
                <a:solidFill>
                  <a:srgbClr val="798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· 화면설계서 v1.0 · #garim.kr/help</a:t>
            </a:r>
            <a:endParaRPr lang="en-US" sz="1200" dirty="0"/>
          </a:p>
        </p:txBody>
      </p:sp>
      <p:sp>
        <p:nvSpPr>
          <p:cNvPr id="71" name="Text 68"/>
          <p:cNvSpPr/>
          <p:nvPr/>
        </p:nvSpPr>
        <p:spPr>
          <a:xfrm>
            <a:off x="13663166" y="10020300"/>
            <a:ext cx="444963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P03 · FAQ·도움말 · ref: Linear Help · Intercom Articles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228600" y="1343025"/>
            <a:ext cx="11582400" cy="8486775"/>
          </a:xfrm>
          <a:prstGeom prst="roundRect">
            <a:avLst>
              <a:gd name="adj" fmla="val 224"/>
            </a:avLst>
          </a:prstGeom>
          <a:solidFill>
            <a:srgbClr val="FFFFFF"/>
          </a:solidFill>
          <a:ln w="9525">
            <a:solidFill>
              <a:srgbClr val="B8BDC7"/>
            </a:solidFill>
            <a:prstDash val="solid"/>
          </a:ln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72" name="그림 71"/>
          <p:cNvPicPr>
            <a:picLocks noChangeAspect="1"/>
          </p:cNvPicPr>
          <p:nvPr/>
        </p:nvPicPr>
        <p:blipFill rotWithShape="1">
          <a:blip r:embed="rId3"/>
          <a:srcRect b="44669"/>
          <a:stretch/>
        </p:blipFill>
        <p:spPr>
          <a:xfrm>
            <a:off x="521298" y="1431007"/>
            <a:ext cx="10991850" cy="8258426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876300"/>
            <a:ext cx="18288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00200" cy="91440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" name="Text 2"/>
          <p:cNvSpPr/>
          <p:nvPr/>
        </p:nvSpPr>
        <p:spPr>
          <a:xfrm>
            <a:off x="560636" y="147638"/>
            <a:ext cx="5549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216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5335" y="309563"/>
            <a:ext cx="6057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kern="0" spc="-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828800" y="152400"/>
            <a:ext cx="1248463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27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약관·개인정보처리방침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28800" y="561975"/>
            <a:ext cx="1248463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Legal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178409" y="0"/>
            <a:ext cx="9525" cy="914400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" name="Shape 7"/>
          <p:cNvSpPr/>
          <p:nvPr/>
        </p:nvSpPr>
        <p:spPr>
          <a:xfrm>
            <a:off x="14454634" y="304800"/>
            <a:ext cx="882253" cy="304800"/>
          </a:xfrm>
          <a:prstGeom prst="roundRect">
            <a:avLst>
              <a:gd name="adj" fmla="val 12500"/>
            </a:avLst>
          </a:prstGeom>
          <a:solidFill>
            <a:srgbClr val="455A64"/>
          </a:solidFill>
          <a:ln w="9525">
            <a:solidFill>
              <a:srgbClr val="455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578459" y="314325"/>
            <a:ext cx="71080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공개 영역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432137" y="304800"/>
            <a:ext cx="831503" cy="304800"/>
          </a:xfrm>
          <a:prstGeom prst="roundRect">
            <a:avLst>
              <a:gd name="adj" fmla="val 12500"/>
            </a:avLst>
          </a:prstGeom>
          <a:solidFill>
            <a:srgbClr val="0288D1"/>
          </a:solidFill>
          <a:ln w="9525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55962" y="314325"/>
            <a:ext cx="6600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6358890" y="314325"/>
            <a:ext cx="166241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473190" y="314325"/>
            <a:ext cx="1510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2026.05.14 · v1.0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8600" y="1066800"/>
            <a:ext cx="2028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와이어 / Hi-Fi Mockup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576941" y="1066800"/>
            <a:ext cx="219595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garim.kr/legal/[tab]</a:t>
            </a:r>
            <a:endParaRPr lang="en-US" sz="1350" dirty="0"/>
          </a:p>
        </p:txBody>
      </p:sp>
      <p:grpSp>
        <p:nvGrpSpPr>
          <p:cNvPr id="73" name="그룹 72"/>
          <p:cNvGrpSpPr/>
          <p:nvPr/>
        </p:nvGrpSpPr>
        <p:grpSpPr>
          <a:xfrm>
            <a:off x="2957763" y="2634916"/>
            <a:ext cx="381000" cy="361950"/>
            <a:chOff x="5829300" y="1858417"/>
            <a:chExt cx="381000" cy="361950"/>
          </a:xfrm>
        </p:grpSpPr>
        <p:sp>
          <p:nvSpPr>
            <p:cNvPr id="19" name="Shape 16"/>
            <p:cNvSpPr/>
            <p:nvPr/>
          </p:nvSpPr>
          <p:spPr>
            <a:xfrm>
              <a:off x="5848350" y="1858417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0" name="Text 17"/>
            <p:cNvSpPr/>
            <p:nvPr/>
          </p:nvSpPr>
          <p:spPr>
            <a:xfrm>
              <a:off x="5829300" y="1877467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</a:t>
              </a:r>
              <a:endParaRPr lang="en-US" sz="1350" dirty="0"/>
            </a:p>
          </p:txBody>
        </p:sp>
      </p:grpSp>
      <p:grpSp>
        <p:nvGrpSpPr>
          <p:cNvPr id="74" name="그룹 73"/>
          <p:cNvGrpSpPr/>
          <p:nvPr/>
        </p:nvGrpSpPr>
        <p:grpSpPr>
          <a:xfrm>
            <a:off x="1726257" y="3378868"/>
            <a:ext cx="381000" cy="361950"/>
            <a:chOff x="1897707" y="5414963"/>
            <a:chExt cx="381000" cy="361950"/>
          </a:xfrm>
        </p:grpSpPr>
        <p:sp>
          <p:nvSpPr>
            <p:cNvPr id="21" name="Shape 18"/>
            <p:cNvSpPr/>
            <p:nvPr/>
          </p:nvSpPr>
          <p:spPr>
            <a:xfrm>
              <a:off x="1916757" y="5414963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2" name="Text 19"/>
            <p:cNvSpPr/>
            <p:nvPr/>
          </p:nvSpPr>
          <p:spPr>
            <a:xfrm>
              <a:off x="1897707" y="5434013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2</a:t>
              </a:r>
              <a:endParaRPr lang="en-US" sz="1350" dirty="0"/>
            </a:p>
          </p:txBody>
        </p:sp>
      </p:grpSp>
      <p:grpSp>
        <p:nvGrpSpPr>
          <p:cNvPr id="75" name="그룹 74"/>
          <p:cNvGrpSpPr/>
          <p:nvPr/>
        </p:nvGrpSpPr>
        <p:grpSpPr>
          <a:xfrm>
            <a:off x="5493630" y="4468980"/>
            <a:ext cx="381000" cy="361950"/>
            <a:chOff x="6985546" y="5414963"/>
            <a:chExt cx="381000" cy="361950"/>
          </a:xfrm>
        </p:grpSpPr>
        <p:sp>
          <p:nvSpPr>
            <p:cNvPr id="23" name="Shape 20"/>
            <p:cNvSpPr/>
            <p:nvPr/>
          </p:nvSpPr>
          <p:spPr>
            <a:xfrm>
              <a:off x="7004596" y="5414963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4" name="Text 21"/>
            <p:cNvSpPr/>
            <p:nvPr/>
          </p:nvSpPr>
          <p:spPr>
            <a:xfrm>
              <a:off x="6985546" y="5434013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3</a:t>
              </a:r>
              <a:endParaRPr lang="en-US" sz="1350" dirty="0"/>
            </a:p>
          </p:txBody>
        </p:sp>
      </p:grpSp>
      <p:grpSp>
        <p:nvGrpSpPr>
          <p:cNvPr id="76" name="그룹 75"/>
          <p:cNvGrpSpPr/>
          <p:nvPr/>
        </p:nvGrpSpPr>
        <p:grpSpPr>
          <a:xfrm>
            <a:off x="9386441" y="3540793"/>
            <a:ext cx="381000" cy="361950"/>
            <a:chOff x="9992023" y="2366516"/>
            <a:chExt cx="381000" cy="361950"/>
          </a:xfrm>
        </p:grpSpPr>
        <p:sp>
          <p:nvSpPr>
            <p:cNvPr id="25" name="Shape 22"/>
            <p:cNvSpPr/>
            <p:nvPr/>
          </p:nvSpPr>
          <p:spPr>
            <a:xfrm>
              <a:off x="10011073" y="2366516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6" name="Text 23"/>
            <p:cNvSpPr/>
            <p:nvPr/>
          </p:nvSpPr>
          <p:spPr>
            <a:xfrm>
              <a:off x="9992023" y="2385566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4</a:t>
              </a:r>
              <a:endParaRPr lang="en-US" sz="1350" dirty="0"/>
            </a:p>
          </p:txBody>
        </p:sp>
      </p:grpSp>
      <p:sp>
        <p:nvSpPr>
          <p:cNvPr id="27" name="Shape 24"/>
          <p:cNvSpPr/>
          <p:nvPr/>
        </p:nvSpPr>
        <p:spPr>
          <a:xfrm>
            <a:off x="12001500" y="13144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28" name="Text 25"/>
          <p:cNvSpPr/>
          <p:nvPr/>
        </p:nvSpPr>
        <p:spPr>
          <a:xfrm>
            <a:off x="12001500" y="1028700"/>
            <a:ext cx="12997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· 컴포넌트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3320266" y="1104900"/>
            <a:ext cx="15653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Purpose · Components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2001500" y="1428750"/>
            <a:ext cx="623963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법적 고지 + 사용자 권리 안내. 가입 시 동의 약관 본문 보관처</a:t>
            </a:r>
            <a:endParaRPr lang="en-US" sz="1650" dirty="0"/>
          </a:p>
        </p:txBody>
      </p:sp>
      <p:sp>
        <p:nvSpPr>
          <p:cNvPr id="31" name="Shape 28"/>
          <p:cNvSpPr/>
          <p:nvPr/>
        </p:nvSpPr>
        <p:spPr>
          <a:xfrm>
            <a:off x="12001500" y="239077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2" name="Shape 29"/>
          <p:cNvSpPr/>
          <p:nvPr/>
        </p:nvSpPr>
        <p:spPr>
          <a:xfrm>
            <a:off x="12001500" y="18859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3" name="Text 30"/>
          <p:cNvSpPr/>
          <p:nvPr/>
        </p:nvSpPr>
        <p:spPr>
          <a:xfrm>
            <a:off x="11963400" y="18859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2287250" y="1866900"/>
            <a:ext cx="594531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상단 탭 5종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이용약관 · 개인정보처리방침 · 마케팅 (선택) · 위치 · AI 학습 (별도)</a:t>
            </a:r>
            <a:endParaRPr lang="en-US" sz="1425" dirty="0"/>
          </a:p>
        </p:txBody>
      </p:sp>
      <p:sp>
        <p:nvSpPr>
          <p:cNvPr id="35" name="Shape 32"/>
          <p:cNvSpPr/>
          <p:nvPr/>
        </p:nvSpPr>
        <p:spPr>
          <a:xfrm>
            <a:off x="12001500" y="272415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6" name="Shape 33"/>
          <p:cNvSpPr/>
          <p:nvPr/>
        </p:nvSpPr>
        <p:spPr>
          <a:xfrm>
            <a:off x="12001500" y="24669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7" name="Text 34"/>
          <p:cNvSpPr/>
          <p:nvPr/>
        </p:nvSpPr>
        <p:spPr>
          <a:xfrm>
            <a:off x="11963400" y="24669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2287250" y="244792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좌측 목차 anchor (sticky)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현재 위치 강조 + 클릭 시 본문 스크롤</a:t>
            </a:r>
            <a:endParaRPr lang="en-US" sz="1425" dirty="0"/>
          </a:p>
        </p:txBody>
      </p:sp>
      <p:sp>
        <p:nvSpPr>
          <p:cNvPr id="39" name="Shape 36"/>
          <p:cNvSpPr/>
          <p:nvPr/>
        </p:nvSpPr>
        <p:spPr>
          <a:xfrm>
            <a:off x="12001500" y="305752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0" name="Shape 37"/>
          <p:cNvSpPr/>
          <p:nvPr/>
        </p:nvSpPr>
        <p:spPr>
          <a:xfrm>
            <a:off x="12001500" y="28003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1" name="Text 38"/>
          <p:cNvSpPr/>
          <p:nvPr/>
        </p:nvSpPr>
        <p:spPr>
          <a:xfrm>
            <a:off x="11963400" y="28003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2287250" y="27813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영역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버전·시행일 표기. 변경 시 diff 보기 옵션</a:t>
            </a:r>
            <a:endParaRPr lang="en-US" sz="1425" dirty="0"/>
          </a:p>
        </p:txBody>
      </p:sp>
      <p:sp>
        <p:nvSpPr>
          <p:cNvPr id="43" name="Shape 40"/>
          <p:cNvSpPr/>
          <p:nvPr/>
        </p:nvSpPr>
        <p:spPr>
          <a:xfrm>
            <a:off x="12001500" y="313372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4" name="Text 41"/>
          <p:cNvSpPr/>
          <p:nvPr/>
        </p:nvSpPr>
        <p:spPr>
          <a:xfrm>
            <a:off x="11963400" y="313372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2287250" y="311467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인쇄·PDF 다운로드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회원·비회원 모두 접근. PDF는 시행일 기준 캡처</a:t>
            </a:r>
            <a:endParaRPr lang="en-US" sz="1425" dirty="0"/>
          </a:p>
        </p:txBody>
      </p:sp>
      <p:sp>
        <p:nvSpPr>
          <p:cNvPr id="46" name="Shape 43"/>
          <p:cNvSpPr/>
          <p:nvPr/>
        </p:nvSpPr>
        <p:spPr>
          <a:xfrm>
            <a:off x="12001500" y="377190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7" name="Text 44"/>
          <p:cNvSpPr/>
          <p:nvPr/>
        </p:nvSpPr>
        <p:spPr>
          <a:xfrm>
            <a:off x="12001500" y="3486150"/>
            <a:ext cx="9603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/ 이탈</a:t>
            </a:r>
            <a:endParaRPr lang="en-US" sz="1650" dirty="0"/>
          </a:p>
        </p:txBody>
      </p:sp>
      <p:sp>
        <p:nvSpPr>
          <p:cNvPr id="48" name="Text 45"/>
          <p:cNvSpPr/>
          <p:nvPr/>
        </p:nvSpPr>
        <p:spPr>
          <a:xfrm>
            <a:off x="12980938" y="3562350"/>
            <a:ext cx="7868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Entry · Exit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12006263" y="3890962"/>
            <a:ext cx="1047750" cy="8572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2091988" y="3938587"/>
            <a:ext cx="9525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</a:t>
            </a:r>
            <a:endParaRPr lang="en-US" sz="1425" dirty="0"/>
          </a:p>
        </p:txBody>
      </p:sp>
      <p:sp>
        <p:nvSpPr>
          <p:cNvPr id="51" name="Shape 48"/>
          <p:cNvSpPr/>
          <p:nvPr/>
        </p:nvSpPr>
        <p:spPr>
          <a:xfrm>
            <a:off x="13054013" y="3890962"/>
            <a:ext cx="5000625" cy="8572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3179743" y="3933825"/>
            <a:ext cx="487013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 시 "동의" 링크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푸터 약관 링크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메일 푸터 링크</a:t>
            </a:r>
            <a:endParaRPr lang="en-US" sz="1425" dirty="0"/>
          </a:p>
        </p:txBody>
      </p:sp>
      <p:sp>
        <p:nvSpPr>
          <p:cNvPr id="53" name="Shape 50"/>
          <p:cNvSpPr/>
          <p:nvPr/>
        </p:nvSpPr>
        <p:spPr>
          <a:xfrm>
            <a:off x="12006263" y="4748213"/>
            <a:ext cx="1047750" cy="8572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2091988" y="4795837"/>
            <a:ext cx="9525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/ 다음</a:t>
            </a:r>
            <a:endParaRPr lang="en-US" sz="1425" dirty="0"/>
          </a:p>
        </p:txBody>
      </p:sp>
      <p:sp>
        <p:nvSpPr>
          <p:cNvPr id="55" name="Shape 52"/>
          <p:cNvSpPr/>
          <p:nvPr/>
        </p:nvSpPr>
        <p:spPr>
          <a:xfrm>
            <a:off x="13054013" y="4748213"/>
            <a:ext cx="5000625" cy="8572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3179743" y="4791075"/>
            <a:ext cx="487013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"동의하고 진행" → 가입 흐름 복귀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"인쇄/PDF"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뒤로가기</a:t>
            </a:r>
            <a:endParaRPr lang="en-US" sz="1425" dirty="0"/>
          </a:p>
        </p:txBody>
      </p:sp>
      <p:sp>
        <p:nvSpPr>
          <p:cNvPr id="57" name="Shape 54"/>
          <p:cNvSpPr/>
          <p:nvPr/>
        </p:nvSpPr>
        <p:spPr>
          <a:xfrm>
            <a:off x="12001500" y="5991225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8" name="Text 55"/>
          <p:cNvSpPr/>
          <p:nvPr/>
        </p:nvSpPr>
        <p:spPr>
          <a:xfrm>
            <a:off x="12001500" y="5705475"/>
            <a:ext cx="849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분기·규칙</a:t>
            </a:r>
            <a:endParaRPr lang="en-US" sz="1650" dirty="0"/>
          </a:p>
        </p:txBody>
      </p:sp>
      <p:sp>
        <p:nvSpPr>
          <p:cNvPr id="59" name="Text 56"/>
          <p:cNvSpPr/>
          <p:nvPr/>
        </p:nvSpPr>
        <p:spPr>
          <a:xfrm>
            <a:off x="12869912" y="5781675"/>
            <a:ext cx="4344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Rules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12006263" y="6110288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2091988" y="6157913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약관 개정</a:t>
            </a:r>
            <a:endParaRPr lang="en-US" sz="1425" dirty="0"/>
          </a:p>
        </p:txBody>
      </p:sp>
      <p:sp>
        <p:nvSpPr>
          <p:cNvPr id="62" name="Shape 59"/>
          <p:cNvSpPr/>
          <p:nvPr/>
        </p:nvSpPr>
        <p:spPr>
          <a:xfrm>
            <a:off x="13054013" y="6110288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3139738" y="6157913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 사전 고지 + 재동의 모달</a:t>
            </a:r>
            <a:endParaRPr lang="en-US" sz="1425" dirty="0"/>
          </a:p>
        </p:txBody>
      </p:sp>
      <p:sp>
        <p:nvSpPr>
          <p:cNvPr id="64" name="Shape 61"/>
          <p:cNvSpPr/>
          <p:nvPr/>
        </p:nvSpPr>
        <p:spPr>
          <a:xfrm>
            <a:off x="12006263" y="6434138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2091988" y="6481762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학습 동의</a:t>
            </a:r>
            <a:endParaRPr lang="en-US" sz="1425" dirty="0"/>
          </a:p>
        </p:txBody>
      </p:sp>
      <p:sp>
        <p:nvSpPr>
          <p:cNvPr id="66" name="Shape 63"/>
          <p:cNvSpPr/>
          <p:nvPr/>
        </p:nvSpPr>
        <p:spPr>
          <a:xfrm>
            <a:off x="13054013" y="6434138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3139738" y="6481762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별도 탭 + 페이지 23에서 토글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0" y="9944100"/>
            <a:ext cx="18288000" cy="3429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69" name="Shape 66"/>
          <p:cNvSpPr/>
          <p:nvPr/>
        </p:nvSpPr>
        <p:spPr>
          <a:xfrm>
            <a:off x="0" y="9944100"/>
            <a:ext cx="18288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70" name="Text 67"/>
          <p:cNvSpPr/>
          <p:nvPr/>
        </p:nvSpPr>
        <p:spPr>
          <a:xfrm>
            <a:off x="304800" y="10034588"/>
            <a:ext cx="456598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54" dirty="0">
                <a:solidFill>
                  <a:srgbClr val="798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· 화면설계서 v1.0 · #garim.kr/legal/[tab]</a:t>
            </a:r>
            <a:endParaRPr lang="en-US" sz="1200" dirty="0"/>
          </a:p>
        </p:txBody>
      </p:sp>
      <p:sp>
        <p:nvSpPr>
          <p:cNvPr id="71" name="Text 68"/>
          <p:cNvSpPr/>
          <p:nvPr/>
        </p:nvSpPr>
        <p:spPr>
          <a:xfrm>
            <a:off x="13561219" y="10020300"/>
            <a:ext cx="455464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P04 · 약관·개인정보처리방침 · ref: 카카오·네이버 약관 페이지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228600" y="1343025"/>
            <a:ext cx="11582400" cy="8486775"/>
          </a:xfrm>
          <a:prstGeom prst="roundRect">
            <a:avLst>
              <a:gd name="adj" fmla="val 224"/>
            </a:avLst>
          </a:prstGeom>
          <a:solidFill>
            <a:srgbClr val="FFFFFF"/>
          </a:solidFill>
          <a:ln w="9525">
            <a:solidFill>
              <a:srgbClr val="B8BDC7"/>
            </a:solidFill>
            <a:prstDash val="solid"/>
          </a:ln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97" name="그림 96"/>
          <p:cNvPicPr>
            <a:picLocks noChangeAspect="1"/>
          </p:cNvPicPr>
          <p:nvPr/>
        </p:nvPicPr>
        <p:blipFill rotWithShape="1">
          <a:blip r:embed="rId3"/>
          <a:srcRect t="7416" b="10602"/>
          <a:stretch/>
        </p:blipFill>
        <p:spPr>
          <a:xfrm>
            <a:off x="312688" y="1476375"/>
            <a:ext cx="10991850" cy="8293017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876300"/>
            <a:ext cx="18288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00200" cy="91440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" name="Text 2"/>
          <p:cNvSpPr/>
          <p:nvPr/>
        </p:nvSpPr>
        <p:spPr>
          <a:xfrm>
            <a:off x="560636" y="147638"/>
            <a:ext cx="5549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216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5335" y="309563"/>
            <a:ext cx="6057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kern="0" spc="-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828800" y="152400"/>
            <a:ext cx="1283292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27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회원가입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28800" y="561975"/>
            <a:ext cx="128329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Sign up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516546" y="0"/>
            <a:ext cx="9525" cy="914400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" name="Shape 7"/>
          <p:cNvSpPr/>
          <p:nvPr/>
        </p:nvSpPr>
        <p:spPr>
          <a:xfrm>
            <a:off x="14792771" y="304800"/>
            <a:ext cx="544116" cy="304800"/>
          </a:xfrm>
          <a:prstGeom prst="roundRect">
            <a:avLst>
              <a:gd name="adj" fmla="val 12500"/>
            </a:avLst>
          </a:prstGeom>
          <a:solidFill>
            <a:srgbClr val="455A64"/>
          </a:solidFill>
          <a:ln w="9525">
            <a:solidFill>
              <a:srgbClr val="455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16596" y="314325"/>
            <a:ext cx="37266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계정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432137" y="304800"/>
            <a:ext cx="831503" cy="304800"/>
          </a:xfrm>
          <a:prstGeom prst="roundRect">
            <a:avLst>
              <a:gd name="adj" fmla="val 12500"/>
            </a:avLst>
          </a:prstGeom>
          <a:solidFill>
            <a:srgbClr val="0288D1"/>
          </a:solidFill>
          <a:ln w="9525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55962" y="314325"/>
            <a:ext cx="6600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6358890" y="314325"/>
            <a:ext cx="166241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473190" y="314325"/>
            <a:ext cx="1510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2026.05.14 · v1.0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8600" y="1066800"/>
            <a:ext cx="2028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와이어 / Hi-Fi Mockup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106918" y="1066800"/>
            <a:ext cx="166598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garim.kr/signup</a:t>
            </a:r>
            <a:endParaRPr lang="en-US" sz="1350" dirty="0"/>
          </a:p>
        </p:txBody>
      </p:sp>
      <p:grpSp>
        <p:nvGrpSpPr>
          <p:cNvPr id="93" name="그룹 92"/>
          <p:cNvGrpSpPr/>
          <p:nvPr/>
        </p:nvGrpSpPr>
        <p:grpSpPr>
          <a:xfrm>
            <a:off x="4290043" y="2992692"/>
            <a:ext cx="381000" cy="361950"/>
            <a:chOff x="5829300" y="2705249"/>
            <a:chExt cx="381000" cy="361950"/>
          </a:xfrm>
        </p:grpSpPr>
        <p:sp>
          <p:nvSpPr>
            <p:cNvPr id="19" name="Shape 16"/>
            <p:cNvSpPr/>
            <p:nvPr/>
          </p:nvSpPr>
          <p:spPr>
            <a:xfrm>
              <a:off x="5848350" y="2705249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0" name="Text 17"/>
            <p:cNvSpPr/>
            <p:nvPr/>
          </p:nvSpPr>
          <p:spPr>
            <a:xfrm>
              <a:off x="5829300" y="2724299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</a:t>
              </a:r>
              <a:endParaRPr lang="en-US" sz="1350" dirty="0"/>
            </a:p>
          </p:txBody>
        </p:sp>
      </p:grpSp>
      <p:grpSp>
        <p:nvGrpSpPr>
          <p:cNvPr id="94" name="그룹 93"/>
          <p:cNvGrpSpPr/>
          <p:nvPr/>
        </p:nvGrpSpPr>
        <p:grpSpPr>
          <a:xfrm>
            <a:off x="3797751" y="3993357"/>
            <a:ext cx="381000" cy="361950"/>
            <a:chOff x="3988251" y="5180559"/>
            <a:chExt cx="381000" cy="361950"/>
          </a:xfrm>
        </p:grpSpPr>
        <p:sp>
          <p:nvSpPr>
            <p:cNvPr id="21" name="Shape 18"/>
            <p:cNvSpPr/>
            <p:nvPr/>
          </p:nvSpPr>
          <p:spPr>
            <a:xfrm>
              <a:off x="4007301" y="5180559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2" name="Text 19"/>
            <p:cNvSpPr/>
            <p:nvPr/>
          </p:nvSpPr>
          <p:spPr>
            <a:xfrm>
              <a:off x="3988251" y="5199609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2</a:t>
              </a:r>
              <a:endParaRPr lang="en-US" sz="1350" dirty="0"/>
            </a:p>
          </p:txBody>
        </p:sp>
      </p:grpSp>
      <p:grpSp>
        <p:nvGrpSpPr>
          <p:cNvPr id="95" name="그룹 94"/>
          <p:cNvGrpSpPr/>
          <p:nvPr/>
        </p:nvGrpSpPr>
        <p:grpSpPr>
          <a:xfrm>
            <a:off x="3565684" y="6888330"/>
            <a:ext cx="381000" cy="361950"/>
            <a:chOff x="3988251" y="7382174"/>
            <a:chExt cx="381000" cy="361950"/>
          </a:xfrm>
        </p:grpSpPr>
        <p:sp>
          <p:nvSpPr>
            <p:cNvPr id="23" name="Shape 20"/>
            <p:cNvSpPr/>
            <p:nvPr/>
          </p:nvSpPr>
          <p:spPr>
            <a:xfrm>
              <a:off x="4007301" y="7382174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4" name="Text 21"/>
            <p:cNvSpPr/>
            <p:nvPr/>
          </p:nvSpPr>
          <p:spPr>
            <a:xfrm>
              <a:off x="3988251" y="7401224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3</a:t>
              </a:r>
              <a:endParaRPr lang="en-US" sz="1350" dirty="0"/>
            </a:p>
          </p:txBody>
        </p:sp>
      </p:grpSp>
      <p:grpSp>
        <p:nvGrpSpPr>
          <p:cNvPr id="96" name="그룹 95"/>
          <p:cNvGrpSpPr/>
          <p:nvPr/>
        </p:nvGrpSpPr>
        <p:grpSpPr>
          <a:xfrm>
            <a:off x="6799630" y="8877300"/>
            <a:ext cx="381000" cy="361950"/>
            <a:chOff x="3988251" y="9245055"/>
            <a:chExt cx="381000" cy="361950"/>
          </a:xfrm>
        </p:grpSpPr>
        <p:sp>
          <p:nvSpPr>
            <p:cNvPr id="25" name="Shape 22"/>
            <p:cNvSpPr/>
            <p:nvPr/>
          </p:nvSpPr>
          <p:spPr>
            <a:xfrm>
              <a:off x="4007301" y="9245055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6" name="Text 23"/>
            <p:cNvSpPr/>
            <p:nvPr/>
          </p:nvSpPr>
          <p:spPr>
            <a:xfrm>
              <a:off x="3988251" y="9264105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4</a:t>
              </a:r>
              <a:endParaRPr lang="en-US" sz="1350" dirty="0"/>
            </a:p>
          </p:txBody>
        </p:sp>
      </p:grpSp>
      <p:sp>
        <p:nvSpPr>
          <p:cNvPr id="27" name="Shape 24"/>
          <p:cNvSpPr/>
          <p:nvPr/>
        </p:nvSpPr>
        <p:spPr>
          <a:xfrm>
            <a:off x="12001500" y="13144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28" name="Text 25"/>
          <p:cNvSpPr/>
          <p:nvPr/>
        </p:nvSpPr>
        <p:spPr>
          <a:xfrm>
            <a:off x="12001500" y="1028700"/>
            <a:ext cx="12997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· 컴포넌트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3320266" y="1104900"/>
            <a:ext cx="15653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Purpose · Components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2001500" y="1428750"/>
            <a:ext cx="623963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비방문자 → 가입자 전환. B-1 최소 수집 원칙 (실명·전화 미수집)</a:t>
            </a:r>
            <a:endParaRPr lang="en-US" sz="1650" dirty="0"/>
          </a:p>
        </p:txBody>
      </p:sp>
      <p:sp>
        <p:nvSpPr>
          <p:cNvPr id="31" name="Shape 28"/>
          <p:cNvSpPr/>
          <p:nvPr/>
        </p:nvSpPr>
        <p:spPr>
          <a:xfrm>
            <a:off x="12001500" y="214312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2" name="Shape 29"/>
          <p:cNvSpPr/>
          <p:nvPr/>
        </p:nvSpPr>
        <p:spPr>
          <a:xfrm>
            <a:off x="12001500" y="18859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3" name="Text 30"/>
          <p:cNvSpPr/>
          <p:nvPr/>
        </p:nvSpPr>
        <p:spPr>
          <a:xfrm>
            <a:off x="11963400" y="18859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2287250" y="18669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 SSO 버튼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상단 배치. 가장 마찰 적은 진입</a:t>
            </a:r>
            <a:endParaRPr lang="en-US" sz="1425" dirty="0"/>
          </a:p>
        </p:txBody>
      </p:sp>
      <p:sp>
        <p:nvSpPr>
          <p:cNvPr id="35" name="Shape 32"/>
          <p:cNvSpPr/>
          <p:nvPr/>
        </p:nvSpPr>
        <p:spPr>
          <a:xfrm>
            <a:off x="12001500" y="247650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6" name="Shape 33"/>
          <p:cNvSpPr/>
          <p:nvPr/>
        </p:nvSpPr>
        <p:spPr>
          <a:xfrm>
            <a:off x="12001500" y="221932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7" name="Text 34"/>
          <p:cNvSpPr/>
          <p:nvPr/>
        </p:nvSpPr>
        <p:spPr>
          <a:xfrm>
            <a:off x="11963400" y="221932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2287250" y="220027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이메일·비밀번호 폼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비밀번호 강도 미터 + 일치 검증. 자동완성 hint</a:t>
            </a:r>
            <a:endParaRPr lang="en-US" sz="1425" dirty="0"/>
          </a:p>
        </p:txBody>
      </p:sp>
      <p:sp>
        <p:nvSpPr>
          <p:cNvPr id="39" name="Shape 36"/>
          <p:cNvSpPr/>
          <p:nvPr/>
        </p:nvSpPr>
        <p:spPr>
          <a:xfrm>
            <a:off x="12001500" y="280987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0" name="Shape 37"/>
          <p:cNvSpPr/>
          <p:nvPr/>
        </p:nvSpPr>
        <p:spPr>
          <a:xfrm>
            <a:off x="12001500" y="255270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1" name="Text 38"/>
          <p:cNvSpPr/>
          <p:nvPr/>
        </p:nvSpPr>
        <p:spPr>
          <a:xfrm>
            <a:off x="11963400" y="255270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2287250" y="253365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약관 동의 분리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필수 (만14+/이용/처리방침) · 선택 (마케팅, 학습) </a:t>
            </a:r>
            <a:r>
              <a:rPr lang="en-US" sz="1425" dirty="0" err="1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명확히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425" dirty="0" err="1" smtClean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구분</a:t>
            </a:r>
            <a:endParaRPr lang="en-US" sz="1425" b="1" dirty="0">
              <a:solidFill>
                <a:srgbClr val="FF0000"/>
              </a:solidFill>
            </a:endParaRPr>
          </a:p>
        </p:txBody>
      </p:sp>
      <p:sp>
        <p:nvSpPr>
          <p:cNvPr id="43" name="Shape 40"/>
          <p:cNvSpPr/>
          <p:nvPr/>
        </p:nvSpPr>
        <p:spPr>
          <a:xfrm>
            <a:off x="12001500" y="28860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4" name="Text 41"/>
          <p:cNvSpPr/>
          <p:nvPr/>
        </p:nvSpPr>
        <p:spPr>
          <a:xfrm>
            <a:off x="11963400" y="28860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2287250" y="286702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 CTA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필수 동의·유효 입력 모두 충족 시에만 활성</a:t>
            </a:r>
            <a:endParaRPr lang="en-US" sz="1425" dirty="0"/>
          </a:p>
        </p:txBody>
      </p:sp>
      <p:sp>
        <p:nvSpPr>
          <p:cNvPr id="46" name="Shape 43"/>
          <p:cNvSpPr/>
          <p:nvPr/>
        </p:nvSpPr>
        <p:spPr>
          <a:xfrm>
            <a:off x="12001500" y="35242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7" name="Text 44"/>
          <p:cNvSpPr/>
          <p:nvPr/>
        </p:nvSpPr>
        <p:spPr>
          <a:xfrm>
            <a:off x="12001500" y="3238500"/>
            <a:ext cx="9603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/ 이탈</a:t>
            </a:r>
            <a:endParaRPr lang="en-US" sz="1650" dirty="0"/>
          </a:p>
        </p:txBody>
      </p:sp>
      <p:sp>
        <p:nvSpPr>
          <p:cNvPr id="48" name="Text 45"/>
          <p:cNvSpPr/>
          <p:nvPr/>
        </p:nvSpPr>
        <p:spPr>
          <a:xfrm>
            <a:off x="12980938" y="3314700"/>
            <a:ext cx="7868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Entry · Exit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12006263" y="3643313"/>
            <a:ext cx="1047750" cy="6000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2091988" y="3690937"/>
            <a:ext cx="9525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</a:t>
            </a:r>
            <a:endParaRPr lang="en-US" sz="1425" dirty="0"/>
          </a:p>
        </p:txBody>
      </p:sp>
      <p:sp>
        <p:nvSpPr>
          <p:cNvPr id="51" name="Shape 48"/>
          <p:cNvSpPr/>
          <p:nvPr/>
        </p:nvSpPr>
        <p:spPr>
          <a:xfrm>
            <a:off x="13054013" y="3643313"/>
            <a:ext cx="5000625" cy="6000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3179743" y="3686175"/>
            <a:ext cx="487013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랜딩 Primary CTA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게이트 진입 후 자동 안내</a:t>
            </a:r>
            <a:endParaRPr lang="en-US" sz="1425" dirty="0"/>
          </a:p>
        </p:txBody>
      </p:sp>
      <p:sp>
        <p:nvSpPr>
          <p:cNvPr id="53" name="Shape 50"/>
          <p:cNvSpPr/>
          <p:nvPr/>
        </p:nvSpPr>
        <p:spPr>
          <a:xfrm>
            <a:off x="12006263" y="4243388"/>
            <a:ext cx="1047750" cy="6000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2091988" y="4291013"/>
            <a:ext cx="9525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/ 다음</a:t>
            </a:r>
            <a:endParaRPr lang="en-US" sz="1425" dirty="0"/>
          </a:p>
        </p:txBody>
      </p:sp>
      <p:sp>
        <p:nvSpPr>
          <p:cNvPr id="55" name="Shape 52"/>
          <p:cNvSpPr/>
          <p:nvPr/>
        </p:nvSpPr>
        <p:spPr>
          <a:xfrm>
            <a:off x="13054013" y="4243388"/>
            <a:ext cx="5000625" cy="6000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3179743" y="4286250"/>
            <a:ext cx="487013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 성공 → 이메일 인증 안내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진입자 → 13 결제 게이트 자동 복귀</a:t>
            </a:r>
            <a:endParaRPr lang="en-US" sz="1425" dirty="0"/>
          </a:p>
        </p:txBody>
      </p:sp>
      <p:sp>
        <p:nvSpPr>
          <p:cNvPr id="57" name="Shape 54"/>
          <p:cNvSpPr/>
          <p:nvPr/>
        </p:nvSpPr>
        <p:spPr>
          <a:xfrm>
            <a:off x="12001500" y="5229225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8" name="Text 55"/>
          <p:cNvSpPr/>
          <p:nvPr/>
        </p:nvSpPr>
        <p:spPr>
          <a:xfrm>
            <a:off x="12001500" y="4943475"/>
            <a:ext cx="849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분기·규칙</a:t>
            </a:r>
            <a:endParaRPr lang="en-US" sz="1650" dirty="0"/>
          </a:p>
        </p:txBody>
      </p:sp>
      <p:sp>
        <p:nvSpPr>
          <p:cNvPr id="59" name="Text 56"/>
          <p:cNvSpPr/>
          <p:nvPr/>
        </p:nvSpPr>
        <p:spPr>
          <a:xfrm>
            <a:off x="12869912" y="5019675"/>
            <a:ext cx="4344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Rules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12006263" y="5348288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2091988" y="5395912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 동의 OFF</a:t>
            </a:r>
            <a:endParaRPr lang="en-US" sz="1425" dirty="0"/>
          </a:p>
        </p:txBody>
      </p:sp>
      <p:sp>
        <p:nvSpPr>
          <p:cNvPr id="62" name="Shape 59"/>
          <p:cNvSpPr/>
          <p:nvPr/>
        </p:nvSpPr>
        <p:spPr>
          <a:xfrm>
            <a:off x="13054013" y="5348288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3139738" y="5395912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환원 크레딧 비활성 (v1 정식)</a:t>
            </a:r>
            <a:endParaRPr lang="en-US" sz="1425" dirty="0"/>
          </a:p>
        </p:txBody>
      </p:sp>
      <p:sp>
        <p:nvSpPr>
          <p:cNvPr id="64" name="Shape 61"/>
          <p:cNvSpPr/>
          <p:nvPr/>
        </p:nvSpPr>
        <p:spPr>
          <a:xfrm>
            <a:off x="12006263" y="5910263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2091988" y="5957888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 SSO</a:t>
            </a:r>
            <a:endParaRPr lang="en-US" sz="1425" dirty="0"/>
          </a:p>
        </p:txBody>
      </p:sp>
      <p:sp>
        <p:nvSpPr>
          <p:cNvPr id="66" name="Shape 63"/>
          <p:cNvSpPr/>
          <p:nvPr/>
        </p:nvSpPr>
        <p:spPr>
          <a:xfrm>
            <a:off x="13054013" y="5910263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3139738" y="5957888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이메일·식별자만 수신. 비밀번호 미보관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12006263" y="6234113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2091988" y="6281737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B-1 수집 ○</a:t>
            </a:r>
            <a:endParaRPr lang="en-US" sz="1425" dirty="0"/>
          </a:p>
        </p:txBody>
      </p:sp>
      <p:sp>
        <p:nvSpPr>
          <p:cNvPr id="70" name="Shape 67"/>
          <p:cNvSpPr/>
          <p:nvPr/>
        </p:nvSpPr>
        <p:spPr>
          <a:xfrm>
            <a:off x="13054013" y="6234113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13134975" y="6305550"/>
            <a:ext cx="484882" cy="20955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72" name="Text 69"/>
          <p:cNvSpPr/>
          <p:nvPr/>
        </p:nvSpPr>
        <p:spPr>
          <a:xfrm>
            <a:off x="13192125" y="6315075"/>
            <a:ext cx="44678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25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</a:t>
            </a:r>
            <a:endParaRPr lang="en-US" sz="1125" dirty="0"/>
          </a:p>
        </p:txBody>
      </p:sp>
      <p:sp>
        <p:nvSpPr>
          <p:cNvPr id="73" name="Shape 70"/>
          <p:cNvSpPr/>
          <p:nvPr/>
        </p:nvSpPr>
        <p:spPr>
          <a:xfrm>
            <a:off x="13693825" y="6305550"/>
            <a:ext cx="1013668" cy="20955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74" name="Text 71"/>
          <p:cNvSpPr/>
          <p:nvPr/>
        </p:nvSpPr>
        <p:spPr>
          <a:xfrm>
            <a:off x="13750975" y="6315075"/>
            <a:ext cx="97556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25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암호화 비밀번호</a:t>
            </a:r>
            <a:endParaRPr lang="en-US" sz="1125" dirty="0"/>
          </a:p>
        </p:txBody>
      </p:sp>
      <p:sp>
        <p:nvSpPr>
          <p:cNvPr id="75" name="Shape 72"/>
          <p:cNvSpPr/>
          <p:nvPr/>
        </p:nvSpPr>
        <p:spPr>
          <a:xfrm>
            <a:off x="14781461" y="6305550"/>
            <a:ext cx="924967" cy="20955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76" name="Text 73"/>
          <p:cNvSpPr/>
          <p:nvPr/>
        </p:nvSpPr>
        <p:spPr>
          <a:xfrm>
            <a:off x="14838611" y="6315075"/>
            <a:ext cx="88686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25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약관 동의 이력</a:t>
            </a:r>
            <a:endParaRPr lang="en-US" sz="1125" dirty="0"/>
          </a:p>
        </p:txBody>
      </p:sp>
      <p:sp>
        <p:nvSpPr>
          <p:cNvPr id="77" name="Shape 74"/>
          <p:cNvSpPr/>
          <p:nvPr/>
        </p:nvSpPr>
        <p:spPr>
          <a:xfrm>
            <a:off x="12006263" y="6557963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12091988" y="6605588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B-1 미수집 ✕</a:t>
            </a:r>
            <a:endParaRPr lang="en-US" sz="1425" dirty="0"/>
          </a:p>
        </p:txBody>
      </p:sp>
      <p:sp>
        <p:nvSpPr>
          <p:cNvPr id="79" name="Shape 76"/>
          <p:cNvSpPr/>
          <p:nvPr/>
        </p:nvSpPr>
        <p:spPr>
          <a:xfrm>
            <a:off x="13054013" y="6557963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13134975" y="6629400"/>
            <a:ext cx="361355" cy="209550"/>
          </a:xfrm>
          <a:prstGeom prst="roundRect">
            <a:avLst>
              <a:gd name="adj" fmla="val 50000"/>
            </a:avLst>
          </a:prstGeom>
          <a:solidFill>
            <a:srgbClr val="FFEBEE"/>
          </a:solidFill>
          <a:ln/>
        </p:spPr>
      </p:sp>
      <p:sp>
        <p:nvSpPr>
          <p:cNvPr id="81" name="Text 78"/>
          <p:cNvSpPr/>
          <p:nvPr/>
        </p:nvSpPr>
        <p:spPr>
          <a:xfrm>
            <a:off x="13192125" y="6638925"/>
            <a:ext cx="32325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25" dirty="0">
                <a:solidFill>
                  <a:srgbClr val="B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실명</a:t>
            </a:r>
            <a:endParaRPr lang="en-US" sz="1125" dirty="0"/>
          </a:p>
        </p:txBody>
      </p:sp>
      <p:sp>
        <p:nvSpPr>
          <p:cNvPr id="82" name="Shape 79"/>
          <p:cNvSpPr/>
          <p:nvPr/>
        </p:nvSpPr>
        <p:spPr>
          <a:xfrm>
            <a:off x="13570297" y="6629400"/>
            <a:ext cx="608261" cy="209550"/>
          </a:xfrm>
          <a:prstGeom prst="roundRect">
            <a:avLst>
              <a:gd name="adj" fmla="val 50000"/>
            </a:avLst>
          </a:prstGeom>
          <a:solidFill>
            <a:srgbClr val="FFEBEE"/>
          </a:solidFill>
          <a:ln/>
        </p:spPr>
      </p:sp>
      <p:sp>
        <p:nvSpPr>
          <p:cNvPr id="83" name="Text 80"/>
          <p:cNvSpPr/>
          <p:nvPr/>
        </p:nvSpPr>
        <p:spPr>
          <a:xfrm>
            <a:off x="13627447" y="6638925"/>
            <a:ext cx="5701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25" dirty="0">
                <a:solidFill>
                  <a:srgbClr val="B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전화번호</a:t>
            </a:r>
            <a:endParaRPr lang="en-US" sz="1125" dirty="0"/>
          </a:p>
        </p:txBody>
      </p:sp>
      <p:sp>
        <p:nvSpPr>
          <p:cNvPr id="84" name="Shape 81"/>
          <p:cNvSpPr/>
          <p:nvPr/>
        </p:nvSpPr>
        <p:spPr>
          <a:xfrm>
            <a:off x="14252525" y="6629400"/>
            <a:ext cx="361355" cy="209550"/>
          </a:xfrm>
          <a:prstGeom prst="roundRect">
            <a:avLst>
              <a:gd name="adj" fmla="val 50000"/>
            </a:avLst>
          </a:prstGeom>
          <a:solidFill>
            <a:srgbClr val="FFEBEE"/>
          </a:solidFill>
          <a:ln/>
        </p:spPr>
      </p:sp>
      <p:sp>
        <p:nvSpPr>
          <p:cNvPr id="85" name="Text 82"/>
          <p:cNvSpPr/>
          <p:nvPr/>
        </p:nvSpPr>
        <p:spPr>
          <a:xfrm>
            <a:off x="14309675" y="6638925"/>
            <a:ext cx="32325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25" dirty="0">
                <a:solidFill>
                  <a:srgbClr val="B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주소</a:t>
            </a:r>
            <a:endParaRPr lang="en-US" sz="1125" dirty="0"/>
          </a:p>
        </p:txBody>
      </p:sp>
      <p:sp>
        <p:nvSpPr>
          <p:cNvPr id="86" name="Shape 83"/>
          <p:cNvSpPr/>
          <p:nvPr/>
        </p:nvSpPr>
        <p:spPr>
          <a:xfrm>
            <a:off x="14687848" y="6629400"/>
            <a:ext cx="608261" cy="209550"/>
          </a:xfrm>
          <a:prstGeom prst="roundRect">
            <a:avLst>
              <a:gd name="adj" fmla="val 50000"/>
            </a:avLst>
          </a:prstGeom>
          <a:solidFill>
            <a:srgbClr val="FFEBEE"/>
          </a:solidFill>
          <a:ln/>
        </p:spPr>
      </p:sp>
      <p:sp>
        <p:nvSpPr>
          <p:cNvPr id="87" name="Text 84"/>
          <p:cNvSpPr/>
          <p:nvPr/>
        </p:nvSpPr>
        <p:spPr>
          <a:xfrm>
            <a:off x="14744998" y="6638925"/>
            <a:ext cx="5701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25" dirty="0">
                <a:solidFill>
                  <a:srgbClr val="B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생년월일</a:t>
            </a:r>
            <a:endParaRPr lang="en-US" sz="1125" dirty="0"/>
          </a:p>
        </p:txBody>
      </p:sp>
      <p:sp>
        <p:nvSpPr>
          <p:cNvPr id="88" name="Shape 85"/>
          <p:cNvSpPr/>
          <p:nvPr/>
        </p:nvSpPr>
        <p:spPr>
          <a:xfrm>
            <a:off x="0" y="9944100"/>
            <a:ext cx="18288000" cy="3429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89" name="Shape 86"/>
          <p:cNvSpPr/>
          <p:nvPr/>
        </p:nvSpPr>
        <p:spPr>
          <a:xfrm>
            <a:off x="0" y="9944100"/>
            <a:ext cx="18288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0" name="Text 87"/>
          <p:cNvSpPr/>
          <p:nvPr/>
        </p:nvSpPr>
        <p:spPr>
          <a:xfrm>
            <a:off x="304800" y="10034588"/>
            <a:ext cx="404540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54" dirty="0">
                <a:solidFill>
                  <a:srgbClr val="798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· 화면설계서 v1.0 · #garim.kr/signup</a:t>
            </a:r>
            <a:endParaRPr lang="en-US" sz="1200" dirty="0"/>
          </a:p>
        </p:txBody>
      </p:sp>
      <p:sp>
        <p:nvSpPr>
          <p:cNvPr id="91" name="Text 88"/>
          <p:cNvSpPr/>
          <p:nvPr/>
        </p:nvSpPr>
        <p:spPr>
          <a:xfrm>
            <a:off x="14055328" y="10020300"/>
            <a:ext cx="404570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P05 · 회원가입 · ref: Linear · Notion · 토스 회원가입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876300"/>
            <a:ext cx="18288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00200" cy="91440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" name="Text 2"/>
          <p:cNvSpPr/>
          <p:nvPr/>
        </p:nvSpPr>
        <p:spPr>
          <a:xfrm>
            <a:off x="560636" y="147638"/>
            <a:ext cx="5549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216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5335" y="309563"/>
            <a:ext cx="6057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kern="0" spc="-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828800" y="152400"/>
            <a:ext cx="1283292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27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28800" y="561975"/>
            <a:ext cx="128329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Login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516546" y="0"/>
            <a:ext cx="9525" cy="914400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" name="Shape 7"/>
          <p:cNvSpPr/>
          <p:nvPr/>
        </p:nvSpPr>
        <p:spPr>
          <a:xfrm>
            <a:off x="14792771" y="304800"/>
            <a:ext cx="544116" cy="304800"/>
          </a:xfrm>
          <a:prstGeom prst="roundRect">
            <a:avLst>
              <a:gd name="adj" fmla="val 12500"/>
            </a:avLst>
          </a:prstGeom>
          <a:solidFill>
            <a:srgbClr val="455A64"/>
          </a:solidFill>
          <a:ln w="9525">
            <a:solidFill>
              <a:srgbClr val="455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16596" y="314325"/>
            <a:ext cx="37266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계정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432137" y="304800"/>
            <a:ext cx="831503" cy="304800"/>
          </a:xfrm>
          <a:prstGeom prst="roundRect">
            <a:avLst>
              <a:gd name="adj" fmla="val 12500"/>
            </a:avLst>
          </a:prstGeom>
          <a:solidFill>
            <a:srgbClr val="0288D1"/>
          </a:solidFill>
          <a:ln w="9525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55962" y="314325"/>
            <a:ext cx="6600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6358890" y="314325"/>
            <a:ext cx="166241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473190" y="314325"/>
            <a:ext cx="1510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2026.05.14 · v1.0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8600" y="1066800"/>
            <a:ext cx="2028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와이어 / Hi-Fi Mockup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212884" y="1066800"/>
            <a:ext cx="156001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garim.kr/login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28600" y="1343025"/>
            <a:ext cx="11582400" cy="8486775"/>
          </a:xfrm>
          <a:prstGeom prst="roundRect">
            <a:avLst>
              <a:gd name="adj" fmla="val 224"/>
            </a:avLst>
          </a:prstGeom>
          <a:solidFill>
            <a:srgbClr val="FFFFFF"/>
          </a:solidFill>
          <a:ln w="9525">
            <a:solidFill>
              <a:srgbClr val="B8BDC7"/>
            </a:solidFill>
            <a:prstDash val="solid"/>
          </a:ln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12001500" y="13144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28" name="Text 25"/>
          <p:cNvSpPr/>
          <p:nvPr/>
        </p:nvSpPr>
        <p:spPr>
          <a:xfrm>
            <a:off x="12001500" y="1028700"/>
            <a:ext cx="12997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· 컴포넌트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3320266" y="1104900"/>
            <a:ext cx="15653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Purpose · Components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2001500" y="1428750"/>
            <a:ext cx="623963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사용자 인증 + 의도된 페이지로 빠른 진입</a:t>
            </a:r>
            <a:endParaRPr lang="en-US" sz="1650" dirty="0"/>
          </a:p>
        </p:txBody>
      </p:sp>
      <p:sp>
        <p:nvSpPr>
          <p:cNvPr id="31" name="Shape 28"/>
          <p:cNvSpPr/>
          <p:nvPr/>
        </p:nvSpPr>
        <p:spPr>
          <a:xfrm>
            <a:off x="12001500" y="214312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2" name="Shape 29"/>
          <p:cNvSpPr/>
          <p:nvPr/>
        </p:nvSpPr>
        <p:spPr>
          <a:xfrm>
            <a:off x="12001500" y="18859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3" name="Text 30"/>
          <p:cNvSpPr/>
          <p:nvPr/>
        </p:nvSpPr>
        <p:spPr>
          <a:xfrm>
            <a:off x="11963400" y="18859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2287250" y="18669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카카오 SSO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상단 배치 (가입 시와 동일 위계)</a:t>
            </a:r>
            <a:endParaRPr lang="en-US" sz="1425" dirty="0"/>
          </a:p>
        </p:txBody>
      </p:sp>
      <p:sp>
        <p:nvSpPr>
          <p:cNvPr id="35" name="Shape 32"/>
          <p:cNvSpPr/>
          <p:nvPr/>
        </p:nvSpPr>
        <p:spPr>
          <a:xfrm>
            <a:off x="12001500" y="247650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6" name="Shape 33"/>
          <p:cNvSpPr/>
          <p:nvPr/>
        </p:nvSpPr>
        <p:spPr>
          <a:xfrm>
            <a:off x="12001500" y="221932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7" name="Text 34"/>
          <p:cNvSpPr/>
          <p:nvPr/>
        </p:nvSpPr>
        <p:spPr>
          <a:xfrm>
            <a:off x="11963400" y="221932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2287250" y="220027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이메일·비밀번호 폼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실패 사유 어느 쪽 틀린지 미노출 (보안)</a:t>
            </a:r>
            <a:endParaRPr lang="en-US" sz="1425" dirty="0"/>
          </a:p>
        </p:txBody>
      </p:sp>
      <p:sp>
        <p:nvSpPr>
          <p:cNvPr id="39" name="Shape 36"/>
          <p:cNvSpPr/>
          <p:nvPr/>
        </p:nvSpPr>
        <p:spPr>
          <a:xfrm>
            <a:off x="12001500" y="280987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0" name="Shape 37"/>
          <p:cNvSpPr/>
          <p:nvPr/>
        </p:nvSpPr>
        <p:spPr>
          <a:xfrm>
            <a:off x="12001500" y="255270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1" name="Text 38"/>
          <p:cNvSpPr/>
          <p:nvPr/>
        </p:nvSpPr>
        <p:spPr>
          <a:xfrm>
            <a:off x="11963400" y="255270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2287250" y="253365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 유지 (30일)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체크 시 refresh token 30일</a:t>
            </a:r>
            <a:endParaRPr lang="en-US" sz="1425" dirty="0"/>
          </a:p>
        </p:txBody>
      </p:sp>
      <p:sp>
        <p:nvSpPr>
          <p:cNvPr id="43" name="Shape 40"/>
          <p:cNvSpPr/>
          <p:nvPr/>
        </p:nvSpPr>
        <p:spPr>
          <a:xfrm>
            <a:off x="12001500" y="28860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4" name="Text 41"/>
          <p:cNvSpPr/>
          <p:nvPr/>
        </p:nvSpPr>
        <p:spPr>
          <a:xfrm>
            <a:off x="11963400" y="28860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2287250" y="286702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회원가입 / 재설정 링크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"가입" → 05 · "비밀번호 잊음" → 07</a:t>
            </a:r>
            <a:endParaRPr lang="en-US" sz="1425" dirty="0"/>
          </a:p>
        </p:txBody>
      </p:sp>
      <p:sp>
        <p:nvSpPr>
          <p:cNvPr id="46" name="Shape 43"/>
          <p:cNvSpPr/>
          <p:nvPr/>
        </p:nvSpPr>
        <p:spPr>
          <a:xfrm>
            <a:off x="12001500" y="35242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7" name="Text 44"/>
          <p:cNvSpPr/>
          <p:nvPr/>
        </p:nvSpPr>
        <p:spPr>
          <a:xfrm>
            <a:off x="12001500" y="3238500"/>
            <a:ext cx="9603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/ 이탈</a:t>
            </a:r>
            <a:endParaRPr lang="en-US" sz="1650" dirty="0"/>
          </a:p>
        </p:txBody>
      </p:sp>
      <p:sp>
        <p:nvSpPr>
          <p:cNvPr id="48" name="Text 45"/>
          <p:cNvSpPr/>
          <p:nvPr/>
        </p:nvSpPr>
        <p:spPr>
          <a:xfrm>
            <a:off x="12980938" y="3314700"/>
            <a:ext cx="7868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Entry · Exit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12006263" y="3643313"/>
            <a:ext cx="1047750" cy="8572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2091988" y="3690937"/>
            <a:ext cx="9525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</a:t>
            </a:r>
            <a:endParaRPr lang="en-US" sz="1425" dirty="0"/>
          </a:p>
        </p:txBody>
      </p:sp>
      <p:sp>
        <p:nvSpPr>
          <p:cNvPr id="51" name="Shape 48"/>
          <p:cNvSpPr/>
          <p:nvPr/>
        </p:nvSpPr>
        <p:spPr>
          <a:xfrm>
            <a:off x="13054013" y="3643313"/>
            <a:ext cx="5000625" cy="8572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3179743" y="3686175"/>
            <a:ext cx="487013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세션 만료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진입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결제·검출 진입 시 가드</a:t>
            </a:r>
            <a:endParaRPr lang="en-US" sz="1425" dirty="0"/>
          </a:p>
        </p:txBody>
      </p:sp>
      <p:sp>
        <p:nvSpPr>
          <p:cNvPr id="53" name="Shape 50"/>
          <p:cNvSpPr/>
          <p:nvPr/>
        </p:nvSpPr>
        <p:spPr>
          <a:xfrm>
            <a:off x="12006263" y="4500563"/>
            <a:ext cx="1047750" cy="6000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2091988" y="4548188"/>
            <a:ext cx="9525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/ 다음</a:t>
            </a:r>
            <a:endParaRPr lang="en-US" sz="1425" dirty="0"/>
          </a:p>
        </p:txBody>
      </p:sp>
      <p:sp>
        <p:nvSpPr>
          <p:cNvPr id="55" name="Shape 52"/>
          <p:cNvSpPr/>
          <p:nvPr/>
        </p:nvSpPr>
        <p:spPr>
          <a:xfrm>
            <a:off x="13054013" y="4500563"/>
            <a:ext cx="5000625" cy="6000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3179743" y="4543425"/>
            <a:ext cx="487013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 성공 → 의도된 페이지 또는 19 대시보드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재설정 → 07</a:t>
            </a:r>
            <a:endParaRPr lang="en-US" sz="1425" dirty="0"/>
          </a:p>
        </p:txBody>
      </p:sp>
      <p:sp>
        <p:nvSpPr>
          <p:cNvPr id="57" name="Shape 54"/>
          <p:cNvSpPr/>
          <p:nvPr/>
        </p:nvSpPr>
        <p:spPr>
          <a:xfrm>
            <a:off x="12001500" y="548640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8" name="Text 55"/>
          <p:cNvSpPr/>
          <p:nvPr/>
        </p:nvSpPr>
        <p:spPr>
          <a:xfrm>
            <a:off x="12001500" y="5200650"/>
            <a:ext cx="849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분기·규칙</a:t>
            </a:r>
            <a:endParaRPr lang="en-US" sz="1650" dirty="0"/>
          </a:p>
        </p:txBody>
      </p:sp>
      <p:sp>
        <p:nvSpPr>
          <p:cNvPr id="59" name="Text 56"/>
          <p:cNvSpPr/>
          <p:nvPr/>
        </p:nvSpPr>
        <p:spPr>
          <a:xfrm>
            <a:off x="12869912" y="5276850"/>
            <a:ext cx="4344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Rules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12006263" y="5605463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2091988" y="5653087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5회 실패</a:t>
            </a:r>
            <a:endParaRPr lang="en-US" sz="1425" dirty="0"/>
          </a:p>
        </p:txBody>
      </p:sp>
      <p:sp>
        <p:nvSpPr>
          <p:cNvPr id="62" name="Shape 59"/>
          <p:cNvSpPr/>
          <p:nvPr/>
        </p:nvSpPr>
        <p:spPr>
          <a:xfrm>
            <a:off x="13054013" y="5605463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3139738" y="5653087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캡차 노출</a:t>
            </a:r>
            <a:endParaRPr lang="en-US" sz="1425" dirty="0"/>
          </a:p>
        </p:txBody>
      </p:sp>
      <p:sp>
        <p:nvSpPr>
          <p:cNvPr id="64" name="Shape 61"/>
          <p:cNvSpPr/>
          <p:nvPr/>
        </p:nvSpPr>
        <p:spPr>
          <a:xfrm>
            <a:off x="12006263" y="5929313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2091988" y="5976938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10회 실패</a:t>
            </a:r>
            <a:endParaRPr lang="en-US" sz="1425" dirty="0"/>
          </a:p>
        </p:txBody>
      </p:sp>
      <p:sp>
        <p:nvSpPr>
          <p:cNvPr id="66" name="Shape 63"/>
          <p:cNvSpPr/>
          <p:nvPr/>
        </p:nvSpPr>
        <p:spPr>
          <a:xfrm>
            <a:off x="13054013" y="5929313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3139738" y="5976938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30분 잠금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12006263" y="6253163"/>
            <a:ext cx="1047750" cy="80010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2091988" y="6300788"/>
            <a:ext cx="9525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SSO 가입자가 이메일 시도</a:t>
            </a:r>
            <a:endParaRPr lang="en-US" sz="1425" dirty="0"/>
          </a:p>
        </p:txBody>
      </p:sp>
      <p:sp>
        <p:nvSpPr>
          <p:cNvPr id="70" name="Shape 67"/>
          <p:cNvSpPr/>
          <p:nvPr/>
        </p:nvSpPr>
        <p:spPr>
          <a:xfrm>
            <a:off x="13054013" y="6253163"/>
            <a:ext cx="5000625" cy="80010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3139738" y="6300788"/>
            <a:ext cx="4979194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"카카오로 로그인하세요" 안내</a:t>
            </a:r>
            <a:endParaRPr lang="en-US" sz="1425" dirty="0"/>
          </a:p>
        </p:txBody>
      </p:sp>
      <p:sp>
        <p:nvSpPr>
          <p:cNvPr id="72" name="Shape 69"/>
          <p:cNvSpPr/>
          <p:nvPr/>
        </p:nvSpPr>
        <p:spPr>
          <a:xfrm>
            <a:off x="12006263" y="7053263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2091988" y="7100888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 미인증</a:t>
            </a:r>
            <a:endParaRPr lang="en-US" sz="1425" dirty="0"/>
          </a:p>
        </p:txBody>
      </p:sp>
      <p:sp>
        <p:nvSpPr>
          <p:cNvPr id="74" name="Shape 71"/>
          <p:cNvSpPr/>
          <p:nvPr/>
        </p:nvSpPr>
        <p:spPr>
          <a:xfrm>
            <a:off x="13054013" y="7053263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3139738" y="7100888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인증 재전송 옵션 노출</a:t>
            </a:r>
            <a:endParaRPr lang="en-US" sz="1425" dirty="0"/>
          </a:p>
        </p:txBody>
      </p:sp>
      <p:sp>
        <p:nvSpPr>
          <p:cNvPr id="76" name="Shape 73"/>
          <p:cNvSpPr/>
          <p:nvPr/>
        </p:nvSpPr>
        <p:spPr>
          <a:xfrm>
            <a:off x="0" y="9944100"/>
            <a:ext cx="18288000" cy="3429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77" name="Shape 74"/>
          <p:cNvSpPr/>
          <p:nvPr/>
        </p:nvSpPr>
        <p:spPr>
          <a:xfrm>
            <a:off x="0" y="9944100"/>
            <a:ext cx="18288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78" name="Text 75"/>
          <p:cNvSpPr/>
          <p:nvPr/>
        </p:nvSpPr>
        <p:spPr>
          <a:xfrm>
            <a:off x="304800" y="10034588"/>
            <a:ext cx="39413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54" dirty="0">
                <a:solidFill>
                  <a:srgbClr val="798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· 화면설계서 v1.0 · #garim.kr/login</a:t>
            </a:r>
            <a:endParaRPr lang="en-US" sz="1200" dirty="0"/>
          </a:p>
        </p:txBody>
      </p:sp>
      <p:sp>
        <p:nvSpPr>
          <p:cNvPr id="79" name="Text 76"/>
          <p:cNvSpPr/>
          <p:nvPr/>
        </p:nvSpPr>
        <p:spPr>
          <a:xfrm>
            <a:off x="15340757" y="10020300"/>
            <a:ext cx="27217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P06 · 로그인 · ref: Linear · Notion</a:t>
            </a:r>
            <a:endParaRPr lang="en-US" sz="1350" dirty="0"/>
          </a:p>
        </p:txBody>
      </p:sp>
      <p:pic>
        <p:nvPicPr>
          <p:cNvPr id="80" name="그림 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046" y="1628775"/>
            <a:ext cx="10991850" cy="7772400"/>
          </a:xfrm>
          <a:prstGeom prst="rect">
            <a:avLst/>
          </a:prstGeom>
        </p:spPr>
      </p:pic>
      <p:grpSp>
        <p:nvGrpSpPr>
          <p:cNvPr id="81" name="그룹 80"/>
          <p:cNvGrpSpPr/>
          <p:nvPr/>
        </p:nvGrpSpPr>
        <p:grpSpPr>
          <a:xfrm>
            <a:off x="4290043" y="4052887"/>
            <a:ext cx="381000" cy="361950"/>
            <a:chOff x="5829300" y="2705249"/>
            <a:chExt cx="381000" cy="361950"/>
          </a:xfrm>
        </p:grpSpPr>
        <p:sp>
          <p:nvSpPr>
            <p:cNvPr id="82" name="Shape 16"/>
            <p:cNvSpPr/>
            <p:nvPr/>
          </p:nvSpPr>
          <p:spPr>
            <a:xfrm>
              <a:off x="5848350" y="2705249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83" name="Text 17"/>
            <p:cNvSpPr/>
            <p:nvPr/>
          </p:nvSpPr>
          <p:spPr>
            <a:xfrm>
              <a:off x="5829300" y="2724299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</a:t>
              </a:r>
              <a:endParaRPr lang="en-US" sz="1350" dirty="0"/>
            </a:p>
          </p:txBody>
        </p:sp>
      </p:grpSp>
      <p:grpSp>
        <p:nvGrpSpPr>
          <p:cNvPr id="84" name="그룹 83"/>
          <p:cNvGrpSpPr/>
          <p:nvPr/>
        </p:nvGrpSpPr>
        <p:grpSpPr>
          <a:xfrm>
            <a:off x="3988251" y="5180559"/>
            <a:ext cx="381000" cy="361950"/>
            <a:chOff x="3988251" y="5180559"/>
            <a:chExt cx="381000" cy="361950"/>
          </a:xfrm>
        </p:grpSpPr>
        <p:sp>
          <p:nvSpPr>
            <p:cNvPr id="85" name="Shape 18"/>
            <p:cNvSpPr/>
            <p:nvPr/>
          </p:nvSpPr>
          <p:spPr>
            <a:xfrm>
              <a:off x="4007301" y="5180559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86" name="Text 19"/>
            <p:cNvSpPr/>
            <p:nvPr/>
          </p:nvSpPr>
          <p:spPr>
            <a:xfrm>
              <a:off x="3988251" y="5199609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2</a:t>
              </a:r>
              <a:endParaRPr lang="en-US" sz="1350" dirty="0"/>
            </a:p>
          </p:txBody>
        </p:sp>
      </p:grpSp>
      <p:grpSp>
        <p:nvGrpSpPr>
          <p:cNvPr id="87" name="그룹 86"/>
          <p:cNvGrpSpPr/>
          <p:nvPr/>
        </p:nvGrpSpPr>
        <p:grpSpPr>
          <a:xfrm>
            <a:off x="4027136" y="6196013"/>
            <a:ext cx="381000" cy="361950"/>
            <a:chOff x="3988251" y="7382174"/>
            <a:chExt cx="381000" cy="361950"/>
          </a:xfrm>
        </p:grpSpPr>
        <p:sp>
          <p:nvSpPr>
            <p:cNvPr id="88" name="Shape 20"/>
            <p:cNvSpPr/>
            <p:nvPr/>
          </p:nvSpPr>
          <p:spPr>
            <a:xfrm>
              <a:off x="4007301" y="7382174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89" name="Text 21"/>
            <p:cNvSpPr/>
            <p:nvPr/>
          </p:nvSpPr>
          <p:spPr>
            <a:xfrm>
              <a:off x="3988251" y="7401224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3</a:t>
              </a:r>
              <a:endParaRPr lang="en-US" sz="1350" dirty="0"/>
            </a:p>
          </p:txBody>
        </p:sp>
      </p:grpSp>
      <p:grpSp>
        <p:nvGrpSpPr>
          <p:cNvPr id="90" name="그룹 89"/>
          <p:cNvGrpSpPr/>
          <p:nvPr/>
        </p:nvGrpSpPr>
        <p:grpSpPr>
          <a:xfrm>
            <a:off x="7180630" y="6719261"/>
            <a:ext cx="381000" cy="361950"/>
            <a:chOff x="3988251" y="9245055"/>
            <a:chExt cx="381000" cy="361950"/>
          </a:xfrm>
        </p:grpSpPr>
        <p:sp>
          <p:nvSpPr>
            <p:cNvPr id="91" name="Shape 22"/>
            <p:cNvSpPr/>
            <p:nvPr/>
          </p:nvSpPr>
          <p:spPr>
            <a:xfrm>
              <a:off x="4007301" y="9245055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92" name="Text 23"/>
            <p:cNvSpPr/>
            <p:nvPr/>
          </p:nvSpPr>
          <p:spPr>
            <a:xfrm>
              <a:off x="3988251" y="9264105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4</a:t>
              </a:r>
              <a:endParaRPr lang="en-US" sz="1350" dirty="0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228600" y="1343025"/>
            <a:ext cx="11582400" cy="8486775"/>
          </a:xfrm>
          <a:prstGeom prst="roundRect">
            <a:avLst>
              <a:gd name="adj" fmla="val 224"/>
            </a:avLst>
          </a:prstGeom>
          <a:solidFill>
            <a:srgbClr val="FFFFFF"/>
          </a:solidFill>
          <a:ln w="9525">
            <a:solidFill>
              <a:srgbClr val="B8BDC7"/>
            </a:solidFill>
            <a:prstDash val="solid"/>
          </a:ln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70" name="그림 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8050" y="3316392"/>
            <a:ext cx="5143500" cy="42672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876300"/>
            <a:ext cx="18288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00200" cy="91440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" name="Text 2"/>
          <p:cNvSpPr/>
          <p:nvPr/>
        </p:nvSpPr>
        <p:spPr>
          <a:xfrm>
            <a:off x="560636" y="147638"/>
            <a:ext cx="5549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216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5335" y="309563"/>
            <a:ext cx="6057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kern="0" spc="-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828800" y="152400"/>
            <a:ext cx="1283292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27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비밀번호 재설정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28800" y="561975"/>
            <a:ext cx="128329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Password reset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516546" y="0"/>
            <a:ext cx="9525" cy="914400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" name="Shape 7"/>
          <p:cNvSpPr/>
          <p:nvPr/>
        </p:nvSpPr>
        <p:spPr>
          <a:xfrm>
            <a:off x="14792771" y="304800"/>
            <a:ext cx="544116" cy="304800"/>
          </a:xfrm>
          <a:prstGeom prst="roundRect">
            <a:avLst>
              <a:gd name="adj" fmla="val 12500"/>
            </a:avLst>
          </a:prstGeom>
          <a:solidFill>
            <a:srgbClr val="455A64"/>
          </a:solidFill>
          <a:ln w="9525">
            <a:solidFill>
              <a:srgbClr val="455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16596" y="314325"/>
            <a:ext cx="37266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계정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432137" y="304800"/>
            <a:ext cx="831503" cy="304800"/>
          </a:xfrm>
          <a:prstGeom prst="roundRect">
            <a:avLst>
              <a:gd name="adj" fmla="val 12500"/>
            </a:avLst>
          </a:prstGeom>
          <a:solidFill>
            <a:srgbClr val="0288D1"/>
          </a:solidFill>
          <a:ln w="9525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55962" y="314325"/>
            <a:ext cx="6600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6358890" y="314325"/>
            <a:ext cx="166241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473190" y="314325"/>
            <a:ext cx="1510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2026.05.14 · v1.0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8600" y="1066800"/>
            <a:ext cx="2028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와이어 / Hi-Fi Mockup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470975" y="1066800"/>
            <a:ext cx="23019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garim.kr/reset/[step]</a:t>
            </a:r>
            <a:endParaRPr lang="en-US" sz="1350" dirty="0"/>
          </a:p>
        </p:txBody>
      </p:sp>
      <p:grpSp>
        <p:nvGrpSpPr>
          <p:cNvPr id="71" name="그룹 70"/>
          <p:cNvGrpSpPr/>
          <p:nvPr/>
        </p:nvGrpSpPr>
        <p:grpSpPr>
          <a:xfrm>
            <a:off x="3838575" y="5301665"/>
            <a:ext cx="381000" cy="361950"/>
            <a:chOff x="5829300" y="3382566"/>
            <a:chExt cx="381000" cy="361950"/>
          </a:xfrm>
        </p:grpSpPr>
        <p:sp>
          <p:nvSpPr>
            <p:cNvPr id="19" name="Shape 16"/>
            <p:cNvSpPr/>
            <p:nvPr/>
          </p:nvSpPr>
          <p:spPr>
            <a:xfrm>
              <a:off x="5848350" y="3382566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0" name="Text 17"/>
            <p:cNvSpPr/>
            <p:nvPr/>
          </p:nvSpPr>
          <p:spPr>
            <a:xfrm>
              <a:off x="5829300" y="3401616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</a:t>
              </a:r>
              <a:endParaRPr lang="en-US" sz="1350" dirty="0"/>
            </a:p>
          </p:txBody>
        </p:sp>
      </p:grpSp>
      <p:grpSp>
        <p:nvGrpSpPr>
          <p:cNvPr id="72" name="그룹 71"/>
          <p:cNvGrpSpPr/>
          <p:nvPr/>
        </p:nvGrpSpPr>
        <p:grpSpPr>
          <a:xfrm>
            <a:off x="7706227" y="6105525"/>
            <a:ext cx="381000" cy="361950"/>
            <a:chOff x="5829300" y="5414963"/>
            <a:chExt cx="381000" cy="361950"/>
          </a:xfrm>
        </p:grpSpPr>
        <p:sp>
          <p:nvSpPr>
            <p:cNvPr id="21" name="Shape 18"/>
            <p:cNvSpPr/>
            <p:nvPr/>
          </p:nvSpPr>
          <p:spPr>
            <a:xfrm>
              <a:off x="5848350" y="5414963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2" name="Text 19"/>
            <p:cNvSpPr/>
            <p:nvPr/>
          </p:nvSpPr>
          <p:spPr>
            <a:xfrm>
              <a:off x="5829300" y="5434013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2</a:t>
              </a:r>
              <a:endParaRPr lang="en-US" sz="1350" dirty="0"/>
            </a:p>
          </p:txBody>
        </p:sp>
      </p:grpSp>
      <p:grpSp>
        <p:nvGrpSpPr>
          <p:cNvPr id="73" name="그룹 72"/>
          <p:cNvGrpSpPr/>
          <p:nvPr/>
        </p:nvGrpSpPr>
        <p:grpSpPr>
          <a:xfrm>
            <a:off x="6815138" y="6807994"/>
            <a:ext cx="381000" cy="361950"/>
            <a:chOff x="5829300" y="7616428"/>
            <a:chExt cx="381000" cy="361950"/>
          </a:xfrm>
        </p:grpSpPr>
        <p:sp>
          <p:nvSpPr>
            <p:cNvPr id="23" name="Shape 20"/>
            <p:cNvSpPr/>
            <p:nvPr/>
          </p:nvSpPr>
          <p:spPr>
            <a:xfrm>
              <a:off x="5848350" y="7616428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4" name="Text 21"/>
            <p:cNvSpPr/>
            <p:nvPr/>
          </p:nvSpPr>
          <p:spPr>
            <a:xfrm>
              <a:off x="5829300" y="7635478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3</a:t>
              </a:r>
              <a:endParaRPr lang="en-US" sz="1350" dirty="0"/>
            </a:p>
          </p:txBody>
        </p:sp>
      </p:grpSp>
      <p:sp>
        <p:nvSpPr>
          <p:cNvPr id="25" name="Shape 22"/>
          <p:cNvSpPr/>
          <p:nvPr/>
        </p:nvSpPr>
        <p:spPr>
          <a:xfrm>
            <a:off x="12001500" y="13144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26" name="Text 23"/>
          <p:cNvSpPr/>
          <p:nvPr/>
        </p:nvSpPr>
        <p:spPr>
          <a:xfrm>
            <a:off x="12001500" y="1028700"/>
            <a:ext cx="12997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· 컴포넌트</a:t>
            </a:r>
            <a:endParaRPr lang="en-US" sz="1650" dirty="0"/>
          </a:p>
        </p:txBody>
      </p:sp>
      <p:sp>
        <p:nvSpPr>
          <p:cNvPr id="27" name="Text 24"/>
          <p:cNvSpPr/>
          <p:nvPr/>
        </p:nvSpPr>
        <p:spPr>
          <a:xfrm>
            <a:off x="13320266" y="1104900"/>
            <a:ext cx="15653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Purpose · Components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2001500" y="1428750"/>
            <a:ext cx="623963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비밀번호 분실 사용자 계정 복구 — 3단계 분리</a:t>
            </a:r>
            <a:endParaRPr lang="en-US" sz="1650" dirty="0"/>
          </a:p>
        </p:txBody>
      </p:sp>
      <p:sp>
        <p:nvSpPr>
          <p:cNvPr id="29" name="Shape 26"/>
          <p:cNvSpPr/>
          <p:nvPr/>
        </p:nvSpPr>
        <p:spPr>
          <a:xfrm>
            <a:off x="12001500" y="239077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0" name="Shape 27"/>
          <p:cNvSpPr/>
          <p:nvPr/>
        </p:nvSpPr>
        <p:spPr>
          <a:xfrm>
            <a:off x="12001500" y="18859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1" name="Text 28"/>
          <p:cNvSpPr/>
          <p:nvPr/>
        </p:nvSpPr>
        <p:spPr>
          <a:xfrm>
            <a:off x="11963400" y="18859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2287250" y="1866900"/>
            <a:ext cx="594531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1 · 이메일 입력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재설정 링크 요청. 미가입 이메일도 동일 성공 메시지 (보안)</a:t>
            </a:r>
            <a:endParaRPr lang="en-US" sz="1425" dirty="0"/>
          </a:p>
        </p:txBody>
      </p:sp>
      <p:sp>
        <p:nvSpPr>
          <p:cNvPr id="33" name="Shape 30"/>
          <p:cNvSpPr/>
          <p:nvPr/>
        </p:nvSpPr>
        <p:spPr>
          <a:xfrm>
            <a:off x="12001500" y="272415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4" name="Shape 31"/>
          <p:cNvSpPr/>
          <p:nvPr/>
        </p:nvSpPr>
        <p:spPr>
          <a:xfrm>
            <a:off x="12001500" y="24669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5" name="Text 32"/>
          <p:cNvSpPr/>
          <p:nvPr/>
        </p:nvSpPr>
        <p:spPr>
          <a:xfrm>
            <a:off x="11963400" y="24669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2287250" y="244792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2 · 발송 안내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마스킹 t***@gmail.com 표시 + 재전송 60초 쿨다운</a:t>
            </a:r>
            <a:endParaRPr lang="en-US" sz="1425" dirty="0"/>
          </a:p>
        </p:txBody>
      </p:sp>
      <p:sp>
        <p:nvSpPr>
          <p:cNvPr id="37" name="Shape 34"/>
          <p:cNvSpPr/>
          <p:nvPr/>
        </p:nvSpPr>
        <p:spPr>
          <a:xfrm>
            <a:off x="12001500" y="28003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8" name="Text 35"/>
          <p:cNvSpPr/>
          <p:nvPr/>
        </p:nvSpPr>
        <p:spPr>
          <a:xfrm>
            <a:off x="11963400" y="28003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12287250" y="27813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 · 새 비밀번호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강도 검증 + 일치 검증. 기존 동일 시 거부</a:t>
            </a:r>
            <a:endParaRPr lang="en-US" sz="1425" dirty="0"/>
          </a:p>
        </p:txBody>
      </p:sp>
      <p:sp>
        <p:nvSpPr>
          <p:cNvPr id="40" name="Shape 37"/>
          <p:cNvSpPr/>
          <p:nvPr/>
        </p:nvSpPr>
        <p:spPr>
          <a:xfrm>
            <a:off x="12001500" y="3438525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1" name="Text 38"/>
          <p:cNvSpPr/>
          <p:nvPr/>
        </p:nvSpPr>
        <p:spPr>
          <a:xfrm>
            <a:off x="12001500" y="3152775"/>
            <a:ext cx="9603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/ 이탈</a:t>
            </a:r>
            <a:endParaRPr lang="en-US" sz="1650" dirty="0"/>
          </a:p>
        </p:txBody>
      </p:sp>
      <p:sp>
        <p:nvSpPr>
          <p:cNvPr id="42" name="Text 39"/>
          <p:cNvSpPr/>
          <p:nvPr/>
        </p:nvSpPr>
        <p:spPr>
          <a:xfrm>
            <a:off x="12980938" y="3228975"/>
            <a:ext cx="7868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Entry · Exit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12006263" y="3557588"/>
            <a:ext cx="1047750" cy="6000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2091988" y="3605213"/>
            <a:ext cx="9525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</a:t>
            </a:r>
            <a:endParaRPr lang="en-US" sz="1425" dirty="0"/>
          </a:p>
        </p:txBody>
      </p:sp>
      <p:sp>
        <p:nvSpPr>
          <p:cNvPr id="45" name="Shape 42"/>
          <p:cNvSpPr/>
          <p:nvPr/>
        </p:nvSpPr>
        <p:spPr>
          <a:xfrm>
            <a:off x="13054013" y="3557588"/>
            <a:ext cx="5000625" cy="6000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3179743" y="3600450"/>
            <a:ext cx="487013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 화면 "비밀번호 잊음"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메일 재설정 링크 (Step 3 직행)</a:t>
            </a:r>
            <a:endParaRPr lang="en-US" sz="1425" dirty="0"/>
          </a:p>
        </p:txBody>
      </p:sp>
      <p:sp>
        <p:nvSpPr>
          <p:cNvPr id="47" name="Shape 44"/>
          <p:cNvSpPr/>
          <p:nvPr/>
        </p:nvSpPr>
        <p:spPr>
          <a:xfrm>
            <a:off x="12006263" y="4157663"/>
            <a:ext cx="1047750" cy="6000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2091988" y="4205288"/>
            <a:ext cx="9525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/ 다음</a:t>
            </a:r>
            <a:endParaRPr lang="en-US" sz="1425" dirty="0"/>
          </a:p>
        </p:txBody>
      </p:sp>
      <p:sp>
        <p:nvSpPr>
          <p:cNvPr id="49" name="Shape 46"/>
          <p:cNvSpPr/>
          <p:nvPr/>
        </p:nvSpPr>
        <p:spPr>
          <a:xfrm>
            <a:off x="13054013" y="4157663"/>
            <a:ext cx="5000625" cy="6000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3179743" y="4200525"/>
            <a:ext cx="487013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Step 3 완료 → 06 로그인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 만료 → Step 1 재요청</a:t>
            </a:r>
            <a:endParaRPr lang="en-US" sz="1425" dirty="0"/>
          </a:p>
        </p:txBody>
      </p:sp>
      <p:sp>
        <p:nvSpPr>
          <p:cNvPr id="51" name="Shape 48"/>
          <p:cNvSpPr/>
          <p:nvPr/>
        </p:nvSpPr>
        <p:spPr>
          <a:xfrm>
            <a:off x="12001500" y="514350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2" name="Text 49"/>
          <p:cNvSpPr/>
          <p:nvPr/>
        </p:nvSpPr>
        <p:spPr>
          <a:xfrm>
            <a:off x="12001500" y="4857750"/>
            <a:ext cx="849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분기·규칙</a:t>
            </a:r>
            <a:endParaRPr lang="en-US" sz="1650" dirty="0"/>
          </a:p>
        </p:txBody>
      </p:sp>
      <p:sp>
        <p:nvSpPr>
          <p:cNvPr id="53" name="Text 50"/>
          <p:cNvSpPr/>
          <p:nvPr/>
        </p:nvSpPr>
        <p:spPr>
          <a:xfrm>
            <a:off x="12869912" y="4933950"/>
            <a:ext cx="4344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Rules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12006263" y="5262563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2091988" y="5310187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링크 유효 시간</a:t>
            </a:r>
            <a:endParaRPr lang="en-US" sz="1425" dirty="0"/>
          </a:p>
        </p:txBody>
      </p:sp>
      <p:sp>
        <p:nvSpPr>
          <p:cNvPr id="56" name="Shape 53"/>
          <p:cNvSpPr/>
          <p:nvPr/>
        </p:nvSpPr>
        <p:spPr>
          <a:xfrm>
            <a:off x="13054013" y="5262563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3139738" y="5310187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1시간 만료 · 중복 사용 불가</a:t>
            </a:r>
            <a:endParaRPr lang="en-US" sz="1425" dirty="0"/>
          </a:p>
        </p:txBody>
      </p:sp>
      <p:sp>
        <p:nvSpPr>
          <p:cNvPr id="58" name="Shape 55"/>
          <p:cNvSpPr/>
          <p:nvPr/>
        </p:nvSpPr>
        <p:spPr>
          <a:xfrm>
            <a:off x="12006263" y="5824538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12091988" y="5872163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SSO 전용 계정</a:t>
            </a:r>
            <a:endParaRPr lang="en-US" sz="1425" dirty="0"/>
          </a:p>
        </p:txBody>
      </p:sp>
      <p:sp>
        <p:nvSpPr>
          <p:cNvPr id="60" name="Shape 57"/>
          <p:cNvSpPr/>
          <p:nvPr/>
        </p:nvSpPr>
        <p:spPr>
          <a:xfrm>
            <a:off x="13054013" y="5824538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3139738" y="5872163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불가 + "카카오로 로그인" 안내</a:t>
            </a:r>
            <a:endParaRPr lang="en-US" sz="1425" dirty="0"/>
          </a:p>
        </p:txBody>
      </p:sp>
      <p:sp>
        <p:nvSpPr>
          <p:cNvPr id="62" name="Shape 59"/>
          <p:cNvSpPr/>
          <p:nvPr/>
        </p:nvSpPr>
        <p:spPr>
          <a:xfrm>
            <a:off x="12006263" y="6386513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2091988" y="6434138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비번 == 기존</a:t>
            </a:r>
            <a:endParaRPr lang="en-US" sz="1425" dirty="0"/>
          </a:p>
        </p:txBody>
      </p:sp>
      <p:sp>
        <p:nvSpPr>
          <p:cNvPr id="64" name="Shape 61"/>
          <p:cNvSpPr/>
          <p:nvPr/>
        </p:nvSpPr>
        <p:spPr>
          <a:xfrm>
            <a:off x="13054013" y="6386513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3139738" y="6434138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거부 + 다른 비밀번호 요청</a:t>
            </a:r>
            <a:endParaRPr lang="en-US" sz="1425" dirty="0"/>
          </a:p>
        </p:txBody>
      </p:sp>
      <p:sp>
        <p:nvSpPr>
          <p:cNvPr id="66" name="Shape 63"/>
          <p:cNvSpPr/>
          <p:nvPr/>
        </p:nvSpPr>
        <p:spPr>
          <a:xfrm>
            <a:off x="0" y="9944100"/>
            <a:ext cx="18288000" cy="3429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67" name="Shape 64"/>
          <p:cNvSpPr/>
          <p:nvPr/>
        </p:nvSpPr>
        <p:spPr>
          <a:xfrm>
            <a:off x="0" y="9944100"/>
            <a:ext cx="18288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68" name="Text 65"/>
          <p:cNvSpPr/>
          <p:nvPr/>
        </p:nvSpPr>
        <p:spPr>
          <a:xfrm>
            <a:off x="304800" y="10034588"/>
            <a:ext cx="46700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54" dirty="0">
                <a:solidFill>
                  <a:srgbClr val="798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· 화면설계서 v1.0 · #garim.kr/reset/[step]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14395400" y="10020300"/>
            <a:ext cx="369543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P07 · 비밀번호 재설정 · ref: Linear · 카카오 계정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228600" y="1343025"/>
            <a:ext cx="11582400" cy="8486775"/>
          </a:xfrm>
          <a:prstGeom prst="roundRect">
            <a:avLst>
              <a:gd name="adj" fmla="val 224"/>
            </a:avLst>
          </a:prstGeom>
          <a:solidFill>
            <a:srgbClr val="FFFFFF"/>
          </a:solidFill>
          <a:ln w="9525">
            <a:solidFill>
              <a:srgbClr val="B8BDC7"/>
            </a:solidFill>
            <a:prstDash val="solid"/>
          </a:ln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88" name="그림 87"/>
          <p:cNvPicPr>
            <a:picLocks noChangeAspect="1"/>
          </p:cNvPicPr>
          <p:nvPr/>
        </p:nvPicPr>
        <p:blipFill rotWithShape="1">
          <a:blip r:embed="rId3"/>
          <a:srcRect t="7195" b="26749"/>
          <a:stretch/>
        </p:blipFill>
        <p:spPr>
          <a:xfrm>
            <a:off x="673894" y="2076450"/>
            <a:ext cx="10991850" cy="6625389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876300"/>
            <a:ext cx="18288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00200" cy="91440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" name="Text 2"/>
          <p:cNvSpPr/>
          <p:nvPr/>
        </p:nvSpPr>
        <p:spPr>
          <a:xfrm>
            <a:off x="560636" y="147638"/>
            <a:ext cx="5549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216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5335" y="309563"/>
            <a:ext cx="6057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kern="0" spc="-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828800" y="152400"/>
            <a:ext cx="1283292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27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업로드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28800" y="561975"/>
            <a:ext cx="128329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File Upload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516546" y="0"/>
            <a:ext cx="9525" cy="914400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" name="Shape 7"/>
          <p:cNvSpPr/>
          <p:nvPr/>
        </p:nvSpPr>
        <p:spPr>
          <a:xfrm>
            <a:off x="14792771" y="304800"/>
            <a:ext cx="544116" cy="304800"/>
          </a:xfrm>
          <a:prstGeom prst="roundRect">
            <a:avLst>
              <a:gd name="adj" fmla="val 12500"/>
            </a:avLst>
          </a:prstGeom>
          <a:solidFill>
            <a:srgbClr val="455A64"/>
          </a:solidFill>
          <a:ln w="9525">
            <a:solidFill>
              <a:srgbClr val="455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16596" y="314325"/>
            <a:ext cx="37266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검출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432137" y="304800"/>
            <a:ext cx="831503" cy="304800"/>
          </a:xfrm>
          <a:prstGeom prst="roundRect">
            <a:avLst>
              <a:gd name="adj" fmla="val 12500"/>
            </a:avLst>
          </a:prstGeom>
          <a:solidFill>
            <a:srgbClr val="0288D1"/>
          </a:solidFill>
          <a:ln w="9525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55962" y="314325"/>
            <a:ext cx="6600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6358890" y="314325"/>
            <a:ext cx="166241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473190" y="314325"/>
            <a:ext cx="1510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2026.05.14 · v1.0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8600" y="1066800"/>
            <a:ext cx="2028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와이어 / Hi-Fi Mockup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106918" y="1066800"/>
            <a:ext cx="166598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garim.kr/upload</a:t>
            </a:r>
            <a:endParaRPr lang="en-US" sz="1350" dirty="0"/>
          </a:p>
        </p:txBody>
      </p:sp>
      <p:grpSp>
        <p:nvGrpSpPr>
          <p:cNvPr id="89" name="그룹 88"/>
          <p:cNvGrpSpPr/>
          <p:nvPr/>
        </p:nvGrpSpPr>
        <p:grpSpPr>
          <a:xfrm>
            <a:off x="2957764" y="4502818"/>
            <a:ext cx="381000" cy="361950"/>
            <a:chOff x="5829300" y="3043982"/>
            <a:chExt cx="381000" cy="361950"/>
          </a:xfrm>
        </p:grpSpPr>
        <p:sp>
          <p:nvSpPr>
            <p:cNvPr id="19" name="Shape 16"/>
            <p:cNvSpPr/>
            <p:nvPr/>
          </p:nvSpPr>
          <p:spPr>
            <a:xfrm>
              <a:off x="5848350" y="3043982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0" name="Text 17"/>
            <p:cNvSpPr/>
            <p:nvPr/>
          </p:nvSpPr>
          <p:spPr>
            <a:xfrm>
              <a:off x="5829300" y="3063032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</a:t>
              </a:r>
              <a:endParaRPr lang="en-US" sz="1350" dirty="0"/>
            </a:p>
          </p:txBody>
        </p:sp>
      </p:grpSp>
      <p:grpSp>
        <p:nvGrpSpPr>
          <p:cNvPr id="90" name="그룹 89"/>
          <p:cNvGrpSpPr/>
          <p:nvPr/>
        </p:nvGrpSpPr>
        <p:grpSpPr>
          <a:xfrm>
            <a:off x="2257276" y="6018295"/>
            <a:ext cx="381000" cy="361950"/>
            <a:chOff x="5829300" y="5922913"/>
            <a:chExt cx="381000" cy="361950"/>
          </a:xfrm>
        </p:grpSpPr>
        <p:sp>
          <p:nvSpPr>
            <p:cNvPr id="21" name="Shape 18"/>
            <p:cNvSpPr/>
            <p:nvPr/>
          </p:nvSpPr>
          <p:spPr>
            <a:xfrm>
              <a:off x="5848350" y="5922913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2" name="Text 19"/>
            <p:cNvSpPr/>
            <p:nvPr/>
          </p:nvSpPr>
          <p:spPr>
            <a:xfrm>
              <a:off x="5829300" y="5941963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2</a:t>
              </a:r>
              <a:endParaRPr lang="en-US" sz="1350" dirty="0"/>
            </a:p>
          </p:txBody>
        </p:sp>
      </p:grpSp>
      <p:grpSp>
        <p:nvGrpSpPr>
          <p:cNvPr id="91" name="그룹 90"/>
          <p:cNvGrpSpPr/>
          <p:nvPr/>
        </p:nvGrpSpPr>
        <p:grpSpPr>
          <a:xfrm>
            <a:off x="9501939" y="5837320"/>
            <a:ext cx="381000" cy="361950"/>
            <a:chOff x="9298186" y="3043982"/>
            <a:chExt cx="381000" cy="361950"/>
          </a:xfrm>
        </p:grpSpPr>
        <p:sp>
          <p:nvSpPr>
            <p:cNvPr id="23" name="Shape 20"/>
            <p:cNvSpPr/>
            <p:nvPr/>
          </p:nvSpPr>
          <p:spPr>
            <a:xfrm>
              <a:off x="9317236" y="3043982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4" name="Text 21"/>
            <p:cNvSpPr/>
            <p:nvPr/>
          </p:nvSpPr>
          <p:spPr>
            <a:xfrm>
              <a:off x="9298186" y="3063032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3</a:t>
              </a:r>
              <a:endParaRPr lang="en-US" sz="1350" dirty="0"/>
            </a:p>
          </p:txBody>
        </p:sp>
      </p:grpSp>
      <p:grpSp>
        <p:nvGrpSpPr>
          <p:cNvPr id="92" name="그룹 91"/>
          <p:cNvGrpSpPr/>
          <p:nvPr/>
        </p:nvGrpSpPr>
        <p:grpSpPr>
          <a:xfrm>
            <a:off x="4463334" y="6766510"/>
            <a:ext cx="381000" cy="361950"/>
            <a:chOff x="5829300" y="8463260"/>
            <a:chExt cx="381000" cy="361950"/>
          </a:xfrm>
        </p:grpSpPr>
        <p:sp>
          <p:nvSpPr>
            <p:cNvPr id="25" name="Shape 22"/>
            <p:cNvSpPr/>
            <p:nvPr/>
          </p:nvSpPr>
          <p:spPr>
            <a:xfrm>
              <a:off x="5848350" y="8463260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6" name="Text 23"/>
            <p:cNvSpPr/>
            <p:nvPr/>
          </p:nvSpPr>
          <p:spPr>
            <a:xfrm>
              <a:off x="5829300" y="8482310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4</a:t>
              </a:r>
              <a:endParaRPr lang="en-US" sz="1350" dirty="0"/>
            </a:p>
          </p:txBody>
        </p:sp>
      </p:grpSp>
      <p:sp>
        <p:nvSpPr>
          <p:cNvPr id="27" name="Shape 24"/>
          <p:cNvSpPr/>
          <p:nvPr/>
        </p:nvSpPr>
        <p:spPr>
          <a:xfrm>
            <a:off x="12001500" y="13144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28" name="Text 25"/>
          <p:cNvSpPr/>
          <p:nvPr/>
        </p:nvSpPr>
        <p:spPr>
          <a:xfrm>
            <a:off x="12001500" y="1028700"/>
            <a:ext cx="12997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· 컴포넌트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3320266" y="1104900"/>
            <a:ext cx="15653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Purpose · Components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2001500" y="1428750"/>
            <a:ext cx="623963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검출 대상 파일을 부담 없이 빠르게 업로드. 진입 마찰 최소화</a:t>
            </a:r>
            <a:endParaRPr lang="en-US" sz="1650" dirty="0"/>
          </a:p>
        </p:txBody>
      </p:sp>
      <p:sp>
        <p:nvSpPr>
          <p:cNvPr id="31" name="Shape 28"/>
          <p:cNvSpPr/>
          <p:nvPr/>
        </p:nvSpPr>
        <p:spPr>
          <a:xfrm>
            <a:off x="12001500" y="214312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2" name="Shape 29"/>
          <p:cNvSpPr/>
          <p:nvPr/>
        </p:nvSpPr>
        <p:spPr>
          <a:xfrm>
            <a:off x="12001500" y="18859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3" name="Text 30"/>
          <p:cNvSpPr/>
          <p:nvPr/>
        </p:nvSpPr>
        <p:spPr>
          <a:xfrm>
            <a:off x="11963400" y="18859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2287250" y="18669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드래그 앤 드롭 zone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큰 표적. "파일 선택" 버튼 + "샘플로 체험" 보조</a:t>
            </a:r>
            <a:endParaRPr lang="en-US" sz="1425" dirty="0"/>
          </a:p>
        </p:txBody>
      </p:sp>
      <p:sp>
        <p:nvSpPr>
          <p:cNvPr id="35" name="Shape 32"/>
          <p:cNvSpPr/>
          <p:nvPr/>
        </p:nvSpPr>
        <p:spPr>
          <a:xfrm>
            <a:off x="12001500" y="247650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6" name="Shape 33"/>
          <p:cNvSpPr/>
          <p:nvPr/>
        </p:nvSpPr>
        <p:spPr>
          <a:xfrm>
            <a:off x="12001500" y="221932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7" name="Text 34"/>
          <p:cNvSpPr/>
          <p:nvPr/>
        </p:nvSpPr>
        <p:spPr>
          <a:xfrm>
            <a:off x="11963400" y="221932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2287250" y="220027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지원 포맷 카드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영상 5종 · 이미지 5종 · 오디오 4종. 한도 명시</a:t>
            </a:r>
            <a:endParaRPr lang="en-US" sz="1425" dirty="0"/>
          </a:p>
        </p:txBody>
      </p:sp>
      <p:sp>
        <p:nvSpPr>
          <p:cNvPr id="39" name="Shape 36"/>
          <p:cNvSpPr/>
          <p:nvPr/>
        </p:nvSpPr>
        <p:spPr>
          <a:xfrm>
            <a:off x="12001500" y="280987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0" name="Shape 37"/>
          <p:cNvSpPr/>
          <p:nvPr/>
        </p:nvSpPr>
        <p:spPr>
          <a:xfrm>
            <a:off x="12001500" y="255270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1" name="Text 38"/>
          <p:cNvSpPr/>
          <p:nvPr/>
        </p:nvSpPr>
        <p:spPr>
          <a:xfrm>
            <a:off x="11963400" y="255270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2287250" y="253365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큐 우선순위 안내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Free = 낮음 + Pro 업그레이드 (v1 정식)</a:t>
            </a:r>
            <a:endParaRPr lang="en-US" sz="1425" dirty="0"/>
          </a:p>
        </p:txBody>
      </p:sp>
      <p:sp>
        <p:nvSpPr>
          <p:cNvPr id="43" name="Shape 40"/>
          <p:cNvSpPr/>
          <p:nvPr/>
        </p:nvSpPr>
        <p:spPr>
          <a:xfrm>
            <a:off x="12001500" y="28860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4" name="Text 41"/>
          <p:cNvSpPr/>
          <p:nvPr/>
        </p:nvSpPr>
        <p:spPr>
          <a:xfrm>
            <a:off x="11963400" y="28860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2287250" y="286702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 진행률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청크 업로드. 네트워크 끊김 자동 재시도 3회</a:t>
            </a:r>
            <a:endParaRPr lang="en-US" sz="1425" dirty="0"/>
          </a:p>
        </p:txBody>
      </p:sp>
      <p:sp>
        <p:nvSpPr>
          <p:cNvPr id="46" name="Shape 43"/>
          <p:cNvSpPr/>
          <p:nvPr/>
        </p:nvSpPr>
        <p:spPr>
          <a:xfrm>
            <a:off x="12001500" y="35242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7" name="Text 44"/>
          <p:cNvSpPr/>
          <p:nvPr/>
        </p:nvSpPr>
        <p:spPr>
          <a:xfrm>
            <a:off x="12001500" y="3238500"/>
            <a:ext cx="9603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/ 이탈</a:t>
            </a:r>
            <a:endParaRPr lang="en-US" sz="1650" dirty="0"/>
          </a:p>
        </p:txBody>
      </p:sp>
      <p:sp>
        <p:nvSpPr>
          <p:cNvPr id="48" name="Text 45"/>
          <p:cNvSpPr/>
          <p:nvPr/>
        </p:nvSpPr>
        <p:spPr>
          <a:xfrm>
            <a:off x="12980938" y="3314700"/>
            <a:ext cx="7868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Entry · Exit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12006263" y="3643313"/>
            <a:ext cx="1047750" cy="6000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2091988" y="3690937"/>
            <a:ext cx="9525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</a:t>
            </a:r>
            <a:endParaRPr lang="en-US" sz="1425" dirty="0"/>
          </a:p>
        </p:txBody>
      </p:sp>
      <p:sp>
        <p:nvSpPr>
          <p:cNvPr id="51" name="Shape 48"/>
          <p:cNvSpPr/>
          <p:nvPr/>
        </p:nvSpPr>
        <p:spPr>
          <a:xfrm>
            <a:off x="13054013" y="3643313"/>
            <a:ext cx="5000625" cy="6000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3179743" y="3686175"/>
            <a:ext cx="487013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랜딩/대시보드 "새 검출"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재방문 시 19 대시보드 Primary</a:t>
            </a:r>
            <a:endParaRPr lang="en-US" sz="1425" dirty="0"/>
          </a:p>
        </p:txBody>
      </p:sp>
      <p:sp>
        <p:nvSpPr>
          <p:cNvPr id="53" name="Shape 50"/>
          <p:cNvSpPr/>
          <p:nvPr/>
        </p:nvSpPr>
        <p:spPr>
          <a:xfrm>
            <a:off x="12006263" y="4243388"/>
            <a:ext cx="1047750" cy="6000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2091988" y="4291013"/>
            <a:ext cx="9525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/ 다음</a:t>
            </a:r>
            <a:endParaRPr lang="en-US" sz="1425" dirty="0"/>
          </a:p>
        </p:txBody>
      </p:sp>
      <p:sp>
        <p:nvSpPr>
          <p:cNvPr id="55" name="Shape 52"/>
          <p:cNvSpPr/>
          <p:nvPr/>
        </p:nvSpPr>
        <p:spPr>
          <a:xfrm>
            <a:off x="13054013" y="4243388"/>
            <a:ext cx="5000625" cy="6000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3179743" y="4286250"/>
            <a:ext cx="487013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 완료 → 09 분석 진행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비로그인 → 가입 모달</a:t>
            </a:r>
            <a:endParaRPr lang="en-US" sz="1425" dirty="0"/>
          </a:p>
        </p:txBody>
      </p:sp>
      <p:sp>
        <p:nvSpPr>
          <p:cNvPr id="57" name="Shape 54"/>
          <p:cNvSpPr/>
          <p:nvPr/>
        </p:nvSpPr>
        <p:spPr>
          <a:xfrm>
            <a:off x="12001500" y="5229225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8" name="Text 55"/>
          <p:cNvSpPr/>
          <p:nvPr/>
        </p:nvSpPr>
        <p:spPr>
          <a:xfrm>
            <a:off x="12001500" y="4943475"/>
            <a:ext cx="849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분기·규칙</a:t>
            </a:r>
            <a:endParaRPr lang="en-US" sz="1650" dirty="0"/>
          </a:p>
        </p:txBody>
      </p:sp>
      <p:sp>
        <p:nvSpPr>
          <p:cNvPr id="59" name="Text 56"/>
          <p:cNvSpPr/>
          <p:nvPr/>
        </p:nvSpPr>
        <p:spPr>
          <a:xfrm>
            <a:off x="12869912" y="5019675"/>
            <a:ext cx="4344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Rules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12006263" y="5348288"/>
            <a:ext cx="1047750" cy="80010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2091988" y="5395912"/>
            <a:ext cx="9525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포맷 미지원·크기·길이·해상도 초과</a:t>
            </a:r>
            <a:endParaRPr lang="en-US" sz="1425" dirty="0"/>
          </a:p>
        </p:txBody>
      </p:sp>
      <p:sp>
        <p:nvSpPr>
          <p:cNvPr id="62" name="Shape 59"/>
          <p:cNvSpPr/>
          <p:nvPr/>
        </p:nvSpPr>
        <p:spPr>
          <a:xfrm>
            <a:off x="13054013" y="5348288"/>
            <a:ext cx="5000625" cy="80010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3139738" y="5395912"/>
            <a:ext cx="4979194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구체 사유 + 권장 조치 안내</a:t>
            </a:r>
            <a:endParaRPr lang="en-US" sz="1425" dirty="0"/>
          </a:p>
        </p:txBody>
      </p:sp>
      <p:sp>
        <p:nvSpPr>
          <p:cNvPr id="64" name="Shape 61"/>
          <p:cNvSpPr/>
          <p:nvPr/>
        </p:nvSpPr>
        <p:spPr>
          <a:xfrm>
            <a:off x="12006263" y="6148388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2091988" y="6196012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거부 콘텐츠 감지 (B-3)</a:t>
            </a:r>
            <a:endParaRPr lang="en-US" sz="1425" dirty="0"/>
          </a:p>
        </p:txBody>
      </p:sp>
      <p:sp>
        <p:nvSpPr>
          <p:cNvPr id="66" name="Shape 63"/>
          <p:cNvSpPr/>
          <p:nvPr/>
        </p:nvSpPr>
        <p:spPr>
          <a:xfrm>
            <a:off x="13054013" y="6148388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3139738" y="6196012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거부 + 컴플라이언스 로그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12006263" y="6710363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2091988" y="6757988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 Rate limit 초과</a:t>
            </a:r>
            <a:endParaRPr lang="en-US" sz="1425" dirty="0"/>
          </a:p>
        </p:txBody>
      </p:sp>
      <p:sp>
        <p:nvSpPr>
          <p:cNvPr id="70" name="Shape 67"/>
          <p:cNvSpPr/>
          <p:nvPr/>
        </p:nvSpPr>
        <p:spPr>
          <a:xfrm>
            <a:off x="13054013" y="6710363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3139738" y="6757988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60초 쿨다운</a:t>
            </a:r>
            <a:endParaRPr lang="en-US" sz="1425" dirty="0"/>
          </a:p>
        </p:txBody>
      </p:sp>
      <p:sp>
        <p:nvSpPr>
          <p:cNvPr id="72" name="Shape 69"/>
          <p:cNvSpPr/>
          <p:nvPr/>
        </p:nvSpPr>
        <p:spPr>
          <a:xfrm>
            <a:off x="12006263" y="7272338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2091988" y="7319963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사양 · 영상</a:t>
            </a:r>
            <a:endParaRPr lang="en-US" sz="1425" dirty="0"/>
          </a:p>
        </p:txBody>
      </p:sp>
      <p:sp>
        <p:nvSpPr>
          <p:cNvPr id="74" name="Shape 71"/>
          <p:cNvSpPr/>
          <p:nvPr/>
        </p:nvSpPr>
        <p:spPr>
          <a:xfrm>
            <a:off x="13054013" y="7272338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3139738" y="7319963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MP4·MOV·AVI·MKV·WebM · 1080p · 2GB · 30분</a:t>
            </a:r>
            <a:endParaRPr lang="en-US" sz="1425" dirty="0"/>
          </a:p>
        </p:txBody>
      </p:sp>
      <p:sp>
        <p:nvSpPr>
          <p:cNvPr id="76" name="Shape 73"/>
          <p:cNvSpPr/>
          <p:nvPr/>
        </p:nvSpPr>
        <p:spPr>
          <a:xfrm>
            <a:off x="12006263" y="7596187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12091988" y="7643813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사양 · 이미지</a:t>
            </a:r>
            <a:endParaRPr lang="en-US" sz="1425" dirty="0"/>
          </a:p>
        </p:txBody>
      </p:sp>
      <p:sp>
        <p:nvSpPr>
          <p:cNvPr id="78" name="Shape 75"/>
          <p:cNvSpPr/>
          <p:nvPr/>
        </p:nvSpPr>
        <p:spPr>
          <a:xfrm>
            <a:off x="13054013" y="7596187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13139738" y="7643813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JPG·PNG·HEIC·WebP·GIF · 50MB</a:t>
            </a:r>
            <a:endParaRPr lang="en-US" sz="1425" dirty="0"/>
          </a:p>
        </p:txBody>
      </p:sp>
      <p:sp>
        <p:nvSpPr>
          <p:cNvPr id="80" name="Shape 77"/>
          <p:cNvSpPr/>
          <p:nvPr/>
        </p:nvSpPr>
        <p:spPr>
          <a:xfrm>
            <a:off x="12006263" y="8158163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12091988" y="8205788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사양 · 오디오</a:t>
            </a:r>
            <a:endParaRPr lang="en-US" sz="1425" dirty="0"/>
          </a:p>
        </p:txBody>
      </p:sp>
      <p:sp>
        <p:nvSpPr>
          <p:cNvPr id="82" name="Shape 79"/>
          <p:cNvSpPr/>
          <p:nvPr/>
        </p:nvSpPr>
        <p:spPr>
          <a:xfrm>
            <a:off x="13054013" y="8158163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13139738" y="8205788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MP3·WAV·M4A·AAC · 200MB · 60분</a:t>
            </a:r>
            <a:endParaRPr lang="en-US" sz="1425" dirty="0"/>
          </a:p>
        </p:txBody>
      </p:sp>
      <p:sp>
        <p:nvSpPr>
          <p:cNvPr id="84" name="Shape 81"/>
          <p:cNvSpPr/>
          <p:nvPr/>
        </p:nvSpPr>
        <p:spPr>
          <a:xfrm>
            <a:off x="0" y="9944100"/>
            <a:ext cx="18288000" cy="3429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85" name="Shape 82"/>
          <p:cNvSpPr/>
          <p:nvPr/>
        </p:nvSpPr>
        <p:spPr>
          <a:xfrm>
            <a:off x="0" y="9944100"/>
            <a:ext cx="18288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86" name="Text 83"/>
          <p:cNvSpPr/>
          <p:nvPr/>
        </p:nvSpPr>
        <p:spPr>
          <a:xfrm>
            <a:off x="304800" y="10034588"/>
            <a:ext cx="404540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54" dirty="0">
                <a:solidFill>
                  <a:srgbClr val="798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· 화면설계서 v1.0 · #garim.kr/upload</a:t>
            </a:r>
            <a:endParaRPr lang="en-US" sz="1200" dirty="0"/>
          </a:p>
        </p:txBody>
      </p:sp>
      <p:sp>
        <p:nvSpPr>
          <p:cNvPr id="87" name="Text 84"/>
          <p:cNvSpPr/>
          <p:nvPr/>
        </p:nvSpPr>
        <p:spPr>
          <a:xfrm>
            <a:off x="14553605" y="10020300"/>
            <a:ext cx="353248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P08 · 파일 업로드 · ref: Vimeo · Loom 업로드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228600" y="1343025"/>
            <a:ext cx="11582400" cy="8486775"/>
          </a:xfrm>
          <a:prstGeom prst="roundRect">
            <a:avLst>
              <a:gd name="adj" fmla="val 224"/>
            </a:avLst>
          </a:prstGeom>
          <a:solidFill>
            <a:srgbClr val="FFFFFF"/>
          </a:solidFill>
          <a:ln w="9525">
            <a:solidFill>
              <a:srgbClr val="B8BDC7"/>
            </a:solidFill>
            <a:prstDash val="solid"/>
          </a:ln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84" name="그림 83"/>
          <p:cNvPicPr>
            <a:picLocks noChangeAspect="1"/>
          </p:cNvPicPr>
          <p:nvPr/>
        </p:nvPicPr>
        <p:blipFill rotWithShape="1">
          <a:blip r:embed="rId3"/>
          <a:srcRect t="8069" b="23292"/>
          <a:stretch/>
        </p:blipFill>
        <p:spPr>
          <a:xfrm>
            <a:off x="535335" y="1862137"/>
            <a:ext cx="10991850" cy="7106653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876300"/>
            <a:ext cx="18288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00200" cy="91440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" name="Text 2"/>
          <p:cNvSpPr/>
          <p:nvPr/>
        </p:nvSpPr>
        <p:spPr>
          <a:xfrm>
            <a:off x="560636" y="147638"/>
            <a:ext cx="5549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216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5335" y="309563"/>
            <a:ext cx="6057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kern="0" spc="-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828800" y="152400"/>
            <a:ext cx="1283292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27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처리 진행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28800" y="561975"/>
            <a:ext cx="128329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Analysis Progress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516546" y="0"/>
            <a:ext cx="9525" cy="914400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" name="Shape 7"/>
          <p:cNvSpPr/>
          <p:nvPr/>
        </p:nvSpPr>
        <p:spPr>
          <a:xfrm>
            <a:off x="14792771" y="304800"/>
            <a:ext cx="544116" cy="304800"/>
          </a:xfrm>
          <a:prstGeom prst="roundRect">
            <a:avLst>
              <a:gd name="adj" fmla="val 12500"/>
            </a:avLst>
          </a:prstGeom>
          <a:solidFill>
            <a:srgbClr val="455A64"/>
          </a:solidFill>
          <a:ln w="9525">
            <a:solidFill>
              <a:srgbClr val="455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16596" y="314325"/>
            <a:ext cx="37266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검출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432137" y="304800"/>
            <a:ext cx="831503" cy="304800"/>
          </a:xfrm>
          <a:prstGeom prst="roundRect">
            <a:avLst>
              <a:gd name="adj" fmla="val 12500"/>
            </a:avLst>
          </a:prstGeom>
          <a:solidFill>
            <a:srgbClr val="0288D1"/>
          </a:solidFill>
          <a:ln w="9525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55962" y="314325"/>
            <a:ext cx="6600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6358890" y="314325"/>
            <a:ext cx="166241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473190" y="314325"/>
            <a:ext cx="1510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2026.05.14 · v1.0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8600" y="1066800"/>
            <a:ext cx="2028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와이어 / Hi-Fi Mockup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835033" y="1066800"/>
            <a:ext cx="29475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garim.kr/jobs/[id]/progress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2841873" y="2535882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2822823" y="2554932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50" dirty="0"/>
          </a:p>
        </p:txBody>
      </p:sp>
      <p:grpSp>
        <p:nvGrpSpPr>
          <p:cNvPr id="85" name="그룹 84"/>
          <p:cNvGrpSpPr/>
          <p:nvPr/>
        </p:nvGrpSpPr>
        <p:grpSpPr>
          <a:xfrm>
            <a:off x="1040630" y="4757737"/>
            <a:ext cx="381000" cy="361950"/>
            <a:chOff x="6985546" y="3890665"/>
            <a:chExt cx="381000" cy="361950"/>
          </a:xfrm>
        </p:grpSpPr>
        <p:sp>
          <p:nvSpPr>
            <p:cNvPr id="21" name="Shape 18"/>
            <p:cNvSpPr/>
            <p:nvPr/>
          </p:nvSpPr>
          <p:spPr>
            <a:xfrm>
              <a:off x="7004596" y="3890665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2" name="Text 19"/>
            <p:cNvSpPr/>
            <p:nvPr/>
          </p:nvSpPr>
          <p:spPr>
            <a:xfrm>
              <a:off x="6985546" y="3909715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2</a:t>
              </a:r>
              <a:endParaRPr lang="en-US" sz="1350" dirty="0"/>
            </a:p>
          </p:txBody>
        </p:sp>
      </p:grpSp>
      <p:grpSp>
        <p:nvGrpSpPr>
          <p:cNvPr id="86" name="그룹 85"/>
          <p:cNvGrpSpPr/>
          <p:nvPr/>
        </p:nvGrpSpPr>
        <p:grpSpPr>
          <a:xfrm>
            <a:off x="950565" y="7530014"/>
            <a:ext cx="381000" cy="361950"/>
            <a:chOff x="6985546" y="6600379"/>
            <a:chExt cx="381000" cy="361950"/>
          </a:xfrm>
        </p:grpSpPr>
        <p:sp>
          <p:nvSpPr>
            <p:cNvPr id="23" name="Shape 20"/>
            <p:cNvSpPr/>
            <p:nvPr/>
          </p:nvSpPr>
          <p:spPr>
            <a:xfrm>
              <a:off x="7004596" y="6600379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4" name="Text 21"/>
            <p:cNvSpPr/>
            <p:nvPr/>
          </p:nvSpPr>
          <p:spPr>
            <a:xfrm>
              <a:off x="6985546" y="6619429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3</a:t>
              </a:r>
              <a:endParaRPr lang="en-US" sz="1350" dirty="0"/>
            </a:p>
          </p:txBody>
        </p:sp>
      </p:grpSp>
      <p:grpSp>
        <p:nvGrpSpPr>
          <p:cNvPr id="87" name="그룹 86"/>
          <p:cNvGrpSpPr/>
          <p:nvPr/>
        </p:nvGrpSpPr>
        <p:grpSpPr>
          <a:xfrm>
            <a:off x="2511788" y="8543925"/>
            <a:ext cx="381000" cy="361950"/>
            <a:chOff x="9298186" y="8632627"/>
            <a:chExt cx="381000" cy="361950"/>
          </a:xfrm>
        </p:grpSpPr>
        <p:sp>
          <p:nvSpPr>
            <p:cNvPr id="25" name="Shape 22"/>
            <p:cNvSpPr/>
            <p:nvPr/>
          </p:nvSpPr>
          <p:spPr>
            <a:xfrm>
              <a:off x="9317236" y="8632627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6" name="Text 23"/>
            <p:cNvSpPr/>
            <p:nvPr/>
          </p:nvSpPr>
          <p:spPr>
            <a:xfrm>
              <a:off x="9298186" y="8651677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4</a:t>
              </a:r>
              <a:endParaRPr lang="en-US" sz="1350" dirty="0"/>
            </a:p>
          </p:txBody>
        </p:sp>
      </p:grpSp>
      <p:sp>
        <p:nvSpPr>
          <p:cNvPr id="27" name="Shape 24"/>
          <p:cNvSpPr/>
          <p:nvPr/>
        </p:nvSpPr>
        <p:spPr>
          <a:xfrm>
            <a:off x="12001500" y="13144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28" name="Text 25"/>
          <p:cNvSpPr/>
          <p:nvPr/>
        </p:nvSpPr>
        <p:spPr>
          <a:xfrm>
            <a:off x="12001500" y="1028700"/>
            <a:ext cx="12997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· 컴포넌트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3320266" y="1104900"/>
            <a:ext cx="15653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Purpose · Components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2001500" y="1428750"/>
            <a:ext cx="623963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중임을 명확히 전달, 대기 시간을 견디게 함</a:t>
            </a:r>
            <a:endParaRPr lang="en-US" sz="1650" dirty="0"/>
          </a:p>
        </p:txBody>
      </p:sp>
      <p:sp>
        <p:nvSpPr>
          <p:cNvPr id="31" name="Shape 28"/>
          <p:cNvSpPr/>
          <p:nvPr/>
        </p:nvSpPr>
        <p:spPr>
          <a:xfrm>
            <a:off x="12001500" y="214312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2" name="Shape 29"/>
          <p:cNvSpPr/>
          <p:nvPr/>
        </p:nvSpPr>
        <p:spPr>
          <a:xfrm>
            <a:off x="12001500" y="18859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3" name="Text 30"/>
          <p:cNvSpPr/>
          <p:nvPr/>
        </p:nvSpPr>
        <p:spPr>
          <a:xfrm>
            <a:off x="11963400" y="18859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2287250" y="18669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정보 카드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썸네일·파일명·길이·크기·시작 시각</a:t>
            </a:r>
            <a:endParaRPr lang="en-US" sz="1425" dirty="0"/>
          </a:p>
        </p:txBody>
      </p:sp>
      <p:sp>
        <p:nvSpPr>
          <p:cNvPr id="35" name="Shape 32"/>
          <p:cNvSpPr/>
          <p:nvPr/>
        </p:nvSpPr>
        <p:spPr>
          <a:xfrm>
            <a:off x="12001500" y="247650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6" name="Shape 33"/>
          <p:cNvSpPr/>
          <p:nvPr/>
        </p:nvSpPr>
        <p:spPr>
          <a:xfrm>
            <a:off x="12001500" y="221932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7" name="Text 34"/>
          <p:cNvSpPr/>
          <p:nvPr/>
        </p:nvSpPr>
        <p:spPr>
          <a:xfrm>
            <a:off x="11963400" y="221932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2287250" y="220027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5단계 stepper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업로드 완료 → 큐 → 시각 검출 → 음성 검출 → 리포트 생성</a:t>
            </a:r>
            <a:endParaRPr lang="en-US" sz="1425" dirty="0"/>
          </a:p>
        </p:txBody>
      </p:sp>
      <p:sp>
        <p:nvSpPr>
          <p:cNvPr id="39" name="Shape 36"/>
          <p:cNvSpPr/>
          <p:nvPr/>
        </p:nvSpPr>
        <p:spPr>
          <a:xfrm>
            <a:off x="12001500" y="280987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0" name="Shape 37"/>
          <p:cNvSpPr/>
          <p:nvPr/>
        </p:nvSpPr>
        <p:spPr>
          <a:xfrm>
            <a:off x="12001500" y="255270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1" name="Text 38"/>
          <p:cNvSpPr/>
          <p:nvPr/>
        </p:nvSpPr>
        <p:spPr>
          <a:xfrm>
            <a:off x="11963400" y="255270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2287250" y="253365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진행률 + 예상 시간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단계별 % + 남은 시간. Free는 "내 앞 N명" 큐 위치</a:t>
            </a:r>
            <a:endParaRPr lang="en-US" sz="1425" dirty="0"/>
          </a:p>
        </p:txBody>
      </p:sp>
      <p:sp>
        <p:nvSpPr>
          <p:cNvPr id="43" name="Shape 40"/>
          <p:cNvSpPr/>
          <p:nvPr/>
        </p:nvSpPr>
        <p:spPr>
          <a:xfrm>
            <a:off x="12001500" y="28860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4" name="Text 41"/>
          <p:cNvSpPr/>
          <p:nvPr/>
        </p:nvSpPr>
        <p:spPr>
          <a:xfrm>
            <a:off x="11963400" y="28860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2287250" y="2867025"/>
            <a:ext cx="594531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백그라운드 처리 / 취소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이탈 시 이메일·푸시 알림. 취소는 환불 절차와 연계 (v1 정식)</a:t>
            </a:r>
            <a:endParaRPr lang="en-US" sz="1425" dirty="0"/>
          </a:p>
        </p:txBody>
      </p:sp>
      <p:sp>
        <p:nvSpPr>
          <p:cNvPr id="46" name="Shape 43"/>
          <p:cNvSpPr/>
          <p:nvPr/>
        </p:nvSpPr>
        <p:spPr>
          <a:xfrm>
            <a:off x="12001500" y="377190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7" name="Text 44"/>
          <p:cNvSpPr/>
          <p:nvPr/>
        </p:nvSpPr>
        <p:spPr>
          <a:xfrm>
            <a:off x="12001500" y="3486150"/>
            <a:ext cx="9603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/ 이탈</a:t>
            </a:r>
            <a:endParaRPr lang="en-US" sz="1650" dirty="0"/>
          </a:p>
        </p:txBody>
      </p:sp>
      <p:sp>
        <p:nvSpPr>
          <p:cNvPr id="48" name="Text 45"/>
          <p:cNvSpPr/>
          <p:nvPr/>
        </p:nvSpPr>
        <p:spPr>
          <a:xfrm>
            <a:off x="12980938" y="3562350"/>
            <a:ext cx="7868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Entry · Exit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12006263" y="3890962"/>
            <a:ext cx="1047750" cy="6000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2091988" y="3938587"/>
            <a:ext cx="9525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</a:t>
            </a:r>
            <a:endParaRPr lang="en-US" sz="1425" dirty="0"/>
          </a:p>
        </p:txBody>
      </p:sp>
      <p:sp>
        <p:nvSpPr>
          <p:cNvPr id="51" name="Shape 48"/>
          <p:cNvSpPr/>
          <p:nvPr/>
        </p:nvSpPr>
        <p:spPr>
          <a:xfrm>
            <a:off x="13054013" y="3890962"/>
            <a:ext cx="5000625" cy="6000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3179743" y="3933825"/>
            <a:ext cx="487013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업로드 완료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 "진행 중" 카드 클릭</a:t>
            </a:r>
            <a:endParaRPr lang="en-US" sz="1425" dirty="0"/>
          </a:p>
        </p:txBody>
      </p:sp>
      <p:sp>
        <p:nvSpPr>
          <p:cNvPr id="53" name="Shape 50"/>
          <p:cNvSpPr/>
          <p:nvPr/>
        </p:nvSpPr>
        <p:spPr>
          <a:xfrm>
            <a:off x="12006263" y="4491038"/>
            <a:ext cx="1047750" cy="6000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2091988" y="4538662"/>
            <a:ext cx="9525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/ 다음</a:t>
            </a:r>
            <a:endParaRPr lang="en-US" sz="1425" dirty="0"/>
          </a:p>
        </p:txBody>
      </p:sp>
      <p:sp>
        <p:nvSpPr>
          <p:cNvPr id="55" name="Shape 52"/>
          <p:cNvSpPr/>
          <p:nvPr/>
        </p:nvSpPr>
        <p:spPr>
          <a:xfrm>
            <a:off x="13054013" y="4491038"/>
            <a:ext cx="5000625" cy="6000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3179743" y="4533900"/>
            <a:ext cx="487013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→ 10 분석 리포트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취소 → 19 대시보드</a:t>
            </a:r>
            <a:endParaRPr lang="en-US" sz="1425" dirty="0"/>
          </a:p>
        </p:txBody>
      </p:sp>
      <p:sp>
        <p:nvSpPr>
          <p:cNvPr id="57" name="Shape 54"/>
          <p:cNvSpPr/>
          <p:nvPr/>
        </p:nvSpPr>
        <p:spPr>
          <a:xfrm>
            <a:off x="12001500" y="5476875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8" name="Text 55"/>
          <p:cNvSpPr/>
          <p:nvPr/>
        </p:nvSpPr>
        <p:spPr>
          <a:xfrm>
            <a:off x="12001500" y="5191125"/>
            <a:ext cx="849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분기·규칙</a:t>
            </a:r>
            <a:endParaRPr lang="en-US" sz="1650" dirty="0"/>
          </a:p>
        </p:txBody>
      </p:sp>
      <p:sp>
        <p:nvSpPr>
          <p:cNvPr id="59" name="Text 56"/>
          <p:cNvSpPr/>
          <p:nvPr/>
        </p:nvSpPr>
        <p:spPr>
          <a:xfrm>
            <a:off x="12869912" y="5267325"/>
            <a:ext cx="4344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Rules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12006263" y="5595938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2091988" y="5643563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</a:t>
            </a:r>
            <a:endParaRPr lang="en-US" sz="1425" dirty="0"/>
          </a:p>
        </p:txBody>
      </p:sp>
      <p:sp>
        <p:nvSpPr>
          <p:cNvPr id="62" name="Shape 59"/>
          <p:cNvSpPr/>
          <p:nvPr/>
        </p:nvSpPr>
        <p:spPr>
          <a:xfrm>
            <a:off x="13054013" y="5595938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3139738" y="5643563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 업그레이드 비차단 배너 (v1 정식)</a:t>
            </a:r>
            <a:endParaRPr lang="en-US" sz="1425" dirty="0"/>
          </a:p>
        </p:txBody>
      </p:sp>
      <p:sp>
        <p:nvSpPr>
          <p:cNvPr id="64" name="Shape 61"/>
          <p:cNvSpPr/>
          <p:nvPr/>
        </p:nvSpPr>
        <p:spPr>
          <a:xfrm>
            <a:off x="12006263" y="5919788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2091988" y="5967412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큰 파일 (60분+)</a:t>
            </a:r>
            <a:endParaRPr lang="en-US" sz="1425" dirty="0"/>
          </a:p>
        </p:txBody>
      </p:sp>
      <p:sp>
        <p:nvSpPr>
          <p:cNvPr id="66" name="Shape 63"/>
          <p:cNvSpPr/>
          <p:nvPr/>
        </p:nvSpPr>
        <p:spPr>
          <a:xfrm>
            <a:off x="13054013" y="5919788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3139738" y="5967412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백그라운드 자동 권장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12006263" y="6481763"/>
            <a:ext cx="1047750" cy="80010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2091988" y="6529388"/>
            <a:ext cx="9525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거부 콘텐츠 재감지 (B-3)</a:t>
            </a:r>
            <a:endParaRPr lang="en-US" sz="1425" dirty="0"/>
          </a:p>
        </p:txBody>
      </p:sp>
      <p:sp>
        <p:nvSpPr>
          <p:cNvPr id="70" name="Shape 67"/>
          <p:cNvSpPr/>
          <p:nvPr/>
        </p:nvSpPr>
        <p:spPr>
          <a:xfrm>
            <a:off x="13054013" y="6481763"/>
            <a:ext cx="5000625" cy="80010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3139738" y="6529388"/>
            <a:ext cx="4979194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거부 + 사유 안내</a:t>
            </a:r>
            <a:endParaRPr lang="en-US" sz="1425" dirty="0"/>
          </a:p>
        </p:txBody>
      </p:sp>
      <p:sp>
        <p:nvSpPr>
          <p:cNvPr id="72" name="Shape 69"/>
          <p:cNvSpPr/>
          <p:nvPr/>
        </p:nvSpPr>
        <p:spPr>
          <a:xfrm>
            <a:off x="12006263" y="7281863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2091988" y="7329488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· 시각 검출</a:t>
            </a:r>
            <a:endParaRPr lang="en-US" sz="1425" dirty="0"/>
          </a:p>
        </p:txBody>
      </p:sp>
      <p:sp>
        <p:nvSpPr>
          <p:cNvPr id="74" name="Shape 71"/>
          <p:cNvSpPr/>
          <p:nvPr/>
        </p:nvSpPr>
        <p:spPr>
          <a:xfrm>
            <a:off x="13054013" y="7281863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3139738" y="7329488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YOLO + SAM (얼굴·번호판·신분증·문서)</a:t>
            </a:r>
            <a:endParaRPr lang="en-US" sz="1425" dirty="0"/>
          </a:p>
        </p:txBody>
      </p:sp>
      <p:sp>
        <p:nvSpPr>
          <p:cNvPr id="76" name="Shape 73"/>
          <p:cNvSpPr/>
          <p:nvPr/>
        </p:nvSpPr>
        <p:spPr>
          <a:xfrm>
            <a:off x="12006263" y="7843838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12091988" y="7891463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모델 · 음성 검출</a:t>
            </a:r>
            <a:endParaRPr lang="en-US" sz="1425" dirty="0"/>
          </a:p>
        </p:txBody>
      </p:sp>
      <p:sp>
        <p:nvSpPr>
          <p:cNvPr id="78" name="Shape 75"/>
          <p:cNvSpPr/>
          <p:nvPr/>
        </p:nvSpPr>
        <p:spPr>
          <a:xfrm>
            <a:off x="13054013" y="7843838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13139738" y="7891463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Whisper + KoELECTRA (이름·전화·주소·계좌)</a:t>
            </a:r>
            <a:endParaRPr lang="en-US" sz="1425" dirty="0"/>
          </a:p>
        </p:txBody>
      </p:sp>
      <p:sp>
        <p:nvSpPr>
          <p:cNvPr id="80" name="Shape 77"/>
          <p:cNvSpPr/>
          <p:nvPr/>
        </p:nvSpPr>
        <p:spPr>
          <a:xfrm>
            <a:off x="0" y="9944100"/>
            <a:ext cx="18288000" cy="3429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81" name="Shape 78"/>
          <p:cNvSpPr/>
          <p:nvPr/>
        </p:nvSpPr>
        <p:spPr>
          <a:xfrm>
            <a:off x="0" y="9944100"/>
            <a:ext cx="18288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82" name="Text 79"/>
          <p:cNvSpPr/>
          <p:nvPr/>
        </p:nvSpPr>
        <p:spPr>
          <a:xfrm>
            <a:off x="304800" y="10034588"/>
            <a:ext cx="529458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54" dirty="0">
                <a:solidFill>
                  <a:srgbClr val="798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· 화면설계서 v1.0 · #garim.kr/jobs/[id]/progress</a:t>
            </a:r>
            <a:endParaRPr lang="en-US" sz="1200" dirty="0"/>
          </a:p>
        </p:txBody>
      </p:sp>
      <p:sp>
        <p:nvSpPr>
          <p:cNvPr id="83" name="Text 80"/>
          <p:cNvSpPr/>
          <p:nvPr/>
        </p:nvSpPr>
        <p:spPr>
          <a:xfrm>
            <a:off x="13354050" y="10020300"/>
            <a:ext cx="47680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P09 · 분석 처리 진행 · ref: Render · Vercel build · Replicate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228600" y="1343025"/>
            <a:ext cx="11582400" cy="8486775"/>
          </a:xfrm>
          <a:prstGeom prst="roundRect">
            <a:avLst>
              <a:gd name="adj" fmla="val 224"/>
            </a:avLst>
          </a:prstGeom>
          <a:solidFill>
            <a:srgbClr val="FFFFFF"/>
          </a:solidFill>
          <a:ln w="9525">
            <a:solidFill>
              <a:srgbClr val="B8BDC7"/>
            </a:solidFill>
            <a:prstDash val="solid"/>
          </a:ln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82" name="그림 81"/>
          <p:cNvPicPr>
            <a:picLocks noChangeAspect="1"/>
          </p:cNvPicPr>
          <p:nvPr/>
        </p:nvPicPr>
        <p:blipFill rotWithShape="1">
          <a:blip r:embed="rId3"/>
          <a:srcRect t="4321" b="55737"/>
          <a:stretch/>
        </p:blipFill>
        <p:spPr>
          <a:xfrm>
            <a:off x="576263" y="1748339"/>
            <a:ext cx="10991850" cy="6962274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876300"/>
            <a:ext cx="18288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00200" cy="942975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" name="Text 2"/>
          <p:cNvSpPr/>
          <p:nvPr/>
        </p:nvSpPr>
        <p:spPr>
          <a:xfrm>
            <a:off x="560636" y="161925"/>
            <a:ext cx="5549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216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5335" y="323850"/>
            <a:ext cx="6057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kern="0" spc="-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828800" y="152400"/>
            <a:ext cx="1283292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27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리포트 </a:t>
            </a:r>
            <a:r>
              <a:rPr lang="en-US" sz="1350" kern="0" spc="-27" dirty="0">
                <a:solidFill>
                  <a:srgbClr val="FFFFFF"/>
                </a:solidFill>
                <a:highlight>
                  <a:srgbClr val="D32F2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핵심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28800" y="590550"/>
            <a:ext cx="128329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Analysis Report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516546" y="0"/>
            <a:ext cx="9525" cy="94297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" name="Shape 7"/>
          <p:cNvSpPr/>
          <p:nvPr/>
        </p:nvSpPr>
        <p:spPr>
          <a:xfrm>
            <a:off x="14792771" y="319088"/>
            <a:ext cx="544116" cy="304800"/>
          </a:xfrm>
          <a:prstGeom prst="roundRect">
            <a:avLst>
              <a:gd name="adj" fmla="val 12500"/>
            </a:avLst>
          </a:prstGeom>
          <a:solidFill>
            <a:srgbClr val="455A64"/>
          </a:solidFill>
          <a:ln w="9525">
            <a:solidFill>
              <a:srgbClr val="455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16596" y="328613"/>
            <a:ext cx="37266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검출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432137" y="319088"/>
            <a:ext cx="831503" cy="304800"/>
          </a:xfrm>
          <a:prstGeom prst="roundRect">
            <a:avLst>
              <a:gd name="adj" fmla="val 12500"/>
            </a:avLst>
          </a:prstGeom>
          <a:solidFill>
            <a:srgbClr val="0288D1"/>
          </a:solidFill>
          <a:ln w="9525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55962" y="328613"/>
            <a:ext cx="6600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6358890" y="328613"/>
            <a:ext cx="166241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473190" y="328613"/>
            <a:ext cx="1510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2026.05.14 · v1.0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8600" y="1066800"/>
            <a:ext cx="2028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와이어 / Hi-Fi Mockup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046964" y="1066800"/>
            <a:ext cx="27292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garim.kr/jobs/[id]/report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3535561" y="1858417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516511" y="1877467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9317236" y="1858417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298186" y="1877467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50" dirty="0"/>
          </a:p>
        </p:txBody>
      </p:sp>
      <p:grpSp>
        <p:nvGrpSpPr>
          <p:cNvPr id="83" name="그룹 82"/>
          <p:cNvGrpSpPr/>
          <p:nvPr/>
        </p:nvGrpSpPr>
        <p:grpSpPr>
          <a:xfrm>
            <a:off x="2657507" y="6772275"/>
            <a:ext cx="381000" cy="361950"/>
            <a:chOff x="4210348" y="5076230"/>
            <a:chExt cx="381000" cy="361950"/>
          </a:xfrm>
        </p:grpSpPr>
        <p:sp>
          <p:nvSpPr>
            <p:cNvPr id="23" name="Shape 20"/>
            <p:cNvSpPr/>
            <p:nvPr/>
          </p:nvSpPr>
          <p:spPr>
            <a:xfrm>
              <a:off x="4229398" y="5076230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4" name="Text 21"/>
            <p:cNvSpPr/>
            <p:nvPr/>
          </p:nvSpPr>
          <p:spPr>
            <a:xfrm>
              <a:off x="4210348" y="5095280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3</a:t>
              </a:r>
              <a:endParaRPr lang="en-US" sz="1350" dirty="0"/>
            </a:p>
          </p:txBody>
        </p:sp>
      </p:grpSp>
      <p:sp>
        <p:nvSpPr>
          <p:cNvPr id="25" name="Shape 22"/>
          <p:cNvSpPr/>
          <p:nvPr/>
        </p:nvSpPr>
        <p:spPr>
          <a:xfrm>
            <a:off x="9317236" y="5076230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9298186" y="509528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5848350" y="8632627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829300" y="8651677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12001500" y="13144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0" name="Text 27"/>
          <p:cNvSpPr/>
          <p:nvPr/>
        </p:nvSpPr>
        <p:spPr>
          <a:xfrm>
            <a:off x="12001500" y="1028700"/>
            <a:ext cx="12997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· 컴포넌트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3320266" y="1104900"/>
            <a:ext cx="15653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Purpose · Components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2001500" y="1428750"/>
            <a:ext cx="623963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검출된 위험을 시각적으로 강하게 전달 → 사용자 충격 → "보안 처리 요청" CTA 자연 연결. **북극성 지표 결정 화면**</a:t>
            </a:r>
            <a:endParaRPr lang="en-US" sz="1650" dirty="0"/>
          </a:p>
        </p:txBody>
      </p:sp>
      <p:sp>
        <p:nvSpPr>
          <p:cNvPr id="33" name="Shape 30"/>
          <p:cNvSpPr/>
          <p:nvPr/>
        </p:nvSpPr>
        <p:spPr>
          <a:xfrm>
            <a:off x="12001500" y="245745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4" name="Shape 31"/>
          <p:cNvSpPr/>
          <p:nvPr/>
        </p:nvSpPr>
        <p:spPr>
          <a:xfrm>
            <a:off x="12001500" y="22002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5" name="Text 32"/>
          <p:cNvSpPr/>
          <p:nvPr/>
        </p:nvSpPr>
        <p:spPr>
          <a:xfrm>
            <a:off x="11963400" y="22002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2287250" y="218122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임팩트 헤드라인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"내 영상에서 N건의 개인정보 노출 발견" · 위험도 점수</a:t>
            </a:r>
            <a:endParaRPr lang="en-US" sz="1425" dirty="0"/>
          </a:p>
        </p:txBody>
      </p:sp>
      <p:sp>
        <p:nvSpPr>
          <p:cNvPr id="37" name="Shape 34"/>
          <p:cNvSpPr/>
          <p:nvPr/>
        </p:nvSpPr>
        <p:spPr>
          <a:xfrm>
            <a:off x="12001500" y="303847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8" name="Shape 35"/>
          <p:cNvSpPr/>
          <p:nvPr/>
        </p:nvSpPr>
        <p:spPr>
          <a:xfrm>
            <a:off x="12001500" y="25336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9" name="Text 36"/>
          <p:cNvSpPr/>
          <p:nvPr/>
        </p:nvSpPr>
        <p:spPr>
          <a:xfrm>
            <a:off x="11963400" y="25336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2287250" y="2514600"/>
            <a:ext cx="594531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위험도 게이지 + 카테고리 카운트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얼굴·신분증·문서·번호판·이름·전화·주소·계좌 카운트</a:t>
            </a:r>
            <a:endParaRPr lang="en-US" sz="1425" dirty="0"/>
          </a:p>
        </p:txBody>
      </p:sp>
      <p:sp>
        <p:nvSpPr>
          <p:cNvPr id="41" name="Shape 38"/>
          <p:cNvSpPr/>
          <p:nvPr/>
        </p:nvSpPr>
        <p:spPr>
          <a:xfrm>
            <a:off x="12001500" y="337185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2" name="Shape 39"/>
          <p:cNvSpPr/>
          <p:nvPr/>
        </p:nvSpPr>
        <p:spPr>
          <a:xfrm>
            <a:off x="12001500" y="31146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3" name="Text 40"/>
          <p:cNvSpPr/>
          <p:nvPr/>
        </p:nvSpPr>
        <p:spPr>
          <a:xfrm>
            <a:off x="11963400" y="31146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2287250" y="309562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플레이어 + 타임라인 마커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검출 박스 오버레이. 마커 클릭 = 해당 시점 점프</a:t>
            </a:r>
            <a:endParaRPr lang="en-US" sz="1425" dirty="0"/>
          </a:p>
        </p:txBody>
      </p:sp>
      <p:sp>
        <p:nvSpPr>
          <p:cNvPr id="45" name="Shape 42"/>
          <p:cNvSpPr/>
          <p:nvPr/>
        </p:nvSpPr>
        <p:spPr>
          <a:xfrm>
            <a:off x="12001500" y="370522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6" name="Shape 43"/>
          <p:cNvSpPr/>
          <p:nvPr/>
        </p:nvSpPr>
        <p:spPr>
          <a:xfrm>
            <a:off x="12001500" y="34480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7" name="Text 44"/>
          <p:cNvSpPr/>
          <p:nvPr/>
        </p:nvSpPr>
        <p:spPr>
          <a:xfrm>
            <a:off x="11963400" y="34480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2287250" y="34290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검출 항목 리스트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시점·썸네일·위험 뱃지·한 줄 설명. 클릭 → 플레이어 점프</a:t>
            </a:r>
            <a:endParaRPr lang="en-US" sz="1425" dirty="0"/>
          </a:p>
        </p:txBody>
      </p:sp>
      <p:sp>
        <p:nvSpPr>
          <p:cNvPr id="49" name="Shape 46"/>
          <p:cNvSpPr/>
          <p:nvPr/>
        </p:nvSpPr>
        <p:spPr>
          <a:xfrm>
            <a:off x="12001500" y="378142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50" name="Text 47"/>
          <p:cNvSpPr/>
          <p:nvPr/>
        </p:nvSpPr>
        <p:spPr>
          <a:xfrm>
            <a:off x="11963400" y="378142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2287250" y="3762375"/>
            <a:ext cx="594531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Primary "보안 처리 요청" (sticky)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결제 흐름 분기점. 보조 = "샘플 미리보기" · "다른 영상"</a:t>
            </a:r>
            <a:endParaRPr lang="en-US" sz="1425" dirty="0"/>
          </a:p>
        </p:txBody>
      </p:sp>
      <p:sp>
        <p:nvSpPr>
          <p:cNvPr id="52" name="Shape 49"/>
          <p:cNvSpPr/>
          <p:nvPr/>
        </p:nvSpPr>
        <p:spPr>
          <a:xfrm>
            <a:off x="12001500" y="46672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3" name="Text 50"/>
          <p:cNvSpPr/>
          <p:nvPr/>
        </p:nvSpPr>
        <p:spPr>
          <a:xfrm>
            <a:off x="12001500" y="4381500"/>
            <a:ext cx="9603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/ 이탈</a:t>
            </a:r>
            <a:endParaRPr lang="en-US" sz="1650" dirty="0"/>
          </a:p>
        </p:txBody>
      </p:sp>
      <p:sp>
        <p:nvSpPr>
          <p:cNvPr id="54" name="Text 51"/>
          <p:cNvSpPr/>
          <p:nvPr/>
        </p:nvSpPr>
        <p:spPr>
          <a:xfrm>
            <a:off x="12980938" y="4457700"/>
            <a:ext cx="7868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Entry · Exit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12006263" y="4786313"/>
            <a:ext cx="1047750" cy="8572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2091988" y="4833938"/>
            <a:ext cx="9525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</a:t>
            </a:r>
            <a:endParaRPr lang="en-US" sz="1425" dirty="0"/>
          </a:p>
        </p:txBody>
      </p:sp>
      <p:sp>
        <p:nvSpPr>
          <p:cNvPr id="57" name="Shape 54"/>
          <p:cNvSpPr/>
          <p:nvPr/>
        </p:nvSpPr>
        <p:spPr>
          <a:xfrm>
            <a:off x="13054013" y="4786313"/>
            <a:ext cx="5000625" cy="8572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3179743" y="4829175"/>
            <a:ext cx="487013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분석 완료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이메일 알림 링크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처리 이력 카드</a:t>
            </a:r>
            <a:endParaRPr lang="en-US" sz="1425" dirty="0"/>
          </a:p>
        </p:txBody>
      </p:sp>
      <p:sp>
        <p:nvSpPr>
          <p:cNvPr id="59" name="Shape 56"/>
          <p:cNvSpPr/>
          <p:nvPr/>
        </p:nvSpPr>
        <p:spPr>
          <a:xfrm>
            <a:off x="12006263" y="5643563"/>
            <a:ext cx="1047750" cy="111442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2091988" y="5691188"/>
            <a:ext cx="952500" cy="1057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/ 다음</a:t>
            </a:r>
            <a:endParaRPr lang="en-US" sz="1425" dirty="0"/>
          </a:p>
        </p:txBody>
      </p:sp>
      <p:sp>
        <p:nvSpPr>
          <p:cNvPr id="61" name="Shape 58"/>
          <p:cNvSpPr/>
          <p:nvPr/>
        </p:nvSpPr>
        <p:spPr>
          <a:xfrm>
            <a:off x="13054013" y="5643563"/>
            <a:ext cx="5000625" cy="111442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3179743" y="5686425"/>
            <a:ext cx="4870133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"보안 처리" · MVP1 → 15 직행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"보안 처리" · v1 비결제 → 13 결제 게이트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"보안 처리" · Pro 한도 잔여 → 15 직행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검출 0건 → "다른 영상 검사"</a:t>
            </a:r>
            <a:endParaRPr lang="en-US" sz="1425" dirty="0"/>
          </a:p>
        </p:txBody>
      </p:sp>
      <p:sp>
        <p:nvSpPr>
          <p:cNvPr id="63" name="Shape 60"/>
          <p:cNvSpPr/>
          <p:nvPr/>
        </p:nvSpPr>
        <p:spPr>
          <a:xfrm>
            <a:off x="12001500" y="71437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64" name="Text 61"/>
          <p:cNvSpPr/>
          <p:nvPr/>
        </p:nvSpPr>
        <p:spPr>
          <a:xfrm>
            <a:off x="12001500" y="6858000"/>
            <a:ext cx="849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분기·규칙</a:t>
            </a:r>
            <a:endParaRPr lang="en-US" sz="1650" dirty="0"/>
          </a:p>
        </p:txBody>
      </p:sp>
      <p:sp>
        <p:nvSpPr>
          <p:cNvPr id="65" name="Text 62"/>
          <p:cNvSpPr/>
          <p:nvPr/>
        </p:nvSpPr>
        <p:spPr>
          <a:xfrm>
            <a:off x="12869912" y="6934200"/>
            <a:ext cx="4344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Rules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12006263" y="7262813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2091988" y="7310437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검출 0건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13054013" y="7262813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3139738" y="7310437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 톤 (success). 충격 메시지 제거</a:t>
            </a:r>
            <a:endParaRPr lang="en-US" sz="1425" dirty="0"/>
          </a:p>
        </p:txBody>
      </p:sp>
      <p:sp>
        <p:nvSpPr>
          <p:cNvPr id="70" name="Shape 67"/>
          <p:cNvSpPr/>
          <p:nvPr/>
        </p:nvSpPr>
        <p:spPr>
          <a:xfrm>
            <a:off x="12006263" y="7586663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2091988" y="7634288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 비결제 사용자</a:t>
            </a:r>
            <a:endParaRPr lang="en-US" sz="1425" dirty="0"/>
          </a:p>
        </p:txBody>
      </p:sp>
      <p:sp>
        <p:nvSpPr>
          <p:cNvPr id="72" name="Shape 69"/>
          <p:cNvSpPr/>
          <p:nvPr/>
        </p:nvSpPr>
        <p:spPr>
          <a:xfrm>
            <a:off x="13054013" y="7586663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3139738" y="7634288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미리보기 5초 한정 + 워터마크</a:t>
            </a:r>
            <a:endParaRPr lang="en-US" sz="1425" dirty="0"/>
          </a:p>
        </p:txBody>
      </p:sp>
      <p:sp>
        <p:nvSpPr>
          <p:cNvPr id="74" name="Shape 71"/>
          <p:cNvSpPr/>
          <p:nvPr/>
        </p:nvSpPr>
        <p:spPr>
          <a:xfrm>
            <a:off x="12006263" y="8148638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2091988" y="8196263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Pro+ 한도 소진</a:t>
            </a:r>
            <a:endParaRPr lang="en-US" sz="1425" dirty="0"/>
          </a:p>
        </p:txBody>
      </p:sp>
      <p:sp>
        <p:nvSpPr>
          <p:cNvPr id="76" name="Shape 73"/>
          <p:cNvSpPr/>
          <p:nvPr/>
        </p:nvSpPr>
        <p:spPr>
          <a:xfrm>
            <a:off x="13054013" y="8148638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13139738" y="8196263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1회권 / 업그레이드 권유 모달</a:t>
            </a:r>
            <a:endParaRPr lang="en-US" sz="1425" dirty="0"/>
          </a:p>
        </p:txBody>
      </p:sp>
      <p:sp>
        <p:nvSpPr>
          <p:cNvPr id="78" name="Shape 75"/>
          <p:cNvSpPr/>
          <p:nvPr/>
        </p:nvSpPr>
        <p:spPr>
          <a:xfrm>
            <a:off x="0" y="9944100"/>
            <a:ext cx="18288000" cy="3429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79" name="Shape 76"/>
          <p:cNvSpPr/>
          <p:nvPr/>
        </p:nvSpPr>
        <p:spPr>
          <a:xfrm>
            <a:off x="0" y="9944100"/>
            <a:ext cx="18288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80" name="Text 77"/>
          <p:cNvSpPr/>
          <p:nvPr/>
        </p:nvSpPr>
        <p:spPr>
          <a:xfrm>
            <a:off x="304800" y="10034588"/>
            <a:ext cx="50864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54" dirty="0">
                <a:solidFill>
                  <a:srgbClr val="798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· 화면설계서 v1.0 · #garim.kr/jobs/[id]/report</a:t>
            </a:r>
            <a:endParaRPr lang="en-US" sz="1200" dirty="0"/>
          </a:p>
        </p:txBody>
      </p:sp>
      <p:sp>
        <p:nvSpPr>
          <p:cNvPr id="81" name="Text 78"/>
          <p:cNvSpPr/>
          <p:nvPr/>
        </p:nvSpPr>
        <p:spPr>
          <a:xfrm>
            <a:off x="11920686" y="10020300"/>
            <a:ext cx="624438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P10 · 분석 리포트 · ref: 캐스퍼스키 보안 리포트 · YouTube Studio · Linear 임팩트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228600" y="1343025"/>
            <a:ext cx="11582400" cy="8486775"/>
          </a:xfrm>
          <a:prstGeom prst="roundRect">
            <a:avLst>
              <a:gd name="adj" fmla="val 224"/>
            </a:avLst>
          </a:prstGeom>
          <a:solidFill>
            <a:srgbClr val="FFFFFF"/>
          </a:solidFill>
          <a:ln w="9525">
            <a:solidFill>
              <a:srgbClr val="B8BDC7"/>
            </a:solidFill>
            <a:prstDash val="solid"/>
          </a:ln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76" name="그림 75"/>
          <p:cNvPicPr>
            <a:picLocks noChangeAspect="1"/>
          </p:cNvPicPr>
          <p:nvPr/>
        </p:nvPicPr>
        <p:blipFill rotWithShape="1">
          <a:blip r:embed="rId3"/>
          <a:srcRect t="6834" b="39243"/>
          <a:stretch/>
        </p:blipFill>
        <p:spPr>
          <a:xfrm>
            <a:off x="560636" y="1815264"/>
            <a:ext cx="10991850" cy="7247021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876300"/>
            <a:ext cx="18288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00200" cy="91440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" name="Text 2"/>
          <p:cNvSpPr/>
          <p:nvPr/>
        </p:nvSpPr>
        <p:spPr>
          <a:xfrm>
            <a:off x="560636" y="147638"/>
            <a:ext cx="5549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216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5335" y="309563"/>
            <a:ext cx="6057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kern="0" spc="-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828800" y="152400"/>
            <a:ext cx="1279505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27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 연결 (Instagram OAuth)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28800" y="561975"/>
            <a:ext cx="1279505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Connect SNS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479786" y="0"/>
            <a:ext cx="9525" cy="914400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" name="Shape 7"/>
          <p:cNvSpPr/>
          <p:nvPr/>
        </p:nvSpPr>
        <p:spPr>
          <a:xfrm>
            <a:off x="14756011" y="304800"/>
            <a:ext cx="580876" cy="304800"/>
          </a:xfrm>
          <a:prstGeom prst="roundRect">
            <a:avLst>
              <a:gd name="adj" fmla="val 12500"/>
            </a:avLst>
          </a:prstGeom>
          <a:solidFill>
            <a:srgbClr val="455A64"/>
          </a:solidFill>
          <a:ln w="9525">
            <a:solidFill>
              <a:srgbClr val="455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879836" y="314325"/>
            <a:ext cx="4094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432137" y="304800"/>
            <a:ext cx="831503" cy="304800"/>
          </a:xfrm>
          <a:prstGeom prst="roundRect">
            <a:avLst>
              <a:gd name="adj" fmla="val 12500"/>
            </a:avLst>
          </a:prstGeom>
          <a:solidFill>
            <a:srgbClr val="0288D1"/>
          </a:solidFill>
          <a:ln w="9525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55962" y="314325"/>
            <a:ext cx="6600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6358890" y="314325"/>
            <a:ext cx="166241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473190" y="314325"/>
            <a:ext cx="1510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2026.05.14 · v1.0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8600" y="1066800"/>
            <a:ext cx="2028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와이어 / Hi-Fi Mockup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576941" y="1066800"/>
            <a:ext cx="219595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garim.kr/sns/connect</a:t>
            </a:r>
            <a:endParaRPr lang="en-US" sz="1350" dirty="0"/>
          </a:p>
        </p:txBody>
      </p:sp>
      <p:grpSp>
        <p:nvGrpSpPr>
          <p:cNvPr id="77" name="그룹 76"/>
          <p:cNvGrpSpPr/>
          <p:nvPr/>
        </p:nvGrpSpPr>
        <p:grpSpPr>
          <a:xfrm>
            <a:off x="4489784" y="2303546"/>
            <a:ext cx="381000" cy="361950"/>
            <a:chOff x="5829300" y="2366516"/>
            <a:chExt cx="381000" cy="361950"/>
          </a:xfrm>
        </p:grpSpPr>
        <p:sp>
          <p:nvSpPr>
            <p:cNvPr id="19" name="Shape 16"/>
            <p:cNvSpPr/>
            <p:nvPr/>
          </p:nvSpPr>
          <p:spPr>
            <a:xfrm>
              <a:off x="5848350" y="2366516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0" name="Text 17"/>
            <p:cNvSpPr/>
            <p:nvPr/>
          </p:nvSpPr>
          <p:spPr>
            <a:xfrm>
              <a:off x="5829300" y="2385566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</a:t>
              </a:r>
              <a:endParaRPr lang="en-US" sz="1350" dirty="0"/>
            </a:p>
          </p:txBody>
        </p:sp>
      </p:grpSp>
      <p:sp>
        <p:nvSpPr>
          <p:cNvPr id="21" name="Shape 18"/>
          <p:cNvSpPr/>
          <p:nvPr/>
        </p:nvSpPr>
        <p:spPr>
          <a:xfrm>
            <a:off x="3304282" y="5414963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285232" y="5434013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392269" y="5414963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373219" y="5434013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50" dirty="0"/>
          </a:p>
        </p:txBody>
      </p:sp>
      <p:grpSp>
        <p:nvGrpSpPr>
          <p:cNvPr id="78" name="그룹 77"/>
          <p:cNvGrpSpPr/>
          <p:nvPr/>
        </p:nvGrpSpPr>
        <p:grpSpPr>
          <a:xfrm>
            <a:off x="7577890" y="7686675"/>
            <a:ext cx="381000" cy="361950"/>
            <a:chOff x="5829300" y="8632627"/>
            <a:chExt cx="381000" cy="361950"/>
          </a:xfrm>
        </p:grpSpPr>
        <p:sp>
          <p:nvSpPr>
            <p:cNvPr id="25" name="Shape 22"/>
            <p:cNvSpPr/>
            <p:nvPr/>
          </p:nvSpPr>
          <p:spPr>
            <a:xfrm>
              <a:off x="5848350" y="8632627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6" name="Text 23"/>
            <p:cNvSpPr/>
            <p:nvPr/>
          </p:nvSpPr>
          <p:spPr>
            <a:xfrm>
              <a:off x="5829300" y="8651677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4</a:t>
              </a:r>
              <a:endParaRPr lang="en-US" sz="1350" dirty="0"/>
            </a:p>
          </p:txBody>
        </p:sp>
      </p:grpSp>
      <p:sp>
        <p:nvSpPr>
          <p:cNvPr id="27" name="Shape 24"/>
          <p:cNvSpPr/>
          <p:nvPr/>
        </p:nvSpPr>
        <p:spPr>
          <a:xfrm>
            <a:off x="12001500" y="13144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28" name="Text 25"/>
          <p:cNvSpPr/>
          <p:nvPr/>
        </p:nvSpPr>
        <p:spPr>
          <a:xfrm>
            <a:off x="12001500" y="1028700"/>
            <a:ext cx="12997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· 컴포넌트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3320266" y="1104900"/>
            <a:ext cx="15653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Purpose · Components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2001500" y="1428750"/>
            <a:ext cx="623963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본인 Instagram 계정 OAuth 연결 + 권한 범위 투명 공개. B-2 핵심</a:t>
            </a:r>
            <a:endParaRPr lang="en-US" sz="1650" dirty="0"/>
          </a:p>
        </p:txBody>
      </p:sp>
      <p:sp>
        <p:nvSpPr>
          <p:cNvPr id="31" name="Shape 28"/>
          <p:cNvSpPr/>
          <p:nvPr/>
        </p:nvSpPr>
        <p:spPr>
          <a:xfrm>
            <a:off x="12001500" y="214312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2" name="Shape 29"/>
          <p:cNvSpPr/>
          <p:nvPr/>
        </p:nvSpPr>
        <p:spPr>
          <a:xfrm>
            <a:off x="12001500" y="18859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3" name="Text 30"/>
          <p:cNvSpPr/>
          <p:nvPr/>
        </p:nvSpPr>
        <p:spPr>
          <a:xfrm>
            <a:off x="11963400" y="18859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2287250" y="18669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OAuth 흐름 stepper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계정 확인 → Facebook 인증 → 권한 범위 → 완료</a:t>
            </a:r>
            <a:endParaRPr lang="en-US" sz="1425" dirty="0"/>
          </a:p>
        </p:txBody>
      </p:sp>
      <p:sp>
        <p:nvSpPr>
          <p:cNvPr id="35" name="Shape 32"/>
          <p:cNvSpPr/>
          <p:nvPr/>
        </p:nvSpPr>
        <p:spPr>
          <a:xfrm>
            <a:off x="12001500" y="247650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6" name="Shape 33"/>
          <p:cNvSpPr/>
          <p:nvPr/>
        </p:nvSpPr>
        <p:spPr>
          <a:xfrm>
            <a:off x="12001500" y="221932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7" name="Text 34"/>
          <p:cNvSpPr/>
          <p:nvPr/>
        </p:nvSpPr>
        <p:spPr>
          <a:xfrm>
            <a:off x="11963400" y="221932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2287250" y="220027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"보는 정보" 카드 (긍정)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게시물 메타·미디어 URL·기본 프로필</a:t>
            </a:r>
            <a:endParaRPr lang="en-US" sz="1425" dirty="0"/>
          </a:p>
        </p:txBody>
      </p:sp>
      <p:sp>
        <p:nvSpPr>
          <p:cNvPr id="39" name="Shape 36"/>
          <p:cNvSpPr/>
          <p:nvPr/>
        </p:nvSpPr>
        <p:spPr>
          <a:xfrm>
            <a:off x="12001500" y="280987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0" name="Shape 37"/>
          <p:cNvSpPr/>
          <p:nvPr/>
        </p:nvSpPr>
        <p:spPr>
          <a:xfrm>
            <a:off x="12001500" y="255270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1" name="Text 38"/>
          <p:cNvSpPr/>
          <p:nvPr/>
        </p:nvSpPr>
        <p:spPr>
          <a:xfrm>
            <a:off x="11963400" y="255270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2287250" y="253365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"하지 않는 일" 카드 (강조)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비밀번호 ✕ · DM ✕ · 게시·삭제 ✕ · 팔로워 목록 ✕</a:t>
            </a:r>
            <a:endParaRPr lang="en-US" sz="1425" dirty="0"/>
          </a:p>
        </p:txBody>
      </p:sp>
      <p:sp>
        <p:nvSpPr>
          <p:cNvPr id="43" name="Shape 40"/>
          <p:cNvSpPr/>
          <p:nvPr/>
        </p:nvSpPr>
        <p:spPr>
          <a:xfrm>
            <a:off x="12001500" y="28860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4" name="Text 41"/>
          <p:cNvSpPr/>
          <p:nvPr/>
        </p:nvSpPr>
        <p:spPr>
          <a:xfrm>
            <a:off x="11963400" y="28860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2287250" y="286702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Facebook 로그인 CTA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Meta OAuth 흐름으로 외부 이탈</a:t>
            </a:r>
            <a:endParaRPr lang="en-US" sz="1425" dirty="0"/>
          </a:p>
        </p:txBody>
      </p:sp>
      <p:sp>
        <p:nvSpPr>
          <p:cNvPr id="46" name="Shape 43"/>
          <p:cNvSpPr/>
          <p:nvPr/>
        </p:nvSpPr>
        <p:spPr>
          <a:xfrm>
            <a:off x="12001500" y="35242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7" name="Text 44"/>
          <p:cNvSpPr/>
          <p:nvPr/>
        </p:nvSpPr>
        <p:spPr>
          <a:xfrm>
            <a:off x="12001500" y="3238500"/>
            <a:ext cx="9603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/ 이탈</a:t>
            </a:r>
            <a:endParaRPr lang="en-US" sz="1650" dirty="0"/>
          </a:p>
        </p:txBody>
      </p:sp>
      <p:sp>
        <p:nvSpPr>
          <p:cNvPr id="48" name="Text 45"/>
          <p:cNvSpPr/>
          <p:nvPr/>
        </p:nvSpPr>
        <p:spPr>
          <a:xfrm>
            <a:off x="12980938" y="3314700"/>
            <a:ext cx="7868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Entry · Exit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12006263" y="3643313"/>
            <a:ext cx="1047750" cy="6000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2091988" y="3690937"/>
            <a:ext cx="9525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</a:t>
            </a:r>
            <a:endParaRPr lang="en-US" sz="1425" dirty="0"/>
          </a:p>
        </p:txBody>
      </p:sp>
      <p:sp>
        <p:nvSpPr>
          <p:cNvPr id="51" name="Shape 48"/>
          <p:cNvSpPr/>
          <p:nvPr/>
        </p:nvSpPr>
        <p:spPr>
          <a:xfrm>
            <a:off x="13054013" y="3643313"/>
            <a:ext cx="5000625" cy="6000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3179743" y="3686175"/>
            <a:ext cx="487013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분석 리포트 권유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대시보드 "내 인스타 점검"</a:t>
            </a:r>
            <a:endParaRPr lang="en-US" sz="1425" dirty="0"/>
          </a:p>
        </p:txBody>
      </p:sp>
      <p:sp>
        <p:nvSpPr>
          <p:cNvPr id="53" name="Shape 50"/>
          <p:cNvSpPr/>
          <p:nvPr/>
        </p:nvSpPr>
        <p:spPr>
          <a:xfrm>
            <a:off x="12006263" y="4243388"/>
            <a:ext cx="1047750" cy="6000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2091988" y="4291013"/>
            <a:ext cx="9525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/ 다음</a:t>
            </a:r>
            <a:endParaRPr lang="en-US" sz="1425" dirty="0"/>
          </a:p>
        </p:txBody>
      </p:sp>
      <p:sp>
        <p:nvSpPr>
          <p:cNvPr id="55" name="Shape 52"/>
          <p:cNvSpPr/>
          <p:nvPr/>
        </p:nvSpPr>
        <p:spPr>
          <a:xfrm>
            <a:off x="13054013" y="4243388"/>
            <a:ext cx="5000625" cy="6000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3179743" y="4286250"/>
            <a:ext cx="487013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OAuth 성공 → 12 진단 결과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거부 → 가이드 + 재시도</a:t>
            </a:r>
            <a:endParaRPr lang="en-US" sz="1425" dirty="0"/>
          </a:p>
        </p:txBody>
      </p:sp>
      <p:sp>
        <p:nvSpPr>
          <p:cNvPr id="57" name="Shape 54"/>
          <p:cNvSpPr/>
          <p:nvPr/>
        </p:nvSpPr>
        <p:spPr>
          <a:xfrm>
            <a:off x="12001500" y="5229225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8" name="Text 55"/>
          <p:cNvSpPr/>
          <p:nvPr/>
        </p:nvSpPr>
        <p:spPr>
          <a:xfrm>
            <a:off x="12001500" y="4943475"/>
            <a:ext cx="849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분기·규칙</a:t>
            </a:r>
            <a:endParaRPr lang="en-US" sz="1650" dirty="0"/>
          </a:p>
        </p:txBody>
      </p:sp>
      <p:sp>
        <p:nvSpPr>
          <p:cNvPr id="59" name="Text 56"/>
          <p:cNvSpPr/>
          <p:nvPr/>
        </p:nvSpPr>
        <p:spPr>
          <a:xfrm>
            <a:off x="12869912" y="5019675"/>
            <a:ext cx="4344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Rules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12006263" y="5348288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2091988" y="5395912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비-비즈니스 계정</a:t>
            </a:r>
            <a:endParaRPr lang="en-US" sz="1425" dirty="0"/>
          </a:p>
        </p:txBody>
      </p:sp>
      <p:sp>
        <p:nvSpPr>
          <p:cNvPr id="62" name="Shape 59"/>
          <p:cNvSpPr/>
          <p:nvPr/>
        </p:nvSpPr>
        <p:spPr>
          <a:xfrm>
            <a:off x="13054013" y="5348288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3139738" y="5395912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 안내 + Meta 가이드 링크</a:t>
            </a:r>
            <a:endParaRPr lang="en-US" sz="1425" dirty="0"/>
          </a:p>
        </p:txBody>
      </p:sp>
      <p:sp>
        <p:nvSpPr>
          <p:cNvPr id="64" name="Shape 61"/>
          <p:cNvSpPr/>
          <p:nvPr/>
        </p:nvSpPr>
        <p:spPr>
          <a:xfrm>
            <a:off x="12006263" y="5910263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2091988" y="5957888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 만료</a:t>
            </a:r>
            <a:endParaRPr lang="en-US" sz="1425" dirty="0"/>
          </a:p>
        </p:txBody>
      </p:sp>
      <p:sp>
        <p:nvSpPr>
          <p:cNvPr id="66" name="Shape 63"/>
          <p:cNvSpPr/>
          <p:nvPr/>
        </p:nvSpPr>
        <p:spPr>
          <a:xfrm>
            <a:off x="13054013" y="5910263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3139738" y="5957888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재인증 흐름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12006263" y="6234113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2091988" y="6281737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v2 정기 스캔</a:t>
            </a:r>
            <a:endParaRPr lang="en-US" sz="1425" dirty="0"/>
          </a:p>
        </p:txBody>
      </p:sp>
      <p:sp>
        <p:nvSpPr>
          <p:cNvPr id="70" name="Shape 67"/>
          <p:cNvSpPr/>
          <p:nvPr/>
        </p:nvSpPr>
        <p:spPr>
          <a:xfrm>
            <a:off x="13054013" y="6234113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3139738" y="6281737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자리만 비활성 placeholder</a:t>
            </a:r>
            <a:endParaRPr lang="en-US" sz="1425" dirty="0"/>
          </a:p>
        </p:txBody>
      </p:sp>
      <p:sp>
        <p:nvSpPr>
          <p:cNvPr id="72" name="Shape 69"/>
          <p:cNvSpPr/>
          <p:nvPr/>
        </p:nvSpPr>
        <p:spPr>
          <a:xfrm>
            <a:off x="0" y="9944100"/>
            <a:ext cx="18288000" cy="3429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73" name="Shape 70"/>
          <p:cNvSpPr/>
          <p:nvPr/>
        </p:nvSpPr>
        <p:spPr>
          <a:xfrm>
            <a:off x="0" y="9944100"/>
            <a:ext cx="18288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74" name="Text 71"/>
          <p:cNvSpPr/>
          <p:nvPr/>
        </p:nvSpPr>
        <p:spPr>
          <a:xfrm>
            <a:off x="304800" y="10034588"/>
            <a:ext cx="456598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54" dirty="0">
                <a:solidFill>
                  <a:srgbClr val="798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· 화면설계서 v1.0 · #garim.kr/sns/connect</a:t>
            </a:r>
            <a:endParaRPr lang="en-US" sz="1200" dirty="0"/>
          </a:p>
        </p:txBody>
      </p:sp>
      <p:sp>
        <p:nvSpPr>
          <p:cNvPr id="75" name="Text 72"/>
          <p:cNvSpPr/>
          <p:nvPr/>
        </p:nvSpPr>
        <p:spPr>
          <a:xfrm>
            <a:off x="12835979" y="10020300"/>
            <a:ext cx="530163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P11 · SNS 연결 (Instagram OAuth) · ref: Linktree · Buffer OAuth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228600" y="1343025"/>
            <a:ext cx="11582400" cy="8486775"/>
          </a:xfrm>
          <a:prstGeom prst="roundRect">
            <a:avLst>
              <a:gd name="adj" fmla="val 224"/>
            </a:avLst>
          </a:prstGeom>
          <a:solidFill>
            <a:srgbClr val="FFFFFF"/>
          </a:solidFill>
          <a:ln w="9525">
            <a:solidFill>
              <a:srgbClr val="B8BDC7"/>
            </a:solidFill>
            <a:prstDash val="solid"/>
          </a:ln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72" name="그림 71"/>
          <p:cNvPicPr>
            <a:picLocks noChangeAspect="1"/>
          </p:cNvPicPr>
          <p:nvPr/>
        </p:nvPicPr>
        <p:blipFill rotWithShape="1">
          <a:blip r:embed="rId3"/>
          <a:srcRect t="4863" b="45503"/>
          <a:stretch/>
        </p:blipFill>
        <p:spPr>
          <a:xfrm>
            <a:off x="535335" y="1601954"/>
            <a:ext cx="10991850" cy="7587915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876300"/>
            <a:ext cx="18288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00200" cy="91440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" name="Text 2"/>
          <p:cNvSpPr/>
          <p:nvPr/>
        </p:nvSpPr>
        <p:spPr>
          <a:xfrm>
            <a:off x="560636" y="147638"/>
            <a:ext cx="5549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216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5335" y="309563"/>
            <a:ext cx="6057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kern="0" spc="-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828800" y="152400"/>
            <a:ext cx="1279505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27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 진단 결과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28800" y="561975"/>
            <a:ext cx="1279505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 Diagnosis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479786" y="0"/>
            <a:ext cx="9525" cy="914400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" name="Shape 7"/>
          <p:cNvSpPr/>
          <p:nvPr/>
        </p:nvSpPr>
        <p:spPr>
          <a:xfrm>
            <a:off x="14756011" y="304800"/>
            <a:ext cx="580876" cy="304800"/>
          </a:xfrm>
          <a:prstGeom prst="roundRect">
            <a:avLst>
              <a:gd name="adj" fmla="val 12500"/>
            </a:avLst>
          </a:prstGeom>
          <a:solidFill>
            <a:srgbClr val="455A64"/>
          </a:solidFill>
          <a:ln w="9525">
            <a:solidFill>
              <a:srgbClr val="455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879836" y="314325"/>
            <a:ext cx="40942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432137" y="304800"/>
            <a:ext cx="831503" cy="304800"/>
          </a:xfrm>
          <a:prstGeom prst="roundRect">
            <a:avLst>
              <a:gd name="adj" fmla="val 12500"/>
            </a:avLst>
          </a:prstGeom>
          <a:solidFill>
            <a:srgbClr val="0288D1"/>
          </a:solidFill>
          <a:ln w="9525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55962" y="314325"/>
            <a:ext cx="6600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6358890" y="314325"/>
            <a:ext cx="166241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473190" y="314325"/>
            <a:ext cx="1510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2026.05.14 · v1.0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8600" y="1066800"/>
            <a:ext cx="2028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와이어 / Hi-Fi Mockup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576941" y="1066800"/>
            <a:ext cx="219595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garim.kr/sns/results</a:t>
            </a:r>
            <a:endParaRPr lang="en-US" sz="1350" dirty="0"/>
          </a:p>
        </p:txBody>
      </p:sp>
      <p:grpSp>
        <p:nvGrpSpPr>
          <p:cNvPr id="73" name="그룹 72"/>
          <p:cNvGrpSpPr/>
          <p:nvPr/>
        </p:nvGrpSpPr>
        <p:grpSpPr>
          <a:xfrm>
            <a:off x="2632190" y="1828800"/>
            <a:ext cx="381000" cy="361950"/>
            <a:chOff x="3516511" y="2197150"/>
            <a:chExt cx="381000" cy="361950"/>
          </a:xfrm>
        </p:grpSpPr>
        <p:sp>
          <p:nvSpPr>
            <p:cNvPr id="19" name="Shape 16"/>
            <p:cNvSpPr/>
            <p:nvPr/>
          </p:nvSpPr>
          <p:spPr>
            <a:xfrm>
              <a:off x="3535561" y="2197150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0" name="Text 17"/>
            <p:cNvSpPr/>
            <p:nvPr/>
          </p:nvSpPr>
          <p:spPr>
            <a:xfrm>
              <a:off x="3516511" y="2216200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</a:t>
              </a:r>
              <a:endParaRPr lang="en-US" sz="1350" dirty="0"/>
            </a:p>
          </p:txBody>
        </p:sp>
      </p:grpSp>
      <p:grpSp>
        <p:nvGrpSpPr>
          <p:cNvPr id="74" name="그룹 73"/>
          <p:cNvGrpSpPr/>
          <p:nvPr/>
        </p:nvGrpSpPr>
        <p:grpSpPr>
          <a:xfrm>
            <a:off x="9875702" y="3048000"/>
            <a:ext cx="381000" cy="361950"/>
            <a:chOff x="9298186" y="2197150"/>
            <a:chExt cx="381000" cy="361950"/>
          </a:xfrm>
        </p:grpSpPr>
        <p:sp>
          <p:nvSpPr>
            <p:cNvPr id="21" name="Shape 18"/>
            <p:cNvSpPr/>
            <p:nvPr/>
          </p:nvSpPr>
          <p:spPr>
            <a:xfrm>
              <a:off x="9317236" y="2197150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2" name="Text 19"/>
            <p:cNvSpPr/>
            <p:nvPr/>
          </p:nvSpPr>
          <p:spPr>
            <a:xfrm>
              <a:off x="9298186" y="2216200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2</a:t>
              </a:r>
              <a:endParaRPr lang="en-US" sz="1350" dirty="0"/>
            </a:p>
          </p:txBody>
        </p:sp>
      </p:grpSp>
      <p:grpSp>
        <p:nvGrpSpPr>
          <p:cNvPr id="75" name="그룹 74"/>
          <p:cNvGrpSpPr/>
          <p:nvPr/>
        </p:nvGrpSpPr>
        <p:grpSpPr>
          <a:xfrm>
            <a:off x="695325" y="4129087"/>
            <a:ext cx="381000" cy="361950"/>
            <a:chOff x="5829300" y="4398764"/>
            <a:chExt cx="381000" cy="361950"/>
          </a:xfrm>
        </p:grpSpPr>
        <p:sp>
          <p:nvSpPr>
            <p:cNvPr id="23" name="Shape 20"/>
            <p:cNvSpPr/>
            <p:nvPr/>
          </p:nvSpPr>
          <p:spPr>
            <a:xfrm>
              <a:off x="5848350" y="4398764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4" name="Text 21"/>
            <p:cNvSpPr/>
            <p:nvPr/>
          </p:nvSpPr>
          <p:spPr>
            <a:xfrm>
              <a:off x="5829300" y="4417814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3</a:t>
              </a:r>
              <a:endParaRPr lang="en-US" sz="1350" dirty="0"/>
            </a:p>
          </p:txBody>
        </p:sp>
      </p:grpSp>
      <p:grpSp>
        <p:nvGrpSpPr>
          <p:cNvPr id="76" name="그룹 75"/>
          <p:cNvGrpSpPr/>
          <p:nvPr/>
        </p:nvGrpSpPr>
        <p:grpSpPr>
          <a:xfrm>
            <a:off x="4489784" y="5262563"/>
            <a:ext cx="381000" cy="361950"/>
            <a:chOff x="5829300" y="7108478"/>
            <a:chExt cx="381000" cy="361950"/>
          </a:xfrm>
        </p:grpSpPr>
        <p:sp>
          <p:nvSpPr>
            <p:cNvPr id="25" name="Shape 22"/>
            <p:cNvSpPr/>
            <p:nvPr/>
          </p:nvSpPr>
          <p:spPr>
            <a:xfrm>
              <a:off x="5848350" y="7108478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6" name="Text 23"/>
            <p:cNvSpPr/>
            <p:nvPr/>
          </p:nvSpPr>
          <p:spPr>
            <a:xfrm>
              <a:off x="5829300" y="7127528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4</a:t>
              </a:r>
              <a:endParaRPr lang="en-US" sz="1350" dirty="0"/>
            </a:p>
          </p:txBody>
        </p:sp>
      </p:grpSp>
      <p:sp>
        <p:nvSpPr>
          <p:cNvPr id="27" name="Shape 24"/>
          <p:cNvSpPr/>
          <p:nvPr/>
        </p:nvSpPr>
        <p:spPr>
          <a:xfrm>
            <a:off x="12001500" y="13144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28" name="Text 25"/>
          <p:cNvSpPr/>
          <p:nvPr/>
        </p:nvSpPr>
        <p:spPr>
          <a:xfrm>
            <a:off x="12001500" y="1028700"/>
            <a:ext cx="12997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· 컴포넌트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3320266" y="1104900"/>
            <a:ext cx="15653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Purpose · Components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2001500" y="1428750"/>
            <a:ext cx="623963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본인 인스타 게시물의 개인정보 노출 위험 일목요연 표시</a:t>
            </a:r>
            <a:endParaRPr lang="en-US" sz="1650" dirty="0"/>
          </a:p>
        </p:txBody>
      </p:sp>
      <p:sp>
        <p:nvSpPr>
          <p:cNvPr id="31" name="Shape 28"/>
          <p:cNvSpPr/>
          <p:nvPr/>
        </p:nvSpPr>
        <p:spPr>
          <a:xfrm>
            <a:off x="12001500" y="214312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2" name="Shape 29"/>
          <p:cNvSpPr/>
          <p:nvPr/>
        </p:nvSpPr>
        <p:spPr>
          <a:xfrm>
            <a:off x="12001500" y="18859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3" name="Text 30"/>
          <p:cNvSpPr/>
          <p:nvPr/>
        </p:nvSpPr>
        <p:spPr>
          <a:xfrm>
            <a:off x="11963400" y="18859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2287250" y="18669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임팩트 헤드라인 + 위험도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"N개 게시물 점검, M건 위험 발견"</a:t>
            </a:r>
            <a:endParaRPr lang="en-US" sz="1425" dirty="0"/>
          </a:p>
        </p:txBody>
      </p:sp>
      <p:sp>
        <p:nvSpPr>
          <p:cNvPr id="35" name="Shape 32"/>
          <p:cNvSpPr/>
          <p:nvPr/>
        </p:nvSpPr>
        <p:spPr>
          <a:xfrm>
            <a:off x="12001500" y="247650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6" name="Shape 33"/>
          <p:cNvSpPr/>
          <p:nvPr/>
        </p:nvSpPr>
        <p:spPr>
          <a:xfrm>
            <a:off x="12001500" y="221932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7" name="Text 34"/>
          <p:cNvSpPr/>
          <p:nvPr/>
        </p:nvSpPr>
        <p:spPr>
          <a:xfrm>
            <a:off x="11963400" y="221932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2287250" y="220027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카운트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얼굴·신분증·문서·위치 메타 등</a:t>
            </a:r>
            <a:endParaRPr lang="en-US" sz="1425" dirty="0"/>
          </a:p>
        </p:txBody>
      </p:sp>
      <p:sp>
        <p:nvSpPr>
          <p:cNvPr id="39" name="Shape 36"/>
          <p:cNvSpPr/>
          <p:nvPr/>
        </p:nvSpPr>
        <p:spPr>
          <a:xfrm>
            <a:off x="12001500" y="280987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0" name="Shape 37"/>
          <p:cNvSpPr/>
          <p:nvPr/>
        </p:nvSpPr>
        <p:spPr>
          <a:xfrm>
            <a:off x="12001500" y="255270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1" name="Text 38"/>
          <p:cNvSpPr/>
          <p:nvPr/>
        </p:nvSpPr>
        <p:spPr>
          <a:xfrm>
            <a:off x="11963400" y="255270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2287250" y="253365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트렌드 그래프 (v2 자리)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MVP1 = 단일 스냅샷. v2 = 시계열</a:t>
            </a:r>
            <a:endParaRPr lang="en-US" sz="1425" dirty="0"/>
          </a:p>
        </p:txBody>
      </p:sp>
      <p:sp>
        <p:nvSpPr>
          <p:cNvPr id="43" name="Shape 40"/>
          <p:cNvSpPr/>
          <p:nvPr/>
        </p:nvSpPr>
        <p:spPr>
          <a:xfrm>
            <a:off x="12001500" y="28860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4" name="Text 41"/>
          <p:cNvSpPr/>
          <p:nvPr/>
        </p:nvSpPr>
        <p:spPr>
          <a:xfrm>
            <a:off x="11963400" y="28860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2287250" y="286702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게시물 리스트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썸네일·게시일·위험 뱃지. "처리하기" 인라인 액션</a:t>
            </a:r>
            <a:endParaRPr lang="en-US" sz="1425" dirty="0"/>
          </a:p>
        </p:txBody>
      </p:sp>
      <p:sp>
        <p:nvSpPr>
          <p:cNvPr id="46" name="Shape 43"/>
          <p:cNvSpPr/>
          <p:nvPr/>
        </p:nvSpPr>
        <p:spPr>
          <a:xfrm>
            <a:off x="12001500" y="35242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7" name="Text 44"/>
          <p:cNvSpPr/>
          <p:nvPr/>
        </p:nvSpPr>
        <p:spPr>
          <a:xfrm>
            <a:off x="12001500" y="3238500"/>
            <a:ext cx="9603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/ 이탈</a:t>
            </a:r>
            <a:endParaRPr lang="en-US" sz="1650" dirty="0"/>
          </a:p>
        </p:txBody>
      </p:sp>
      <p:sp>
        <p:nvSpPr>
          <p:cNvPr id="48" name="Text 45"/>
          <p:cNvSpPr/>
          <p:nvPr/>
        </p:nvSpPr>
        <p:spPr>
          <a:xfrm>
            <a:off x="12980938" y="3314700"/>
            <a:ext cx="7868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Entry · Exit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12006263" y="3643313"/>
            <a:ext cx="1047750" cy="34290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2091988" y="3690937"/>
            <a:ext cx="9525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</a:t>
            </a:r>
            <a:endParaRPr lang="en-US" sz="1425" dirty="0"/>
          </a:p>
        </p:txBody>
      </p:sp>
      <p:sp>
        <p:nvSpPr>
          <p:cNvPr id="51" name="Shape 48"/>
          <p:cNvSpPr/>
          <p:nvPr/>
        </p:nvSpPr>
        <p:spPr>
          <a:xfrm>
            <a:off x="13054013" y="3643313"/>
            <a:ext cx="5000625" cy="34290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3179743" y="3686175"/>
            <a:ext cx="487013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OAuth 완료</a:t>
            </a:r>
            <a:endParaRPr lang="en-US" sz="1425" dirty="0"/>
          </a:p>
        </p:txBody>
      </p:sp>
      <p:sp>
        <p:nvSpPr>
          <p:cNvPr id="53" name="Shape 50"/>
          <p:cNvSpPr/>
          <p:nvPr/>
        </p:nvSpPr>
        <p:spPr>
          <a:xfrm>
            <a:off x="12006263" y="3986213"/>
            <a:ext cx="1047750" cy="8572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2091988" y="4033837"/>
            <a:ext cx="9525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/ 다음</a:t>
            </a:r>
            <a:endParaRPr lang="en-US" sz="1425" dirty="0"/>
          </a:p>
        </p:txBody>
      </p:sp>
      <p:sp>
        <p:nvSpPr>
          <p:cNvPr id="55" name="Shape 52"/>
          <p:cNvSpPr/>
          <p:nvPr/>
        </p:nvSpPr>
        <p:spPr>
          <a:xfrm>
            <a:off x="13054013" y="3986213"/>
            <a:ext cx="5000625" cy="8572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3179743" y="4029075"/>
            <a:ext cx="487013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"처리하기" · MVP1 → 15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"처리하기" · v1 비결제 → 13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 다운로드 후 사용자 직접 재업로드</a:t>
            </a:r>
            <a:endParaRPr lang="en-US" sz="1425" dirty="0"/>
          </a:p>
        </p:txBody>
      </p:sp>
      <p:sp>
        <p:nvSpPr>
          <p:cNvPr id="57" name="Shape 54"/>
          <p:cNvSpPr/>
          <p:nvPr/>
        </p:nvSpPr>
        <p:spPr>
          <a:xfrm>
            <a:off x="12001500" y="5229225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8" name="Text 55"/>
          <p:cNvSpPr/>
          <p:nvPr/>
        </p:nvSpPr>
        <p:spPr>
          <a:xfrm>
            <a:off x="12001500" y="4943475"/>
            <a:ext cx="849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분기·규칙</a:t>
            </a:r>
            <a:endParaRPr lang="en-US" sz="1650" dirty="0"/>
          </a:p>
        </p:txBody>
      </p:sp>
      <p:sp>
        <p:nvSpPr>
          <p:cNvPr id="59" name="Text 56"/>
          <p:cNvSpPr/>
          <p:nvPr/>
        </p:nvSpPr>
        <p:spPr>
          <a:xfrm>
            <a:off x="12869912" y="5019675"/>
            <a:ext cx="4344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Rules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12006263" y="5348288"/>
            <a:ext cx="1047750" cy="80010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2091988" y="5395912"/>
            <a:ext cx="9525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Garim의 인스타 자동 게시·삭제</a:t>
            </a:r>
            <a:endParaRPr lang="en-US" sz="1425" dirty="0"/>
          </a:p>
        </p:txBody>
      </p:sp>
      <p:sp>
        <p:nvSpPr>
          <p:cNvPr id="62" name="Shape 59"/>
          <p:cNvSpPr/>
          <p:nvPr/>
        </p:nvSpPr>
        <p:spPr>
          <a:xfrm>
            <a:off x="13054013" y="5348288"/>
            <a:ext cx="5000625" cy="80010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3139738" y="5395912"/>
            <a:ext cx="4979194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 (B-2)</a:t>
            </a:r>
            <a:endParaRPr lang="en-US" sz="1425" dirty="0"/>
          </a:p>
        </p:txBody>
      </p:sp>
      <p:sp>
        <p:nvSpPr>
          <p:cNvPr id="64" name="Shape 61"/>
          <p:cNvSpPr/>
          <p:nvPr/>
        </p:nvSpPr>
        <p:spPr>
          <a:xfrm>
            <a:off x="12006263" y="6148388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2091988" y="6196012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v2 자동 스캔 활성</a:t>
            </a:r>
            <a:endParaRPr lang="en-US" sz="1425" dirty="0"/>
          </a:p>
        </p:txBody>
      </p:sp>
      <p:sp>
        <p:nvSpPr>
          <p:cNvPr id="66" name="Shape 63"/>
          <p:cNvSpPr/>
          <p:nvPr/>
        </p:nvSpPr>
        <p:spPr>
          <a:xfrm>
            <a:off x="13054013" y="6148388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3139738" y="6196012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트렌드 그래프 실 데이터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0" y="9944100"/>
            <a:ext cx="18288000" cy="3429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69" name="Shape 66"/>
          <p:cNvSpPr/>
          <p:nvPr/>
        </p:nvSpPr>
        <p:spPr>
          <a:xfrm>
            <a:off x="0" y="9944100"/>
            <a:ext cx="18288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70" name="Text 67"/>
          <p:cNvSpPr/>
          <p:nvPr/>
        </p:nvSpPr>
        <p:spPr>
          <a:xfrm>
            <a:off x="304800" y="10034588"/>
            <a:ext cx="456598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54" dirty="0">
                <a:solidFill>
                  <a:srgbClr val="798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· 화면설계서 v1.0 · #garim.kr/sns/results</a:t>
            </a:r>
            <a:endParaRPr lang="en-US" sz="1200" dirty="0"/>
          </a:p>
        </p:txBody>
      </p:sp>
      <p:sp>
        <p:nvSpPr>
          <p:cNvPr id="71" name="Text 68"/>
          <p:cNvSpPr/>
          <p:nvPr/>
        </p:nvSpPr>
        <p:spPr>
          <a:xfrm>
            <a:off x="13785652" y="10020300"/>
            <a:ext cx="432347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P12 · SNS 진단 결과 · ref: Buffer · Later SNS 대시보드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228600" y="1343025"/>
            <a:ext cx="11582400" cy="8486775"/>
          </a:xfrm>
          <a:prstGeom prst="roundRect">
            <a:avLst>
              <a:gd name="adj" fmla="val 224"/>
            </a:avLst>
          </a:prstGeom>
          <a:solidFill>
            <a:srgbClr val="FFFFFF"/>
          </a:solidFill>
          <a:ln w="9525">
            <a:solidFill>
              <a:srgbClr val="B8BDC7"/>
            </a:solidFill>
            <a:prstDash val="solid"/>
          </a:ln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86" name="그림 85"/>
          <p:cNvPicPr>
            <a:picLocks noChangeAspect="1"/>
          </p:cNvPicPr>
          <p:nvPr/>
        </p:nvPicPr>
        <p:blipFill rotWithShape="1">
          <a:blip r:embed="rId3"/>
          <a:srcRect t="8669" b="1990"/>
          <a:stretch/>
        </p:blipFill>
        <p:spPr>
          <a:xfrm>
            <a:off x="523875" y="1559593"/>
            <a:ext cx="10991850" cy="8101264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876300"/>
            <a:ext cx="18288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00200" cy="91440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" name="Text 2"/>
          <p:cNvSpPr/>
          <p:nvPr/>
        </p:nvSpPr>
        <p:spPr>
          <a:xfrm>
            <a:off x="560636" y="147638"/>
            <a:ext cx="5549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216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5335" y="309563"/>
            <a:ext cx="6057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kern="0" spc="-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828800" y="152400"/>
            <a:ext cx="1276731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27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게이트·플랜 선택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28800" y="561975"/>
            <a:ext cx="1276731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Payment Gate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452848" y="0"/>
            <a:ext cx="9525" cy="914400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" name="Shape 7"/>
          <p:cNvSpPr/>
          <p:nvPr/>
        </p:nvSpPr>
        <p:spPr>
          <a:xfrm>
            <a:off x="14729073" y="304800"/>
            <a:ext cx="544116" cy="304800"/>
          </a:xfrm>
          <a:prstGeom prst="roundRect">
            <a:avLst>
              <a:gd name="adj" fmla="val 12500"/>
            </a:avLst>
          </a:prstGeom>
          <a:solidFill>
            <a:srgbClr val="455A64"/>
          </a:solidFill>
          <a:ln w="9525">
            <a:solidFill>
              <a:srgbClr val="455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852898" y="314325"/>
            <a:ext cx="37266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치환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368439" y="304800"/>
            <a:ext cx="895201" cy="304800"/>
          </a:xfrm>
          <a:prstGeom prst="roundRect">
            <a:avLst>
              <a:gd name="adj" fmla="val 12500"/>
            </a:avLst>
          </a:prstGeom>
          <a:solidFill>
            <a:srgbClr val="2E7D32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492264" y="314325"/>
            <a:ext cx="7237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 정식~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6358890" y="314325"/>
            <a:ext cx="166241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473190" y="314325"/>
            <a:ext cx="1510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2026.05.14 · v1.0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8600" y="1066800"/>
            <a:ext cx="2028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와이어 / Hi-Fi Mockup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365010" y="1066800"/>
            <a:ext cx="240789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garim.kr/checkout/gate</a:t>
            </a:r>
            <a:endParaRPr lang="en-US" sz="1350" dirty="0"/>
          </a:p>
        </p:txBody>
      </p:sp>
      <p:grpSp>
        <p:nvGrpSpPr>
          <p:cNvPr id="87" name="그룹 86"/>
          <p:cNvGrpSpPr/>
          <p:nvPr/>
        </p:nvGrpSpPr>
        <p:grpSpPr>
          <a:xfrm>
            <a:off x="4637798" y="2705100"/>
            <a:ext cx="381000" cy="361950"/>
            <a:chOff x="5829300" y="2027783"/>
            <a:chExt cx="381000" cy="361950"/>
          </a:xfrm>
        </p:grpSpPr>
        <p:sp>
          <p:nvSpPr>
            <p:cNvPr id="19" name="Shape 16"/>
            <p:cNvSpPr/>
            <p:nvPr/>
          </p:nvSpPr>
          <p:spPr>
            <a:xfrm>
              <a:off x="5848350" y="2027783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0" name="Text 17"/>
            <p:cNvSpPr/>
            <p:nvPr/>
          </p:nvSpPr>
          <p:spPr>
            <a:xfrm>
              <a:off x="5829300" y="2046833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</a:t>
              </a:r>
              <a:endParaRPr lang="en-US" sz="1350" dirty="0"/>
            </a:p>
          </p:txBody>
        </p:sp>
      </p:grpSp>
      <p:grpSp>
        <p:nvGrpSpPr>
          <p:cNvPr id="89" name="그룹 88"/>
          <p:cNvGrpSpPr/>
          <p:nvPr/>
        </p:nvGrpSpPr>
        <p:grpSpPr>
          <a:xfrm>
            <a:off x="7488264" y="5586790"/>
            <a:ext cx="381000" cy="361950"/>
            <a:chOff x="3285232" y="7658100"/>
            <a:chExt cx="381000" cy="361950"/>
          </a:xfrm>
        </p:grpSpPr>
        <p:sp>
          <p:nvSpPr>
            <p:cNvPr id="21" name="Shape 18"/>
            <p:cNvSpPr/>
            <p:nvPr/>
          </p:nvSpPr>
          <p:spPr>
            <a:xfrm>
              <a:off x="3304282" y="7658100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2" name="Text 19"/>
            <p:cNvSpPr/>
            <p:nvPr/>
          </p:nvSpPr>
          <p:spPr>
            <a:xfrm>
              <a:off x="3285232" y="7677150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2</a:t>
              </a:r>
              <a:endParaRPr lang="en-US" sz="1350" dirty="0"/>
            </a:p>
          </p:txBody>
        </p:sp>
      </p:grpSp>
      <p:grpSp>
        <p:nvGrpSpPr>
          <p:cNvPr id="88" name="그룹 87"/>
          <p:cNvGrpSpPr/>
          <p:nvPr/>
        </p:nvGrpSpPr>
        <p:grpSpPr>
          <a:xfrm>
            <a:off x="5829300" y="7658100"/>
            <a:ext cx="381000" cy="361950"/>
            <a:chOff x="5829300" y="4737497"/>
            <a:chExt cx="381000" cy="361950"/>
          </a:xfrm>
        </p:grpSpPr>
        <p:sp>
          <p:nvSpPr>
            <p:cNvPr id="23" name="Shape 20"/>
            <p:cNvSpPr/>
            <p:nvPr/>
          </p:nvSpPr>
          <p:spPr>
            <a:xfrm>
              <a:off x="5848350" y="4737497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4" name="Text 21"/>
            <p:cNvSpPr/>
            <p:nvPr/>
          </p:nvSpPr>
          <p:spPr>
            <a:xfrm>
              <a:off x="5829300" y="4756547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3</a:t>
              </a:r>
              <a:endParaRPr lang="en-US" sz="1350" dirty="0"/>
            </a:p>
          </p:txBody>
        </p:sp>
      </p:grpSp>
      <p:sp>
        <p:nvSpPr>
          <p:cNvPr id="25" name="Shape 22"/>
          <p:cNvSpPr/>
          <p:nvPr/>
        </p:nvSpPr>
        <p:spPr>
          <a:xfrm>
            <a:off x="8392269" y="7658100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373219" y="767715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12001500" y="13144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0" name="Text 27"/>
          <p:cNvSpPr/>
          <p:nvPr/>
        </p:nvSpPr>
        <p:spPr>
          <a:xfrm>
            <a:off x="12001500" y="1028700"/>
            <a:ext cx="12997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· 컴포넌트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3320266" y="1104900"/>
            <a:ext cx="15653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Purpose · Components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2001500" y="1428750"/>
            <a:ext cx="623963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검출 → 치환 전환의 첫 결제 게이트. 1회권 강조, 구독 보조</a:t>
            </a:r>
            <a:endParaRPr lang="en-US" sz="1650" dirty="0"/>
          </a:p>
        </p:txBody>
      </p:sp>
      <p:sp>
        <p:nvSpPr>
          <p:cNvPr id="33" name="Shape 30"/>
          <p:cNvSpPr/>
          <p:nvPr/>
        </p:nvSpPr>
        <p:spPr>
          <a:xfrm>
            <a:off x="12001500" y="214312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4" name="Shape 31"/>
          <p:cNvSpPr/>
          <p:nvPr/>
        </p:nvSpPr>
        <p:spPr>
          <a:xfrm>
            <a:off x="12001500" y="18859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5" name="Text 32"/>
          <p:cNvSpPr/>
          <p:nvPr/>
        </p:nvSpPr>
        <p:spPr>
          <a:xfrm>
            <a:off x="11963400" y="18859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2287250" y="18669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대상 파일 카드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어떤 파일을 결제 후 처리할지 명확히 (썸네일 + 검출 N건)</a:t>
            </a:r>
            <a:endParaRPr lang="en-US" sz="1425" dirty="0"/>
          </a:p>
        </p:txBody>
      </p:sp>
      <p:sp>
        <p:nvSpPr>
          <p:cNvPr id="37" name="Shape 34"/>
          <p:cNvSpPr/>
          <p:nvPr/>
        </p:nvSpPr>
        <p:spPr>
          <a:xfrm>
            <a:off x="12001500" y="247650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8" name="Shape 35"/>
          <p:cNvSpPr/>
          <p:nvPr/>
        </p:nvSpPr>
        <p:spPr>
          <a:xfrm>
            <a:off x="12001500" y="221932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9" name="Text 36"/>
          <p:cNvSpPr/>
          <p:nvPr/>
        </p:nvSpPr>
        <p:spPr>
          <a:xfrm>
            <a:off x="11963400" y="221932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2287250" y="220027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1회권 카드 (강조)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"이번 영상만" + "추천" 배지 + 큰 사이즈</a:t>
            </a:r>
            <a:endParaRPr lang="en-US" sz="1425" dirty="0"/>
          </a:p>
        </p:txBody>
      </p:sp>
      <p:sp>
        <p:nvSpPr>
          <p:cNvPr id="41" name="Shape 38"/>
          <p:cNvSpPr/>
          <p:nvPr/>
        </p:nvSpPr>
        <p:spPr>
          <a:xfrm>
            <a:off x="12001500" y="280987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2" name="Shape 39"/>
          <p:cNvSpPr/>
          <p:nvPr/>
        </p:nvSpPr>
        <p:spPr>
          <a:xfrm>
            <a:off x="12001500" y="255270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3" name="Text 40"/>
          <p:cNvSpPr/>
          <p:nvPr/>
        </p:nvSpPr>
        <p:spPr>
          <a:xfrm>
            <a:off x="11963400" y="255270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2287250" y="253365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 카드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"정기 사용" + "베스트셀러" 배지</a:t>
            </a:r>
            <a:endParaRPr lang="en-US" sz="1425" dirty="0"/>
          </a:p>
        </p:txBody>
      </p:sp>
      <p:sp>
        <p:nvSpPr>
          <p:cNvPr id="46" name="Shape 43"/>
          <p:cNvSpPr/>
          <p:nvPr/>
        </p:nvSpPr>
        <p:spPr>
          <a:xfrm>
            <a:off x="12001500" y="28860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7" name="Text 44"/>
          <p:cNvSpPr/>
          <p:nvPr/>
        </p:nvSpPr>
        <p:spPr>
          <a:xfrm>
            <a:off x="11963400" y="28860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2287250" y="286702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Studio 카드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"팀·크리에이터" 용</a:t>
            </a:r>
            <a:endParaRPr lang="en-US" sz="1425" dirty="0"/>
          </a:p>
        </p:txBody>
      </p:sp>
      <p:sp>
        <p:nvSpPr>
          <p:cNvPr id="52" name="Shape 49"/>
          <p:cNvSpPr/>
          <p:nvPr/>
        </p:nvSpPr>
        <p:spPr>
          <a:xfrm>
            <a:off x="12001500" y="3857625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3" name="Text 50"/>
          <p:cNvSpPr/>
          <p:nvPr/>
        </p:nvSpPr>
        <p:spPr>
          <a:xfrm>
            <a:off x="12001500" y="3571875"/>
            <a:ext cx="9603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/ 이탈</a:t>
            </a:r>
            <a:endParaRPr lang="en-US" sz="1650" dirty="0"/>
          </a:p>
        </p:txBody>
      </p:sp>
      <p:sp>
        <p:nvSpPr>
          <p:cNvPr id="54" name="Text 51"/>
          <p:cNvSpPr/>
          <p:nvPr/>
        </p:nvSpPr>
        <p:spPr>
          <a:xfrm>
            <a:off x="12980938" y="3648075"/>
            <a:ext cx="7868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Entry · Exit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12006263" y="3976687"/>
            <a:ext cx="1047750" cy="6000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2091988" y="4024312"/>
            <a:ext cx="9525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</a:t>
            </a:r>
            <a:endParaRPr lang="en-US" sz="1425" dirty="0"/>
          </a:p>
        </p:txBody>
      </p:sp>
      <p:sp>
        <p:nvSpPr>
          <p:cNvPr id="57" name="Shape 54"/>
          <p:cNvSpPr/>
          <p:nvPr/>
        </p:nvSpPr>
        <p:spPr>
          <a:xfrm>
            <a:off x="13054013" y="3976687"/>
            <a:ext cx="5000625" cy="6000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3179743" y="4019550"/>
            <a:ext cx="487013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분석 리포트 (v1 비결제)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SNS 결과 (v1 비결제)</a:t>
            </a:r>
            <a:endParaRPr lang="en-US" sz="1425" dirty="0"/>
          </a:p>
        </p:txBody>
      </p:sp>
      <p:sp>
        <p:nvSpPr>
          <p:cNvPr id="59" name="Shape 56"/>
          <p:cNvSpPr/>
          <p:nvPr/>
        </p:nvSpPr>
        <p:spPr>
          <a:xfrm>
            <a:off x="12006263" y="4576763"/>
            <a:ext cx="1047750" cy="8572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2091988" y="4624387"/>
            <a:ext cx="9525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/ 다음</a:t>
            </a:r>
            <a:endParaRPr lang="en-US" sz="1425" dirty="0"/>
          </a:p>
        </p:txBody>
      </p:sp>
      <p:sp>
        <p:nvSpPr>
          <p:cNvPr id="61" name="Shape 58"/>
          <p:cNvSpPr/>
          <p:nvPr/>
        </p:nvSpPr>
        <p:spPr>
          <a:xfrm>
            <a:off x="13054013" y="4576763"/>
            <a:ext cx="5000625" cy="8572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3179743" y="4619625"/>
            <a:ext cx="487013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플랜 선택 → 14 결제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뒤로 → 직전 리포트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"건너뛰기" ✕</a:t>
            </a:r>
            <a:endParaRPr lang="en-US" sz="1425" dirty="0"/>
          </a:p>
        </p:txBody>
      </p:sp>
      <p:sp>
        <p:nvSpPr>
          <p:cNvPr id="63" name="Shape 60"/>
          <p:cNvSpPr/>
          <p:nvPr/>
        </p:nvSpPr>
        <p:spPr>
          <a:xfrm>
            <a:off x="12001500" y="5819775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64" name="Text 61"/>
          <p:cNvSpPr/>
          <p:nvPr/>
        </p:nvSpPr>
        <p:spPr>
          <a:xfrm>
            <a:off x="12001500" y="5534025"/>
            <a:ext cx="849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분기·규칙</a:t>
            </a:r>
            <a:endParaRPr lang="en-US" sz="1650" dirty="0"/>
          </a:p>
        </p:txBody>
      </p:sp>
      <p:sp>
        <p:nvSpPr>
          <p:cNvPr id="65" name="Text 62"/>
          <p:cNvSpPr/>
          <p:nvPr/>
        </p:nvSpPr>
        <p:spPr>
          <a:xfrm>
            <a:off x="12869912" y="5610225"/>
            <a:ext cx="4344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Rules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12006263" y="5938838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2091988" y="5986463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Free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13054013" y="5938838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3139738" y="5986463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카드 모두 표시</a:t>
            </a:r>
            <a:endParaRPr lang="en-US" sz="1425" dirty="0"/>
          </a:p>
        </p:txBody>
      </p:sp>
      <p:sp>
        <p:nvSpPr>
          <p:cNvPr id="70" name="Shape 67"/>
          <p:cNvSpPr/>
          <p:nvPr/>
        </p:nvSpPr>
        <p:spPr>
          <a:xfrm>
            <a:off x="12006263" y="6262688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2091988" y="6310312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 한도 잔여</a:t>
            </a:r>
            <a:endParaRPr lang="en-US" sz="1425" dirty="0"/>
          </a:p>
        </p:txBody>
      </p:sp>
      <p:sp>
        <p:nvSpPr>
          <p:cNvPr id="72" name="Shape 69"/>
          <p:cNvSpPr/>
          <p:nvPr/>
        </p:nvSpPr>
        <p:spPr>
          <a:xfrm>
            <a:off x="13054013" y="6262688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3139738" y="6310312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페이지 건너뛰고 → 15</a:t>
            </a:r>
            <a:endParaRPr lang="en-US" sz="1425" dirty="0"/>
          </a:p>
        </p:txBody>
      </p:sp>
      <p:sp>
        <p:nvSpPr>
          <p:cNvPr id="74" name="Shape 71"/>
          <p:cNvSpPr/>
          <p:nvPr/>
        </p:nvSpPr>
        <p:spPr>
          <a:xfrm>
            <a:off x="12006263" y="6824663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2091988" y="6872288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 한도 소진</a:t>
            </a:r>
            <a:endParaRPr lang="en-US" sz="1425" dirty="0"/>
          </a:p>
        </p:txBody>
      </p:sp>
      <p:sp>
        <p:nvSpPr>
          <p:cNvPr id="76" name="Shape 73"/>
          <p:cNvSpPr/>
          <p:nvPr/>
        </p:nvSpPr>
        <p:spPr>
          <a:xfrm>
            <a:off x="13054013" y="6824663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13139738" y="6872288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"이번 달 한도 소진" + 1회권/업그레이드</a:t>
            </a:r>
            <a:endParaRPr lang="en-US" sz="1425" dirty="0"/>
          </a:p>
        </p:txBody>
      </p:sp>
      <p:sp>
        <p:nvSpPr>
          <p:cNvPr id="78" name="Shape 75"/>
          <p:cNvSpPr/>
          <p:nvPr/>
        </p:nvSpPr>
        <p:spPr>
          <a:xfrm>
            <a:off x="12006263" y="7386638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12091988" y="7434263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 단계</a:t>
            </a:r>
            <a:endParaRPr lang="en-US" sz="1425" dirty="0"/>
          </a:p>
        </p:txBody>
      </p:sp>
      <p:sp>
        <p:nvSpPr>
          <p:cNvPr id="80" name="Shape 77"/>
          <p:cNvSpPr/>
          <p:nvPr/>
        </p:nvSpPr>
        <p:spPr>
          <a:xfrm>
            <a:off x="13054013" y="7386638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13139738" y="7434263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페이지 미노출 (10·12에서 15 직행)</a:t>
            </a:r>
            <a:endParaRPr lang="en-US" sz="1425" dirty="0"/>
          </a:p>
        </p:txBody>
      </p:sp>
      <p:sp>
        <p:nvSpPr>
          <p:cNvPr id="82" name="Shape 79"/>
          <p:cNvSpPr/>
          <p:nvPr/>
        </p:nvSpPr>
        <p:spPr>
          <a:xfrm>
            <a:off x="0" y="9944100"/>
            <a:ext cx="18288000" cy="3429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83" name="Shape 80"/>
          <p:cNvSpPr/>
          <p:nvPr/>
        </p:nvSpPr>
        <p:spPr>
          <a:xfrm>
            <a:off x="0" y="9944100"/>
            <a:ext cx="18288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84" name="Text 81"/>
          <p:cNvSpPr/>
          <p:nvPr/>
        </p:nvSpPr>
        <p:spPr>
          <a:xfrm>
            <a:off x="304800" y="10034588"/>
            <a:ext cx="477415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54" dirty="0">
                <a:solidFill>
                  <a:srgbClr val="798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· 화면설계서 v1.0 · #garim.kr/checkout/gate</a:t>
            </a:r>
            <a:endParaRPr lang="en-US" sz="1200" dirty="0"/>
          </a:p>
        </p:txBody>
      </p:sp>
      <p:sp>
        <p:nvSpPr>
          <p:cNvPr id="85" name="Text 82"/>
          <p:cNvSpPr/>
          <p:nvPr/>
        </p:nvSpPr>
        <p:spPr>
          <a:xfrm>
            <a:off x="13006239" y="10020300"/>
            <a:ext cx="512627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P13 · 결제 게이트·플랜 선택 · ref: Stripe Checkout · 토스결제 모달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228600" y="1343025"/>
            <a:ext cx="11582400" cy="8486775"/>
          </a:xfrm>
          <a:prstGeom prst="roundRect">
            <a:avLst>
              <a:gd name="adj" fmla="val 224"/>
            </a:avLst>
          </a:prstGeom>
          <a:solidFill>
            <a:srgbClr val="FFFFFF"/>
          </a:solidFill>
          <a:ln w="9525">
            <a:solidFill>
              <a:srgbClr val="B8BDC7"/>
            </a:solidFill>
            <a:prstDash val="solid"/>
          </a:ln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97" name="그림 96"/>
          <p:cNvPicPr>
            <a:picLocks noChangeAspect="1"/>
          </p:cNvPicPr>
          <p:nvPr/>
        </p:nvPicPr>
        <p:blipFill rotWithShape="1">
          <a:blip r:embed="rId3"/>
          <a:srcRect t="8476" b="7434"/>
          <a:stretch/>
        </p:blipFill>
        <p:spPr>
          <a:xfrm>
            <a:off x="595909" y="1367591"/>
            <a:ext cx="10991850" cy="8402051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876300"/>
            <a:ext cx="18288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00200" cy="91440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" name="Text 2"/>
          <p:cNvSpPr/>
          <p:nvPr/>
        </p:nvSpPr>
        <p:spPr>
          <a:xfrm>
            <a:off x="560636" y="147638"/>
            <a:ext cx="5549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216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5335" y="309563"/>
            <a:ext cx="6057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kern="0" spc="-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828800" y="152400"/>
            <a:ext cx="1276731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27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페이지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28800" y="561975"/>
            <a:ext cx="1276731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Payment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452848" y="0"/>
            <a:ext cx="9525" cy="914400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" name="Shape 7"/>
          <p:cNvSpPr/>
          <p:nvPr/>
        </p:nvSpPr>
        <p:spPr>
          <a:xfrm>
            <a:off x="14729073" y="304800"/>
            <a:ext cx="544116" cy="304800"/>
          </a:xfrm>
          <a:prstGeom prst="roundRect">
            <a:avLst>
              <a:gd name="adj" fmla="val 12500"/>
            </a:avLst>
          </a:prstGeom>
          <a:solidFill>
            <a:srgbClr val="455A64"/>
          </a:solidFill>
          <a:ln w="9525">
            <a:solidFill>
              <a:srgbClr val="455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852898" y="314325"/>
            <a:ext cx="37266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치환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368439" y="304800"/>
            <a:ext cx="895201" cy="304800"/>
          </a:xfrm>
          <a:prstGeom prst="roundRect">
            <a:avLst>
              <a:gd name="adj" fmla="val 12500"/>
            </a:avLst>
          </a:prstGeom>
          <a:solidFill>
            <a:srgbClr val="2E7D32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492264" y="314325"/>
            <a:ext cx="7237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 정식~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6358890" y="314325"/>
            <a:ext cx="166241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473190" y="314325"/>
            <a:ext cx="1510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2026.05.14 · v1.0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8600" y="1066800"/>
            <a:ext cx="2028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와이어 / Hi-Fi Mockup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470975" y="1066800"/>
            <a:ext cx="23019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garim.kr/checkout/pay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3535561" y="2366516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516511" y="2385566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3707011" y="7212807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687961" y="7231857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3726061" y="8304100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3707011" y="832315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834188" y="6153150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815138" y="617220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12001500" y="13144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28" name="Text 25"/>
          <p:cNvSpPr/>
          <p:nvPr/>
        </p:nvSpPr>
        <p:spPr>
          <a:xfrm>
            <a:off x="12001500" y="1028700"/>
            <a:ext cx="12997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· 컴포넌트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3320266" y="1104900"/>
            <a:ext cx="15653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Purpose · Components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2001500" y="1428750"/>
            <a:ext cx="623963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안전한 결제 처리. PG사 위탁 — B-1 결제 정보 보안 정책</a:t>
            </a:r>
            <a:endParaRPr lang="en-US" sz="1650" dirty="0"/>
          </a:p>
        </p:txBody>
      </p:sp>
      <p:sp>
        <p:nvSpPr>
          <p:cNvPr id="31" name="Shape 28"/>
          <p:cNvSpPr/>
          <p:nvPr/>
        </p:nvSpPr>
        <p:spPr>
          <a:xfrm>
            <a:off x="12001500" y="214312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2" name="Shape 29"/>
          <p:cNvSpPr/>
          <p:nvPr/>
        </p:nvSpPr>
        <p:spPr>
          <a:xfrm>
            <a:off x="12001500" y="18859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3" name="Text 30"/>
          <p:cNvSpPr/>
          <p:nvPr/>
        </p:nvSpPr>
        <p:spPr>
          <a:xfrm>
            <a:off x="11963400" y="18859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2287250" y="18669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요약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선택 플랜·기간·금액·세금. 변경은 13으로 복귀</a:t>
            </a:r>
            <a:endParaRPr lang="en-US" sz="1425" dirty="0"/>
          </a:p>
        </p:txBody>
      </p:sp>
      <p:sp>
        <p:nvSpPr>
          <p:cNvPr id="35" name="Shape 32"/>
          <p:cNvSpPr/>
          <p:nvPr/>
        </p:nvSpPr>
        <p:spPr>
          <a:xfrm>
            <a:off x="12001500" y="247650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6" name="Shape 33"/>
          <p:cNvSpPr/>
          <p:nvPr/>
        </p:nvSpPr>
        <p:spPr>
          <a:xfrm>
            <a:off x="12001500" y="221932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7" name="Text 34"/>
          <p:cNvSpPr/>
          <p:nvPr/>
        </p:nvSpPr>
        <p:spPr>
          <a:xfrm>
            <a:off x="11963400" y="221932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2287250" y="220027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수단 선택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카드 · 카카오페이 · 토스페이 · 계좌이체</a:t>
            </a:r>
            <a:endParaRPr lang="en-US" sz="1425" dirty="0"/>
          </a:p>
        </p:txBody>
      </p:sp>
      <p:sp>
        <p:nvSpPr>
          <p:cNvPr id="39" name="Shape 36"/>
          <p:cNvSpPr/>
          <p:nvPr/>
        </p:nvSpPr>
        <p:spPr>
          <a:xfrm>
            <a:off x="12001500" y="280987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0" name="Shape 37"/>
          <p:cNvSpPr/>
          <p:nvPr/>
        </p:nvSpPr>
        <p:spPr>
          <a:xfrm>
            <a:off x="12001500" y="255270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1" name="Text 38"/>
          <p:cNvSpPr/>
          <p:nvPr/>
        </p:nvSpPr>
        <p:spPr>
          <a:xfrm>
            <a:off x="11963400" y="255270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2287250" y="253365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PG사 위탁 결제 모달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카드번호·CVC는 PG iframe (Garim 미수신)</a:t>
            </a:r>
            <a:endParaRPr lang="en-US" sz="1425" dirty="0"/>
          </a:p>
        </p:txBody>
      </p:sp>
      <p:sp>
        <p:nvSpPr>
          <p:cNvPr id="43" name="Shape 40"/>
          <p:cNvSpPr/>
          <p:nvPr/>
        </p:nvSpPr>
        <p:spPr>
          <a:xfrm>
            <a:off x="12001500" y="28860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4" name="Text 41"/>
          <p:cNvSpPr/>
          <p:nvPr/>
        </p:nvSpPr>
        <p:spPr>
          <a:xfrm>
            <a:off x="11963400" y="28860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2287250" y="286702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약관 동의 + 결제 CTA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정기 결제는 자동 결제 동의 별도</a:t>
            </a:r>
            <a:endParaRPr lang="en-US" sz="1425" dirty="0"/>
          </a:p>
        </p:txBody>
      </p:sp>
      <p:sp>
        <p:nvSpPr>
          <p:cNvPr id="46" name="Shape 43"/>
          <p:cNvSpPr/>
          <p:nvPr/>
        </p:nvSpPr>
        <p:spPr>
          <a:xfrm>
            <a:off x="12001500" y="3868654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7" name="Text 44"/>
          <p:cNvSpPr/>
          <p:nvPr/>
        </p:nvSpPr>
        <p:spPr>
          <a:xfrm>
            <a:off x="12001500" y="3582904"/>
            <a:ext cx="9603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/ 이탈</a:t>
            </a:r>
            <a:endParaRPr lang="en-US" sz="1650" dirty="0"/>
          </a:p>
        </p:txBody>
      </p:sp>
      <p:sp>
        <p:nvSpPr>
          <p:cNvPr id="48" name="Text 45"/>
          <p:cNvSpPr/>
          <p:nvPr/>
        </p:nvSpPr>
        <p:spPr>
          <a:xfrm>
            <a:off x="12980938" y="3659104"/>
            <a:ext cx="7868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Entry · Exit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12006263" y="3987717"/>
            <a:ext cx="1047750" cy="34290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2091988" y="4035341"/>
            <a:ext cx="9525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</a:t>
            </a:r>
            <a:endParaRPr lang="en-US" sz="1425" dirty="0"/>
          </a:p>
        </p:txBody>
      </p:sp>
      <p:sp>
        <p:nvSpPr>
          <p:cNvPr id="51" name="Shape 48"/>
          <p:cNvSpPr/>
          <p:nvPr/>
        </p:nvSpPr>
        <p:spPr>
          <a:xfrm>
            <a:off x="13054013" y="3987717"/>
            <a:ext cx="5000625" cy="34290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3179743" y="4030579"/>
            <a:ext cx="487013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플랜 선택 완료</a:t>
            </a:r>
            <a:endParaRPr lang="en-US" sz="1425" dirty="0"/>
          </a:p>
        </p:txBody>
      </p:sp>
      <p:sp>
        <p:nvSpPr>
          <p:cNvPr id="53" name="Shape 50"/>
          <p:cNvSpPr/>
          <p:nvPr/>
        </p:nvSpPr>
        <p:spPr>
          <a:xfrm>
            <a:off x="12006263" y="4330617"/>
            <a:ext cx="1047750" cy="8572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2091988" y="4378241"/>
            <a:ext cx="9525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/ 다음</a:t>
            </a:r>
            <a:endParaRPr lang="en-US" sz="1425" dirty="0"/>
          </a:p>
        </p:txBody>
      </p:sp>
      <p:sp>
        <p:nvSpPr>
          <p:cNvPr id="55" name="Shape 52"/>
          <p:cNvSpPr/>
          <p:nvPr/>
        </p:nvSpPr>
        <p:spPr>
          <a:xfrm>
            <a:off x="13054013" y="4330617"/>
            <a:ext cx="5000625" cy="8572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3179743" y="4373479"/>
            <a:ext cx="487013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성공 → 15 옵션 설정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→ 사유 + 재시도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취소 → 13</a:t>
            </a:r>
            <a:endParaRPr lang="en-US" sz="1425" dirty="0"/>
          </a:p>
        </p:txBody>
      </p:sp>
      <p:sp>
        <p:nvSpPr>
          <p:cNvPr id="57" name="Shape 54"/>
          <p:cNvSpPr/>
          <p:nvPr/>
        </p:nvSpPr>
        <p:spPr>
          <a:xfrm>
            <a:off x="12001500" y="5573629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8" name="Text 55"/>
          <p:cNvSpPr/>
          <p:nvPr/>
        </p:nvSpPr>
        <p:spPr>
          <a:xfrm>
            <a:off x="12001500" y="5287879"/>
            <a:ext cx="849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분기·규칙</a:t>
            </a:r>
            <a:endParaRPr lang="en-US" sz="1650" dirty="0"/>
          </a:p>
        </p:txBody>
      </p:sp>
      <p:sp>
        <p:nvSpPr>
          <p:cNvPr id="59" name="Text 56"/>
          <p:cNvSpPr/>
          <p:nvPr/>
        </p:nvSpPr>
        <p:spPr>
          <a:xfrm>
            <a:off x="12869912" y="5364079"/>
            <a:ext cx="4344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Rules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12006263" y="5692692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2091988" y="5740316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외국 카드</a:t>
            </a:r>
            <a:endParaRPr lang="en-US" sz="1425" dirty="0"/>
          </a:p>
        </p:txBody>
      </p:sp>
      <p:sp>
        <p:nvSpPr>
          <p:cNvPr id="62" name="Shape 59"/>
          <p:cNvSpPr/>
          <p:nvPr/>
        </p:nvSpPr>
        <p:spPr>
          <a:xfrm>
            <a:off x="13054013" y="5692692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3139738" y="5740316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PG사 지원 여부에 따름</a:t>
            </a:r>
            <a:endParaRPr lang="en-US" sz="1425" dirty="0"/>
          </a:p>
        </p:txBody>
      </p:sp>
      <p:sp>
        <p:nvSpPr>
          <p:cNvPr id="64" name="Shape 61"/>
          <p:cNvSpPr/>
          <p:nvPr/>
        </p:nvSpPr>
        <p:spPr>
          <a:xfrm>
            <a:off x="12006263" y="6016542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2091988" y="6064167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 결제 (Pro/Studio)</a:t>
            </a:r>
            <a:endParaRPr lang="en-US" sz="1425" dirty="0"/>
          </a:p>
        </p:txBody>
      </p:sp>
      <p:sp>
        <p:nvSpPr>
          <p:cNvPr id="66" name="Shape 63"/>
          <p:cNvSpPr/>
          <p:nvPr/>
        </p:nvSpPr>
        <p:spPr>
          <a:xfrm>
            <a:off x="13054013" y="6016542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3139738" y="6064167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결제 동의 별도 체크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12006263" y="6578517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2091988" y="6626141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B-1 보유 ○</a:t>
            </a:r>
            <a:endParaRPr lang="en-US" sz="1425" dirty="0"/>
          </a:p>
        </p:txBody>
      </p:sp>
      <p:sp>
        <p:nvSpPr>
          <p:cNvPr id="70" name="Shape 67"/>
          <p:cNvSpPr/>
          <p:nvPr/>
        </p:nvSpPr>
        <p:spPr>
          <a:xfrm>
            <a:off x="13054013" y="6578517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13134975" y="6649954"/>
            <a:ext cx="530721" cy="20955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72" name="Text 69"/>
          <p:cNvSpPr/>
          <p:nvPr/>
        </p:nvSpPr>
        <p:spPr>
          <a:xfrm>
            <a:off x="13192125" y="6659479"/>
            <a:ext cx="4926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25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주문 ID</a:t>
            </a:r>
            <a:endParaRPr lang="en-US" sz="1125" dirty="0"/>
          </a:p>
        </p:txBody>
      </p:sp>
      <p:sp>
        <p:nvSpPr>
          <p:cNvPr id="73" name="Shape 70"/>
          <p:cNvSpPr/>
          <p:nvPr/>
        </p:nvSpPr>
        <p:spPr>
          <a:xfrm>
            <a:off x="13739664" y="6649954"/>
            <a:ext cx="530721" cy="20955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74" name="Text 71"/>
          <p:cNvSpPr/>
          <p:nvPr/>
        </p:nvSpPr>
        <p:spPr>
          <a:xfrm>
            <a:off x="13796814" y="6659479"/>
            <a:ext cx="49262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25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ID</a:t>
            </a:r>
            <a:endParaRPr lang="en-US" sz="1125" dirty="0"/>
          </a:p>
        </p:txBody>
      </p:sp>
      <p:sp>
        <p:nvSpPr>
          <p:cNvPr id="75" name="Shape 72"/>
          <p:cNvSpPr/>
          <p:nvPr/>
        </p:nvSpPr>
        <p:spPr>
          <a:xfrm>
            <a:off x="14344352" y="6649954"/>
            <a:ext cx="361355" cy="20955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76" name="Text 73"/>
          <p:cNvSpPr/>
          <p:nvPr/>
        </p:nvSpPr>
        <p:spPr>
          <a:xfrm>
            <a:off x="14401502" y="6659479"/>
            <a:ext cx="32325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25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금액</a:t>
            </a:r>
            <a:endParaRPr lang="en-US" sz="1125" dirty="0"/>
          </a:p>
        </p:txBody>
      </p:sp>
      <p:sp>
        <p:nvSpPr>
          <p:cNvPr id="77" name="Shape 74"/>
          <p:cNvSpPr/>
          <p:nvPr/>
        </p:nvSpPr>
        <p:spPr>
          <a:xfrm>
            <a:off x="14779675" y="6649954"/>
            <a:ext cx="654248" cy="20955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78" name="Text 75"/>
          <p:cNvSpPr/>
          <p:nvPr/>
        </p:nvSpPr>
        <p:spPr>
          <a:xfrm>
            <a:off x="14836825" y="6659479"/>
            <a:ext cx="61614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25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ID</a:t>
            </a:r>
            <a:endParaRPr lang="en-US" sz="1125" dirty="0"/>
          </a:p>
        </p:txBody>
      </p:sp>
      <p:sp>
        <p:nvSpPr>
          <p:cNvPr id="79" name="Shape 76"/>
          <p:cNvSpPr/>
          <p:nvPr/>
        </p:nvSpPr>
        <p:spPr>
          <a:xfrm>
            <a:off x="15507891" y="6649954"/>
            <a:ext cx="585788" cy="20955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</p:sp>
      <p:sp>
        <p:nvSpPr>
          <p:cNvPr id="80" name="Text 77"/>
          <p:cNvSpPr/>
          <p:nvPr/>
        </p:nvSpPr>
        <p:spPr>
          <a:xfrm>
            <a:off x="15565041" y="6659479"/>
            <a:ext cx="547688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25" dirty="0">
                <a:solidFill>
                  <a:srgbClr val="1B5E2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PG 토큰</a:t>
            </a:r>
            <a:endParaRPr lang="en-US" sz="1125" dirty="0"/>
          </a:p>
        </p:txBody>
      </p:sp>
      <p:sp>
        <p:nvSpPr>
          <p:cNvPr id="81" name="Shape 78"/>
          <p:cNvSpPr/>
          <p:nvPr/>
        </p:nvSpPr>
        <p:spPr>
          <a:xfrm>
            <a:off x="12006263" y="6902367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12091988" y="6949992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B-1 미보유 ✕</a:t>
            </a:r>
            <a:endParaRPr lang="en-US" sz="1425" dirty="0"/>
          </a:p>
        </p:txBody>
      </p:sp>
      <p:sp>
        <p:nvSpPr>
          <p:cNvPr id="83" name="Shape 80"/>
          <p:cNvSpPr/>
          <p:nvPr/>
        </p:nvSpPr>
        <p:spPr>
          <a:xfrm>
            <a:off x="13054013" y="6902367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3134975" y="6973804"/>
            <a:ext cx="608261" cy="209550"/>
          </a:xfrm>
          <a:prstGeom prst="roundRect">
            <a:avLst>
              <a:gd name="adj" fmla="val 50000"/>
            </a:avLst>
          </a:prstGeom>
          <a:solidFill>
            <a:srgbClr val="FFEBEE"/>
          </a:solidFill>
          <a:ln/>
        </p:spPr>
      </p:sp>
      <p:sp>
        <p:nvSpPr>
          <p:cNvPr id="85" name="Text 82"/>
          <p:cNvSpPr/>
          <p:nvPr/>
        </p:nvSpPr>
        <p:spPr>
          <a:xfrm>
            <a:off x="13192125" y="6983329"/>
            <a:ext cx="5701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25" dirty="0">
                <a:solidFill>
                  <a:srgbClr val="B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카드번호</a:t>
            </a:r>
            <a:endParaRPr lang="en-US" sz="1125" dirty="0"/>
          </a:p>
        </p:txBody>
      </p:sp>
      <p:sp>
        <p:nvSpPr>
          <p:cNvPr id="86" name="Shape 83"/>
          <p:cNvSpPr/>
          <p:nvPr/>
        </p:nvSpPr>
        <p:spPr>
          <a:xfrm>
            <a:off x="13817203" y="6973804"/>
            <a:ext cx="405705" cy="209550"/>
          </a:xfrm>
          <a:prstGeom prst="roundRect">
            <a:avLst>
              <a:gd name="adj" fmla="val 50000"/>
            </a:avLst>
          </a:prstGeom>
          <a:solidFill>
            <a:srgbClr val="FFEBEE"/>
          </a:solidFill>
          <a:ln/>
        </p:spPr>
      </p:sp>
      <p:sp>
        <p:nvSpPr>
          <p:cNvPr id="87" name="Text 84"/>
          <p:cNvSpPr/>
          <p:nvPr/>
        </p:nvSpPr>
        <p:spPr>
          <a:xfrm>
            <a:off x="13874353" y="6983329"/>
            <a:ext cx="367605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25" dirty="0">
                <a:solidFill>
                  <a:srgbClr val="B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CVC</a:t>
            </a:r>
            <a:endParaRPr lang="en-US" sz="1125" dirty="0"/>
          </a:p>
        </p:txBody>
      </p:sp>
      <p:sp>
        <p:nvSpPr>
          <p:cNvPr id="88" name="Shape 85"/>
          <p:cNvSpPr/>
          <p:nvPr/>
        </p:nvSpPr>
        <p:spPr>
          <a:xfrm>
            <a:off x="14296876" y="6973804"/>
            <a:ext cx="608261" cy="209550"/>
          </a:xfrm>
          <a:prstGeom prst="roundRect">
            <a:avLst>
              <a:gd name="adj" fmla="val 50000"/>
            </a:avLst>
          </a:prstGeom>
          <a:solidFill>
            <a:srgbClr val="FFEBEE"/>
          </a:solidFill>
          <a:ln/>
        </p:spPr>
      </p:sp>
      <p:sp>
        <p:nvSpPr>
          <p:cNvPr id="89" name="Text 86"/>
          <p:cNvSpPr/>
          <p:nvPr/>
        </p:nvSpPr>
        <p:spPr>
          <a:xfrm>
            <a:off x="14354026" y="6983329"/>
            <a:ext cx="5701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25" dirty="0">
                <a:solidFill>
                  <a:srgbClr val="B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유효기간</a:t>
            </a:r>
            <a:endParaRPr lang="en-US" sz="1125" dirty="0"/>
          </a:p>
        </p:txBody>
      </p:sp>
      <p:sp>
        <p:nvSpPr>
          <p:cNvPr id="90" name="Shape 87"/>
          <p:cNvSpPr/>
          <p:nvPr/>
        </p:nvSpPr>
        <p:spPr>
          <a:xfrm>
            <a:off x="14979104" y="6973804"/>
            <a:ext cx="608261" cy="209550"/>
          </a:xfrm>
          <a:prstGeom prst="roundRect">
            <a:avLst>
              <a:gd name="adj" fmla="val 50000"/>
            </a:avLst>
          </a:prstGeom>
          <a:solidFill>
            <a:srgbClr val="FFEBEE"/>
          </a:solidFill>
          <a:ln/>
        </p:spPr>
      </p:sp>
      <p:sp>
        <p:nvSpPr>
          <p:cNvPr id="91" name="Text 88"/>
          <p:cNvSpPr/>
          <p:nvPr/>
        </p:nvSpPr>
        <p:spPr>
          <a:xfrm>
            <a:off x="15036254" y="6983329"/>
            <a:ext cx="57016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25" dirty="0">
                <a:solidFill>
                  <a:srgbClr val="B71C1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계좌번호</a:t>
            </a:r>
            <a:endParaRPr lang="en-US" sz="1125" dirty="0"/>
          </a:p>
        </p:txBody>
      </p:sp>
      <p:sp>
        <p:nvSpPr>
          <p:cNvPr id="92" name="Shape 89"/>
          <p:cNvSpPr/>
          <p:nvPr/>
        </p:nvSpPr>
        <p:spPr>
          <a:xfrm>
            <a:off x="0" y="9944100"/>
            <a:ext cx="18288000" cy="3429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93" name="Shape 90"/>
          <p:cNvSpPr/>
          <p:nvPr/>
        </p:nvSpPr>
        <p:spPr>
          <a:xfrm>
            <a:off x="0" y="9944100"/>
            <a:ext cx="18288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4" name="Text 91"/>
          <p:cNvSpPr/>
          <p:nvPr/>
        </p:nvSpPr>
        <p:spPr>
          <a:xfrm>
            <a:off x="304800" y="10034588"/>
            <a:ext cx="467007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54" dirty="0">
                <a:solidFill>
                  <a:srgbClr val="798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· 화면설계서 v1.0 · #garim.kr/checkout/pay</a:t>
            </a:r>
            <a:endParaRPr lang="en-US" sz="1200" dirty="0"/>
          </a:p>
        </p:txBody>
      </p:sp>
      <p:sp>
        <p:nvSpPr>
          <p:cNvPr id="95" name="Text 92"/>
          <p:cNvSpPr/>
          <p:nvPr/>
        </p:nvSpPr>
        <p:spPr>
          <a:xfrm>
            <a:off x="14001899" y="10020300"/>
            <a:ext cx="410074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P14 · 결제 페이지 · ref: Stripe · 토스결제 · 카카오페이</a:t>
            </a:r>
            <a:endParaRPr lang="en-US" sz="1350" dirty="0"/>
          </a:p>
        </p:txBody>
      </p:sp>
      <p:sp>
        <p:nvSpPr>
          <p:cNvPr id="98" name="Shape 24"/>
          <p:cNvSpPr/>
          <p:nvPr/>
        </p:nvSpPr>
        <p:spPr>
          <a:xfrm>
            <a:off x="6229350" y="9278729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99" name="Text 25"/>
          <p:cNvSpPr/>
          <p:nvPr/>
        </p:nvSpPr>
        <p:spPr>
          <a:xfrm>
            <a:off x="6210300" y="9297779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350" dirty="0"/>
          </a:p>
        </p:txBody>
      </p:sp>
      <p:sp>
        <p:nvSpPr>
          <p:cNvPr id="100" name="Shape 42"/>
          <p:cNvSpPr/>
          <p:nvPr/>
        </p:nvSpPr>
        <p:spPr>
          <a:xfrm>
            <a:off x="12001500" y="314325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101" name="Shape 46"/>
          <p:cNvSpPr/>
          <p:nvPr/>
        </p:nvSpPr>
        <p:spPr>
          <a:xfrm>
            <a:off x="12001500" y="32194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102" name="Text 47"/>
          <p:cNvSpPr/>
          <p:nvPr/>
        </p:nvSpPr>
        <p:spPr>
          <a:xfrm>
            <a:off x="11963400" y="32194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00" dirty="0"/>
          </a:p>
        </p:txBody>
      </p:sp>
      <p:sp>
        <p:nvSpPr>
          <p:cNvPr id="103" name="Text 48"/>
          <p:cNvSpPr/>
          <p:nvPr/>
        </p:nvSpPr>
        <p:spPr>
          <a:xfrm>
            <a:off x="12287250" y="32004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안전 신뢰 표지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PG사 로고 · "Garim은 카드 정보 보관 ✕" (B-1)</a:t>
            </a:r>
            <a:endParaRPr lang="en-US" sz="14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228600" y="1343025"/>
            <a:ext cx="11582400" cy="8486775"/>
          </a:xfrm>
          <a:prstGeom prst="roundRect">
            <a:avLst>
              <a:gd name="adj" fmla="val 224"/>
            </a:avLst>
          </a:prstGeom>
          <a:solidFill>
            <a:srgbClr val="FFFFFF"/>
          </a:solidFill>
          <a:ln w="9525">
            <a:solidFill>
              <a:srgbClr val="B8BDC7"/>
            </a:solidFill>
            <a:prstDash val="solid"/>
          </a:ln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95" name="그림 94"/>
          <p:cNvPicPr>
            <a:picLocks noChangeAspect="1"/>
          </p:cNvPicPr>
          <p:nvPr/>
        </p:nvPicPr>
        <p:blipFill rotWithShape="1">
          <a:blip r:embed="rId3"/>
          <a:srcRect t="6272"/>
          <a:stretch/>
        </p:blipFill>
        <p:spPr>
          <a:xfrm>
            <a:off x="1322590" y="1402431"/>
            <a:ext cx="9634168" cy="842737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876300"/>
            <a:ext cx="18288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00200" cy="942975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" name="Text 2"/>
          <p:cNvSpPr/>
          <p:nvPr/>
        </p:nvSpPr>
        <p:spPr>
          <a:xfrm>
            <a:off x="560636" y="161925"/>
            <a:ext cx="5549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216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5335" y="323850"/>
            <a:ext cx="6057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kern="0" spc="-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828800" y="152400"/>
            <a:ext cx="1283292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27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치환 옵션 설정 </a:t>
            </a:r>
            <a:r>
              <a:rPr lang="en-US" sz="1350" kern="0" spc="-27" dirty="0">
                <a:solidFill>
                  <a:srgbClr val="FFFFFF"/>
                </a:solidFill>
                <a:highlight>
                  <a:srgbClr val="D32F2F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핵심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28800" y="590550"/>
            <a:ext cx="128329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Replace Options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516546" y="0"/>
            <a:ext cx="9525" cy="94297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" name="Shape 7"/>
          <p:cNvSpPr/>
          <p:nvPr/>
        </p:nvSpPr>
        <p:spPr>
          <a:xfrm>
            <a:off x="14792771" y="319088"/>
            <a:ext cx="544116" cy="304800"/>
          </a:xfrm>
          <a:prstGeom prst="roundRect">
            <a:avLst>
              <a:gd name="adj" fmla="val 12500"/>
            </a:avLst>
          </a:prstGeom>
          <a:solidFill>
            <a:srgbClr val="455A64"/>
          </a:solidFill>
          <a:ln w="9525">
            <a:solidFill>
              <a:srgbClr val="455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16596" y="328613"/>
            <a:ext cx="37266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치환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432137" y="319088"/>
            <a:ext cx="831503" cy="304800"/>
          </a:xfrm>
          <a:prstGeom prst="roundRect">
            <a:avLst>
              <a:gd name="adj" fmla="val 12500"/>
            </a:avLst>
          </a:prstGeom>
          <a:solidFill>
            <a:srgbClr val="0288D1"/>
          </a:solidFill>
          <a:ln w="9525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55962" y="328613"/>
            <a:ext cx="6600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6358890" y="328613"/>
            <a:ext cx="166241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473190" y="328613"/>
            <a:ext cx="1510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2026.05.14 · v1.0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8600" y="1066800"/>
            <a:ext cx="2028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와이어 / Hi-Fi Mockup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940998" y="1066800"/>
            <a:ext cx="283837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garim.kr/jobs/[id]/options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1847850" y="2972301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28800" y="2991351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9085957" y="2197150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9066907" y="221620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9085957" y="4398764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066907" y="4417814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9105007" y="7817072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9085957" y="7836122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10785308" y="9354866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10766258" y="9373916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12001500" y="13144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0" name="Text 27"/>
          <p:cNvSpPr/>
          <p:nvPr/>
        </p:nvSpPr>
        <p:spPr>
          <a:xfrm>
            <a:off x="12001500" y="1028700"/>
            <a:ext cx="12997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· 컴포넌트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3320266" y="1104900"/>
            <a:ext cx="15653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Purpose · Components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2001500" y="1428750"/>
            <a:ext cx="623963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사용자가 검출 항목을 어떻게 처리할지 직접 결정. **사용자 제어권 = Garim 핵심 가치**</a:t>
            </a:r>
            <a:endParaRPr lang="en-US" sz="1650" dirty="0"/>
          </a:p>
        </p:txBody>
      </p:sp>
      <p:sp>
        <p:nvSpPr>
          <p:cNvPr id="33" name="Shape 30"/>
          <p:cNvSpPr/>
          <p:nvPr/>
        </p:nvSpPr>
        <p:spPr>
          <a:xfrm>
            <a:off x="12001500" y="270510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4" name="Shape 31"/>
          <p:cNvSpPr/>
          <p:nvPr/>
        </p:nvSpPr>
        <p:spPr>
          <a:xfrm>
            <a:off x="12001500" y="22002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5" name="Text 32"/>
          <p:cNvSpPr/>
          <p:nvPr/>
        </p:nvSpPr>
        <p:spPr>
          <a:xfrm>
            <a:off x="11963400" y="22002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2287250" y="2181225"/>
            <a:ext cx="594531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플레이어 (좌 60%)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검출 영역 오버레이 + 타임라인 마커 + 토글로 옵션 미리보기</a:t>
            </a:r>
            <a:endParaRPr lang="en-US" sz="1425" dirty="0"/>
          </a:p>
        </p:txBody>
      </p:sp>
      <p:sp>
        <p:nvSpPr>
          <p:cNvPr id="37" name="Shape 34"/>
          <p:cNvSpPr/>
          <p:nvPr/>
        </p:nvSpPr>
        <p:spPr>
          <a:xfrm>
            <a:off x="12001500" y="303847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8" name="Shape 35"/>
          <p:cNvSpPr/>
          <p:nvPr/>
        </p:nvSpPr>
        <p:spPr>
          <a:xfrm>
            <a:off x="12001500" y="278130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9" name="Text 36"/>
          <p:cNvSpPr/>
          <p:nvPr/>
        </p:nvSpPr>
        <p:spPr>
          <a:xfrm>
            <a:off x="11963400" y="278130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2287250" y="276225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일괄 toggle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모두 자동 치환 / 모두 마스킹 / 모두 건너뛰기 1-click</a:t>
            </a:r>
            <a:endParaRPr lang="en-US" sz="1425" dirty="0"/>
          </a:p>
        </p:txBody>
      </p:sp>
      <p:sp>
        <p:nvSpPr>
          <p:cNvPr id="41" name="Shape 38"/>
          <p:cNvSpPr/>
          <p:nvPr/>
        </p:nvSpPr>
        <p:spPr>
          <a:xfrm>
            <a:off x="12001500" y="337185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2" name="Shape 39"/>
          <p:cNvSpPr/>
          <p:nvPr/>
        </p:nvSpPr>
        <p:spPr>
          <a:xfrm>
            <a:off x="12001500" y="31146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3" name="Text 40"/>
          <p:cNvSpPr/>
          <p:nvPr/>
        </p:nvSpPr>
        <p:spPr>
          <a:xfrm>
            <a:off x="11963400" y="31146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2287250" y="309562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항목별 카드 (시각)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얼굴·신분증·문서·번호판 각각 4가지 처리 방식 라디오</a:t>
            </a:r>
            <a:endParaRPr lang="en-US" sz="1425" dirty="0"/>
          </a:p>
        </p:txBody>
      </p:sp>
      <p:sp>
        <p:nvSpPr>
          <p:cNvPr id="45" name="Shape 42"/>
          <p:cNvSpPr/>
          <p:nvPr/>
        </p:nvSpPr>
        <p:spPr>
          <a:xfrm>
            <a:off x="12001500" y="370522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6" name="Shape 43"/>
          <p:cNvSpPr/>
          <p:nvPr/>
        </p:nvSpPr>
        <p:spPr>
          <a:xfrm>
            <a:off x="12001500" y="34480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7" name="Text 44"/>
          <p:cNvSpPr/>
          <p:nvPr/>
        </p:nvSpPr>
        <p:spPr>
          <a:xfrm>
            <a:off x="11963400" y="34480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2287250" y="34290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음성·얼굴 마스킹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음성 변조 (v2) · 얼굴 화이트리스트 (v2)는 비활성</a:t>
            </a:r>
            <a:endParaRPr lang="en-US" sz="1425" dirty="0"/>
          </a:p>
        </p:txBody>
      </p:sp>
      <p:sp>
        <p:nvSpPr>
          <p:cNvPr id="49" name="Shape 46"/>
          <p:cNvSpPr/>
          <p:nvPr/>
        </p:nvSpPr>
        <p:spPr>
          <a:xfrm>
            <a:off x="12001500" y="378142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50" name="Text 47"/>
          <p:cNvSpPr/>
          <p:nvPr/>
        </p:nvSpPr>
        <p:spPr>
          <a:xfrm>
            <a:off x="11963400" y="378142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2287250" y="376237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"미리보기 생성" Primary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예상 시간 + "임시 저장" 보조 + → 16 미리보기</a:t>
            </a:r>
            <a:endParaRPr lang="en-US" sz="1425" dirty="0"/>
          </a:p>
        </p:txBody>
      </p:sp>
      <p:sp>
        <p:nvSpPr>
          <p:cNvPr id="52" name="Shape 49"/>
          <p:cNvSpPr/>
          <p:nvPr/>
        </p:nvSpPr>
        <p:spPr>
          <a:xfrm>
            <a:off x="12001500" y="441960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3" name="Text 50"/>
          <p:cNvSpPr/>
          <p:nvPr/>
        </p:nvSpPr>
        <p:spPr>
          <a:xfrm>
            <a:off x="12001500" y="4133850"/>
            <a:ext cx="9603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/ 이탈</a:t>
            </a:r>
            <a:endParaRPr lang="en-US" sz="1650" dirty="0"/>
          </a:p>
        </p:txBody>
      </p:sp>
      <p:sp>
        <p:nvSpPr>
          <p:cNvPr id="54" name="Text 51"/>
          <p:cNvSpPr/>
          <p:nvPr/>
        </p:nvSpPr>
        <p:spPr>
          <a:xfrm>
            <a:off x="12980938" y="4210050"/>
            <a:ext cx="7868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Entry · Exit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12006263" y="4538663"/>
            <a:ext cx="1047750" cy="8572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2091988" y="4586288"/>
            <a:ext cx="9525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</a:t>
            </a:r>
            <a:endParaRPr lang="en-US" sz="1425" dirty="0"/>
          </a:p>
        </p:txBody>
      </p:sp>
      <p:sp>
        <p:nvSpPr>
          <p:cNvPr id="57" name="Shape 54"/>
          <p:cNvSpPr/>
          <p:nvPr/>
        </p:nvSpPr>
        <p:spPr>
          <a:xfrm>
            <a:off x="13054013" y="4538663"/>
            <a:ext cx="5000625" cy="8572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3179743" y="4581525"/>
            <a:ext cx="487013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10·12 → MVP1 직행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결제 완료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 임시 저장 이력</a:t>
            </a:r>
            <a:endParaRPr lang="en-US" sz="1425" dirty="0"/>
          </a:p>
        </p:txBody>
      </p:sp>
      <p:sp>
        <p:nvSpPr>
          <p:cNvPr id="59" name="Shape 56"/>
          <p:cNvSpPr/>
          <p:nvPr/>
        </p:nvSpPr>
        <p:spPr>
          <a:xfrm>
            <a:off x="12006263" y="5395913"/>
            <a:ext cx="1047750" cy="6000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2091988" y="5443538"/>
            <a:ext cx="9525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/ 다음</a:t>
            </a:r>
            <a:endParaRPr lang="en-US" sz="1425" dirty="0"/>
          </a:p>
        </p:txBody>
      </p:sp>
      <p:sp>
        <p:nvSpPr>
          <p:cNvPr id="61" name="Shape 58"/>
          <p:cNvSpPr/>
          <p:nvPr/>
        </p:nvSpPr>
        <p:spPr>
          <a:xfrm>
            <a:off x="13054013" y="5395913"/>
            <a:ext cx="5000625" cy="6000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3179743" y="5438775"/>
            <a:ext cx="487013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"미리보기 생성" → 16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"임시 저장" → 19</a:t>
            </a:r>
            <a:endParaRPr lang="en-US" sz="1425" dirty="0"/>
          </a:p>
        </p:txBody>
      </p:sp>
      <p:sp>
        <p:nvSpPr>
          <p:cNvPr id="63" name="Shape 60"/>
          <p:cNvSpPr/>
          <p:nvPr/>
        </p:nvSpPr>
        <p:spPr>
          <a:xfrm>
            <a:off x="12001500" y="63817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64" name="Text 61"/>
          <p:cNvSpPr/>
          <p:nvPr/>
        </p:nvSpPr>
        <p:spPr>
          <a:xfrm>
            <a:off x="12001500" y="6096000"/>
            <a:ext cx="849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분기·규칙</a:t>
            </a:r>
            <a:endParaRPr lang="en-US" sz="1650" dirty="0"/>
          </a:p>
        </p:txBody>
      </p:sp>
      <p:sp>
        <p:nvSpPr>
          <p:cNvPr id="65" name="Text 62"/>
          <p:cNvSpPr/>
          <p:nvPr/>
        </p:nvSpPr>
        <p:spPr>
          <a:xfrm>
            <a:off x="12869912" y="6172200"/>
            <a:ext cx="4344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Rules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12006263" y="6500813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2091988" y="6548438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치환 (디폴트)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13054013" y="6500813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3139738" y="6548438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LLM 익명 요청. 글자 수 일치 강제</a:t>
            </a:r>
            <a:endParaRPr lang="en-US" sz="1425" dirty="0"/>
          </a:p>
        </p:txBody>
      </p:sp>
      <p:sp>
        <p:nvSpPr>
          <p:cNvPr id="70" name="Shape 67"/>
          <p:cNvSpPr/>
          <p:nvPr/>
        </p:nvSpPr>
        <p:spPr>
          <a:xfrm>
            <a:off x="12006263" y="7062788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2091988" y="7110412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지정</a:t>
            </a:r>
            <a:endParaRPr lang="en-US" sz="1425" dirty="0"/>
          </a:p>
        </p:txBody>
      </p:sp>
      <p:sp>
        <p:nvSpPr>
          <p:cNvPr id="72" name="Shape 69"/>
          <p:cNvSpPr/>
          <p:nvPr/>
        </p:nvSpPr>
        <p:spPr>
          <a:xfrm>
            <a:off x="13054013" y="7062788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3139738" y="7110412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입력. 원본 글자 수 일치 강제 (폰트 메트릭 보존)</a:t>
            </a:r>
            <a:endParaRPr lang="en-US" sz="1425" dirty="0"/>
          </a:p>
        </p:txBody>
      </p:sp>
      <p:sp>
        <p:nvSpPr>
          <p:cNvPr id="74" name="Shape 71"/>
          <p:cNvSpPr/>
          <p:nvPr/>
        </p:nvSpPr>
        <p:spPr>
          <a:xfrm>
            <a:off x="12006263" y="7386638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2091988" y="7434263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마스킹</a:t>
            </a:r>
            <a:endParaRPr lang="en-US" sz="1425" dirty="0"/>
          </a:p>
        </p:txBody>
      </p:sp>
      <p:sp>
        <p:nvSpPr>
          <p:cNvPr id="76" name="Shape 73"/>
          <p:cNvSpPr/>
          <p:nvPr/>
        </p:nvSpPr>
        <p:spPr>
          <a:xfrm>
            <a:off x="13054013" y="7386638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13139738" y="7434263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블러/모자이크 + 강도 슬라이더</a:t>
            </a:r>
            <a:endParaRPr lang="en-US" sz="1425" dirty="0"/>
          </a:p>
        </p:txBody>
      </p:sp>
      <p:sp>
        <p:nvSpPr>
          <p:cNvPr id="78" name="Shape 75"/>
          <p:cNvSpPr/>
          <p:nvPr/>
        </p:nvSpPr>
        <p:spPr>
          <a:xfrm>
            <a:off x="12006263" y="7710487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12091988" y="7758113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건너뛰기</a:t>
            </a:r>
            <a:endParaRPr lang="en-US" sz="1425" dirty="0"/>
          </a:p>
        </p:txBody>
      </p:sp>
      <p:sp>
        <p:nvSpPr>
          <p:cNvPr id="80" name="Shape 77"/>
          <p:cNvSpPr/>
          <p:nvPr/>
        </p:nvSpPr>
        <p:spPr>
          <a:xfrm>
            <a:off x="13054013" y="7710487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13139738" y="7758113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해당 항목 원본 유지</a:t>
            </a:r>
            <a:endParaRPr lang="en-US" sz="1425" dirty="0"/>
          </a:p>
        </p:txBody>
      </p:sp>
      <p:sp>
        <p:nvSpPr>
          <p:cNvPr id="82" name="Shape 79"/>
          <p:cNvSpPr/>
          <p:nvPr/>
        </p:nvSpPr>
        <p:spPr>
          <a:xfrm>
            <a:off x="12006263" y="8034338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12091988" y="8081963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v2 본인 얼굴</a:t>
            </a:r>
            <a:endParaRPr lang="en-US" sz="1425" dirty="0"/>
          </a:p>
        </p:txBody>
      </p:sp>
      <p:sp>
        <p:nvSpPr>
          <p:cNvPr id="84" name="Shape 81"/>
          <p:cNvSpPr/>
          <p:nvPr/>
        </p:nvSpPr>
        <p:spPr>
          <a:xfrm>
            <a:off x="13054013" y="8034338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85" name="Text 82"/>
          <p:cNvSpPr/>
          <p:nvPr/>
        </p:nvSpPr>
        <p:spPr>
          <a:xfrm>
            <a:off x="13139738" y="8081963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화이트리스트 등록자는 자동 회색 처리</a:t>
            </a:r>
            <a:endParaRPr lang="en-US" sz="1425" dirty="0"/>
          </a:p>
        </p:txBody>
      </p:sp>
      <p:sp>
        <p:nvSpPr>
          <p:cNvPr id="86" name="Shape 83"/>
          <p:cNvSpPr/>
          <p:nvPr/>
        </p:nvSpPr>
        <p:spPr>
          <a:xfrm>
            <a:off x="12006263" y="8596313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12091988" y="8643938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거부 콘텐츠 재감지</a:t>
            </a:r>
            <a:endParaRPr lang="en-US" sz="1425" dirty="0"/>
          </a:p>
        </p:txBody>
      </p:sp>
      <p:sp>
        <p:nvSpPr>
          <p:cNvPr id="88" name="Shape 85"/>
          <p:cNvSpPr/>
          <p:nvPr/>
        </p:nvSpPr>
        <p:spPr>
          <a:xfrm>
            <a:off x="13054013" y="8596313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13139738" y="8643938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거부 (B-3)</a:t>
            </a:r>
            <a:endParaRPr lang="en-US" sz="1425" dirty="0"/>
          </a:p>
        </p:txBody>
      </p:sp>
      <p:sp>
        <p:nvSpPr>
          <p:cNvPr id="90" name="Shape 87"/>
          <p:cNvSpPr/>
          <p:nvPr/>
        </p:nvSpPr>
        <p:spPr>
          <a:xfrm>
            <a:off x="0" y="9944100"/>
            <a:ext cx="18288000" cy="3429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91" name="Shape 88"/>
          <p:cNvSpPr/>
          <p:nvPr/>
        </p:nvSpPr>
        <p:spPr>
          <a:xfrm>
            <a:off x="0" y="9944100"/>
            <a:ext cx="18288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2" name="Text 89"/>
          <p:cNvSpPr/>
          <p:nvPr/>
        </p:nvSpPr>
        <p:spPr>
          <a:xfrm>
            <a:off x="304800" y="10034588"/>
            <a:ext cx="51905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54" dirty="0">
                <a:solidFill>
                  <a:srgbClr val="798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· 화면설계서 v1.0 · #garim.kr/jobs/[id]/options</a:t>
            </a:r>
            <a:endParaRPr lang="en-US" sz="1200" dirty="0"/>
          </a:p>
        </p:txBody>
      </p:sp>
      <p:sp>
        <p:nvSpPr>
          <p:cNvPr id="93" name="Text 90"/>
          <p:cNvSpPr/>
          <p:nvPr/>
        </p:nvSpPr>
        <p:spPr>
          <a:xfrm>
            <a:off x="12162830" y="10020300"/>
            <a:ext cx="599498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P15 · 치환 옵션 설정 · ref: Adobe Premiere 마스크 트래킹 · DaVinci Resolve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228600" y="1343025"/>
            <a:ext cx="11582400" cy="8486775"/>
          </a:xfrm>
          <a:prstGeom prst="roundRect">
            <a:avLst>
              <a:gd name="adj" fmla="val 224"/>
            </a:avLst>
          </a:prstGeom>
          <a:solidFill>
            <a:srgbClr val="FFFFFF"/>
          </a:solidFill>
          <a:ln w="9525">
            <a:solidFill>
              <a:srgbClr val="B8BDC7"/>
            </a:solidFill>
            <a:prstDash val="solid"/>
          </a:ln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82" name="그림 81"/>
          <p:cNvPicPr>
            <a:picLocks noChangeAspect="1"/>
          </p:cNvPicPr>
          <p:nvPr/>
        </p:nvPicPr>
        <p:blipFill rotWithShape="1">
          <a:blip r:embed="rId3"/>
          <a:srcRect t="6771"/>
          <a:stretch/>
        </p:blipFill>
        <p:spPr>
          <a:xfrm>
            <a:off x="576263" y="1548565"/>
            <a:ext cx="10991850" cy="8151896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876300"/>
            <a:ext cx="18288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00200" cy="91440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" name="Text 2"/>
          <p:cNvSpPr/>
          <p:nvPr/>
        </p:nvSpPr>
        <p:spPr>
          <a:xfrm>
            <a:off x="560636" y="147638"/>
            <a:ext cx="5549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216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5335" y="309563"/>
            <a:ext cx="6057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kern="0" spc="-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828800" y="152400"/>
            <a:ext cx="1283292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27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전 미리보기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28800" y="561975"/>
            <a:ext cx="128329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Preview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516546" y="0"/>
            <a:ext cx="9525" cy="914400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" name="Shape 7"/>
          <p:cNvSpPr/>
          <p:nvPr/>
        </p:nvSpPr>
        <p:spPr>
          <a:xfrm>
            <a:off x="14792771" y="304800"/>
            <a:ext cx="544116" cy="304800"/>
          </a:xfrm>
          <a:prstGeom prst="roundRect">
            <a:avLst>
              <a:gd name="adj" fmla="val 12500"/>
            </a:avLst>
          </a:prstGeom>
          <a:solidFill>
            <a:srgbClr val="455A64"/>
          </a:solidFill>
          <a:ln w="9525">
            <a:solidFill>
              <a:srgbClr val="455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16596" y="314325"/>
            <a:ext cx="37266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치환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432137" y="304800"/>
            <a:ext cx="831503" cy="304800"/>
          </a:xfrm>
          <a:prstGeom prst="roundRect">
            <a:avLst>
              <a:gd name="adj" fmla="val 12500"/>
            </a:avLst>
          </a:prstGeom>
          <a:solidFill>
            <a:srgbClr val="0288D1"/>
          </a:solidFill>
          <a:ln w="9525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55962" y="314325"/>
            <a:ext cx="6600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6358890" y="314325"/>
            <a:ext cx="166241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473190" y="314325"/>
            <a:ext cx="1510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2026.05.14 · v1.0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8600" y="1066800"/>
            <a:ext cx="2028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와이어 / Hi-Fi Mockup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940998" y="1066800"/>
            <a:ext cx="283837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garim.kr/jobs/[id]/preview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4229398" y="3551932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4210348" y="3570982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7369624" y="7789993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350574" y="7809043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9719965" y="2686050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9700915" y="270510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9955035" y="6777038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9935985" y="6796088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8960048" y="9198018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8940998" y="9217068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12001500" y="13144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0" name="Text 27"/>
          <p:cNvSpPr/>
          <p:nvPr/>
        </p:nvSpPr>
        <p:spPr>
          <a:xfrm>
            <a:off x="12001500" y="1028700"/>
            <a:ext cx="12997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· 컴포넌트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3320266" y="1104900"/>
            <a:ext cx="15653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Purpose · Components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2001500" y="1428750"/>
            <a:ext cx="623963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처리 전 결과의 자연스러움 확인. 한국어 STE 한계 보완 + 옵션 재조정 기회</a:t>
            </a:r>
            <a:endParaRPr lang="en-US" sz="1650" dirty="0"/>
          </a:p>
        </p:txBody>
      </p:sp>
      <p:sp>
        <p:nvSpPr>
          <p:cNvPr id="33" name="Shape 30"/>
          <p:cNvSpPr/>
          <p:nvPr/>
        </p:nvSpPr>
        <p:spPr>
          <a:xfrm>
            <a:off x="12001500" y="245745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4" name="Shape 31"/>
          <p:cNvSpPr/>
          <p:nvPr/>
        </p:nvSpPr>
        <p:spPr>
          <a:xfrm>
            <a:off x="12001500" y="22002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5" name="Text 32"/>
          <p:cNvSpPr/>
          <p:nvPr/>
        </p:nvSpPr>
        <p:spPr>
          <a:xfrm>
            <a:off x="11963400" y="22002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2287250" y="218122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Before/After 슬라이더 (좌 65%)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드래그 비교 · 토글로 원본/결과 전환</a:t>
            </a:r>
            <a:endParaRPr lang="en-US" sz="1425" dirty="0"/>
          </a:p>
        </p:txBody>
      </p:sp>
      <p:sp>
        <p:nvSpPr>
          <p:cNvPr id="37" name="Shape 34"/>
          <p:cNvSpPr/>
          <p:nvPr/>
        </p:nvSpPr>
        <p:spPr>
          <a:xfrm>
            <a:off x="12001500" y="303847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8" name="Shape 35"/>
          <p:cNvSpPr/>
          <p:nvPr/>
        </p:nvSpPr>
        <p:spPr>
          <a:xfrm>
            <a:off x="12001500" y="25336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9" name="Text 36"/>
          <p:cNvSpPr/>
          <p:nvPr/>
        </p:nvSpPr>
        <p:spPr>
          <a:xfrm>
            <a:off x="11963400" y="25336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2287250" y="2514600"/>
            <a:ext cx="594531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큰 워터마크 표시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미리보기 = 워터마크 표시. 본 처리 결과 = 보이지 않는 스테가노그래피만</a:t>
            </a:r>
            <a:endParaRPr lang="en-US" sz="1425" dirty="0"/>
          </a:p>
        </p:txBody>
      </p:sp>
      <p:sp>
        <p:nvSpPr>
          <p:cNvPr id="41" name="Shape 38"/>
          <p:cNvSpPr/>
          <p:nvPr/>
        </p:nvSpPr>
        <p:spPr>
          <a:xfrm>
            <a:off x="12001500" y="337185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2" name="Shape 39"/>
          <p:cNvSpPr/>
          <p:nvPr/>
        </p:nvSpPr>
        <p:spPr>
          <a:xfrm>
            <a:off x="12001500" y="31146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3" name="Text 40"/>
          <p:cNvSpPr/>
          <p:nvPr/>
        </p:nvSpPr>
        <p:spPr>
          <a:xfrm>
            <a:off x="11963400" y="31146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2287250" y="309562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항목 요약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항목별 미리보기 카드 (확대 모달)</a:t>
            </a:r>
            <a:endParaRPr lang="en-US" sz="1425" dirty="0"/>
          </a:p>
        </p:txBody>
      </p:sp>
      <p:sp>
        <p:nvSpPr>
          <p:cNvPr id="45" name="Shape 42"/>
          <p:cNvSpPr/>
          <p:nvPr/>
        </p:nvSpPr>
        <p:spPr>
          <a:xfrm>
            <a:off x="12001500" y="395287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6" name="Shape 43"/>
          <p:cNvSpPr/>
          <p:nvPr/>
        </p:nvSpPr>
        <p:spPr>
          <a:xfrm>
            <a:off x="12001500" y="34480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7" name="Text 44"/>
          <p:cNvSpPr/>
          <p:nvPr/>
        </p:nvSpPr>
        <p:spPr>
          <a:xfrm>
            <a:off x="11963400" y="34480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2287250" y="3429000"/>
            <a:ext cx="594531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자가 평가 ("좋음/보통/이상함")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학습 동의 활성 사용자는 익명 데이터로 STE 개선</a:t>
            </a:r>
            <a:endParaRPr lang="en-US" sz="1425" dirty="0"/>
          </a:p>
        </p:txBody>
      </p:sp>
      <p:sp>
        <p:nvSpPr>
          <p:cNvPr id="49" name="Shape 46"/>
          <p:cNvSpPr/>
          <p:nvPr/>
        </p:nvSpPr>
        <p:spPr>
          <a:xfrm>
            <a:off x="12001500" y="40290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50" name="Text 47"/>
          <p:cNvSpPr/>
          <p:nvPr/>
        </p:nvSpPr>
        <p:spPr>
          <a:xfrm>
            <a:off x="11963400" y="40290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2287250" y="401002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"처리 진행" Primary / "옵션 수정"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"이상함" 평가 시 옵션 수정 권유 강조</a:t>
            </a:r>
            <a:endParaRPr lang="en-US" sz="1425" dirty="0"/>
          </a:p>
        </p:txBody>
      </p:sp>
      <p:sp>
        <p:nvSpPr>
          <p:cNvPr id="52" name="Shape 49"/>
          <p:cNvSpPr/>
          <p:nvPr/>
        </p:nvSpPr>
        <p:spPr>
          <a:xfrm>
            <a:off x="12001500" y="46672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3" name="Text 50"/>
          <p:cNvSpPr/>
          <p:nvPr/>
        </p:nvSpPr>
        <p:spPr>
          <a:xfrm>
            <a:off x="12001500" y="4381500"/>
            <a:ext cx="9603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/ 이탈</a:t>
            </a:r>
            <a:endParaRPr lang="en-US" sz="1650" dirty="0"/>
          </a:p>
        </p:txBody>
      </p:sp>
      <p:sp>
        <p:nvSpPr>
          <p:cNvPr id="54" name="Text 51"/>
          <p:cNvSpPr/>
          <p:nvPr/>
        </p:nvSpPr>
        <p:spPr>
          <a:xfrm>
            <a:off x="12980938" y="4457700"/>
            <a:ext cx="7868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Entry · Exit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12006263" y="4786313"/>
            <a:ext cx="1047750" cy="34290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2091988" y="4833938"/>
            <a:ext cx="9525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</a:t>
            </a:r>
            <a:endParaRPr lang="en-US" sz="1425" dirty="0"/>
          </a:p>
        </p:txBody>
      </p:sp>
      <p:sp>
        <p:nvSpPr>
          <p:cNvPr id="57" name="Shape 54"/>
          <p:cNvSpPr/>
          <p:nvPr/>
        </p:nvSpPr>
        <p:spPr>
          <a:xfrm>
            <a:off x="13054013" y="4786313"/>
            <a:ext cx="5000625" cy="34290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3179743" y="4829175"/>
            <a:ext cx="487013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미리보기 생성</a:t>
            </a:r>
            <a:endParaRPr lang="en-US" sz="1425" dirty="0"/>
          </a:p>
        </p:txBody>
      </p:sp>
      <p:sp>
        <p:nvSpPr>
          <p:cNvPr id="59" name="Shape 56"/>
          <p:cNvSpPr/>
          <p:nvPr/>
        </p:nvSpPr>
        <p:spPr>
          <a:xfrm>
            <a:off x="12006263" y="5129213"/>
            <a:ext cx="1047750" cy="6000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2091988" y="5176838"/>
            <a:ext cx="9525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/ 다음</a:t>
            </a:r>
            <a:endParaRPr lang="en-US" sz="1425" dirty="0"/>
          </a:p>
        </p:txBody>
      </p:sp>
      <p:sp>
        <p:nvSpPr>
          <p:cNvPr id="61" name="Shape 58"/>
          <p:cNvSpPr/>
          <p:nvPr/>
        </p:nvSpPr>
        <p:spPr>
          <a:xfrm>
            <a:off x="13054013" y="5129213"/>
            <a:ext cx="5000625" cy="6000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3179743" y="5172075"/>
            <a:ext cx="487013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"처리 진행" → 17 본 처리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"옵션 수정" → 15 복귀</a:t>
            </a:r>
            <a:endParaRPr lang="en-US" sz="1425" dirty="0"/>
          </a:p>
        </p:txBody>
      </p:sp>
      <p:sp>
        <p:nvSpPr>
          <p:cNvPr id="63" name="Shape 60"/>
          <p:cNvSpPr/>
          <p:nvPr/>
        </p:nvSpPr>
        <p:spPr>
          <a:xfrm>
            <a:off x="12001500" y="61150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64" name="Text 61"/>
          <p:cNvSpPr/>
          <p:nvPr/>
        </p:nvSpPr>
        <p:spPr>
          <a:xfrm>
            <a:off x="12001500" y="5829300"/>
            <a:ext cx="849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분기·규칙</a:t>
            </a:r>
            <a:endParaRPr lang="en-US" sz="1650" dirty="0"/>
          </a:p>
        </p:txBody>
      </p:sp>
      <p:sp>
        <p:nvSpPr>
          <p:cNvPr id="65" name="Text 62"/>
          <p:cNvSpPr/>
          <p:nvPr/>
        </p:nvSpPr>
        <p:spPr>
          <a:xfrm>
            <a:off x="12869912" y="5905500"/>
            <a:ext cx="4344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Rules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12006263" y="6234113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2091988" y="6281737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자가 평가 "이상함"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13054013" y="6234113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3139738" y="6281737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수정 권유 강조</a:t>
            </a:r>
            <a:endParaRPr lang="en-US" sz="1425" dirty="0"/>
          </a:p>
        </p:txBody>
      </p:sp>
      <p:sp>
        <p:nvSpPr>
          <p:cNvPr id="70" name="Shape 67"/>
          <p:cNvSpPr/>
          <p:nvPr/>
        </p:nvSpPr>
        <p:spPr>
          <a:xfrm>
            <a:off x="12006263" y="6796088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2091988" y="6843713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동의 활성</a:t>
            </a:r>
            <a:endParaRPr lang="en-US" sz="1425" dirty="0"/>
          </a:p>
        </p:txBody>
      </p:sp>
      <p:sp>
        <p:nvSpPr>
          <p:cNvPr id="72" name="Shape 69"/>
          <p:cNvSpPr/>
          <p:nvPr/>
        </p:nvSpPr>
        <p:spPr>
          <a:xfrm>
            <a:off x="13054013" y="6796088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3139738" y="6843713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평가 결과 익명 모델 개선</a:t>
            </a:r>
            <a:endParaRPr lang="en-US" sz="1425" dirty="0"/>
          </a:p>
        </p:txBody>
      </p:sp>
      <p:sp>
        <p:nvSpPr>
          <p:cNvPr id="74" name="Shape 71"/>
          <p:cNvSpPr/>
          <p:nvPr/>
        </p:nvSpPr>
        <p:spPr>
          <a:xfrm>
            <a:off x="12006263" y="7358063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2091988" y="7405688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검출 1~2건</a:t>
            </a:r>
            <a:endParaRPr lang="en-US" sz="1425" dirty="0"/>
          </a:p>
        </p:txBody>
      </p:sp>
      <p:sp>
        <p:nvSpPr>
          <p:cNvPr id="76" name="Shape 73"/>
          <p:cNvSpPr/>
          <p:nvPr/>
        </p:nvSpPr>
        <p:spPr>
          <a:xfrm>
            <a:off x="13054013" y="7358063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13139738" y="7405688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미리보기 생략 옵션 노출</a:t>
            </a:r>
            <a:endParaRPr lang="en-US" sz="1425" dirty="0"/>
          </a:p>
        </p:txBody>
      </p:sp>
      <p:sp>
        <p:nvSpPr>
          <p:cNvPr id="78" name="Shape 75"/>
          <p:cNvSpPr/>
          <p:nvPr/>
        </p:nvSpPr>
        <p:spPr>
          <a:xfrm>
            <a:off x="0" y="9944100"/>
            <a:ext cx="18288000" cy="3429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79" name="Shape 76"/>
          <p:cNvSpPr/>
          <p:nvPr/>
        </p:nvSpPr>
        <p:spPr>
          <a:xfrm>
            <a:off x="0" y="9944100"/>
            <a:ext cx="18288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80" name="Text 77"/>
          <p:cNvSpPr/>
          <p:nvPr/>
        </p:nvSpPr>
        <p:spPr>
          <a:xfrm>
            <a:off x="304800" y="10034588"/>
            <a:ext cx="51905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54" dirty="0">
                <a:solidFill>
                  <a:srgbClr val="798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· 화면설계서 v1.0 · #garim.kr/jobs/[id]/preview</a:t>
            </a:r>
            <a:endParaRPr lang="en-US" sz="1200" dirty="0"/>
          </a:p>
        </p:txBody>
      </p:sp>
      <p:sp>
        <p:nvSpPr>
          <p:cNvPr id="81" name="Text 78"/>
          <p:cNvSpPr/>
          <p:nvPr/>
        </p:nvSpPr>
        <p:spPr>
          <a:xfrm>
            <a:off x="12254657" y="10020300"/>
            <a:ext cx="59004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P16 · 처리 전 미리보기 · ref: Photoshop Generative Fill 비교 · DALL·E 비교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228600" y="1343025"/>
            <a:ext cx="11582400" cy="8486775"/>
          </a:xfrm>
          <a:prstGeom prst="roundRect">
            <a:avLst>
              <a:gd name="adj" fmla="val 224"/>
            </a:avLst>
          </a:prstGeom>
          <a:solidFill>
            <a:srgbClr val="FFFFFF"/>
          </a:solidFill>
          <a:ln w="9525">
            <a:solidFill>
              <a:srgbClr val="B8BDC7"/>
            </a:solidFill>
            <a:prstDash val="solid"/>
          </a:ln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80" name="그림 79"/>
          <p:cNvPicPr>
            <a:picLocks noChangeAspect="1"/>
          </p:cNvPicPr>
          <p:nvPr/>
        </p:nvPicPr>
        <p:blipFill rotWithShape="1">
          <a:blip r:embed="rId3"/>
          <a:srcRect t="7715" b="23674"/>
          <a:stretch/>
        </p:blipFill>
        <p:spPr>
          <a:xfrm>
            <a:off x="758059" y="1938838"/>
            <a:ext cx="10991850" cy="6914148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876300"/>
            <a:ext cx="18288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00200" cy="91440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" name="Text 2"/>
          <p:cNvSpPr/>
          <p:nvPr/>
        </p:nvSpPr>
        <p:spPr>
          <a:xfrm>
            <a:off x="560636" y="147638"/>
            <a:ext cx="5549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216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5335" y="309563"/>
            <a:ext cx="6057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kern="0" spc="-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828800" y="152400"/>
            <a:ext cx="1283292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27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진행 (본 처리)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28800" y="561975"/>
            <a:ext cx="128329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Processing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516546" y="0"/>
            <a:ext cx="9525" cy="914400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" name="Shape 7"/>
          <p:cNvSpPr/>
          <p:nvPr/>
        </p:nvSpPr>
        <p:spPr>
          <a:xfrm>
            <a:off x="14792771" y="304800"/>
            <a:ext cx="544116" cy="304800"/>
          </a:xfrm>
          <a:prstGeom prst="roundRect">
            <a:avLst>
              <a:gd name="adj" fmla="val 12500"/>
            </a:avLst>
          </a:prstGeom>
          <a:solidFill>
            <a:srgbClr val="455A64"/>
          </a:solidFill>
          <a:ln w="9525">
            <a:solidFill>
              <a:srgbClr val="455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16596" y="314325"/>
            <a:ext cx="37266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치환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432137" y="304800"/>
            <a:ext cx="831503" cy="304800"/>
          </a:xfrm>
          <a:prstGeom prst="roundRect">
            <a:avLst>
              <a:gd name="adj" fmla="val 12500"/>
            </a:avLst>
          </a:prstGeom>
          <a:solidFill>
            <a:srgbClr val="0288D1"/>
          </a:solidFill>
          <a:ln w="9525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55962" y="314325"/>
            <a:ext cx="6600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6358890" y="314325"/>
            <a:ext cx="166241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473190" y="314325"/>
            <a:ext cx="1510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2026.05.14 · v1.0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8600" y="1066800"/>
            <a:ext cx="2028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와이어 / Hi-Fi Mockup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623102" y="1066800"/>
            <a:ext cx="316580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garim.kr/jobs/[id]/processing</a:t>
            </a:r>
            <a:endParaRPr lang="en-US" sz="1350" dirty="0"/>
          </a:p>
        </p:txBody>
      </p:sp>
      <p:grpSp>
        <p:nvGrpSpPr>
          <p:cNvPr id="81" name="그룹 80"/>
          <p:cNvGrpSpPr/>
          <p:nvPr/>
        </p:nvGrpSpPr>
        <p:grpSpPr>
          <a:xfrm>
            <a:off x="4222364" y="2190750"/>
            <a:ext cx="381000" cy="361950"/>
            <a:chOff x="4222364" y="2190750"/>
            <a:chExt cx="381000" cy="361950"/>
          </a:xfrm>
        </p:grpSpPr>
        <p:sp>
          <p:nvSpPr>
            <p:cNvPr id="19" name="Shape 16"/>
            <p:cNvSpPr/>
            <p:nvPr/>
          </p:nvSpPr>
          <p:spPr>
            <a:xfrm>
              <a:off x="4241414" y="2190750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0" name="Text 17"/>
            <p:cNvSpPr/>
            <p:nvPr/>
          </p:nvSpPr>
          <p:spPr>
            <a:xfrm>
              <a:off x="4222364" y="2209800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</a:t>
              </a:r>
              <a:endParaRPr lang="en-US" sz="1350" dirty="0"/>
            </a:p>
          </p:txBody>
        </p:sp>
      </p:grpSp>
      <p:sp>
        <p:nvSpPr>
          <p:cNvPr id="21" name="Shape 18"/>
          <p:cNvSpPr/>
          <p:nvPr/>
        </p:nvSpPr>
        <p:spPr>
          <a:xfrm>
            <a:off x="7004596" y="4398764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6985546" y="4417814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7004596" y="7108478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985546" y="7127528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50" dirty="0"/>
          </a:p>
        </p:txBody>
      </p:sp>
      <p:grpSp>
        <p:nvGrpSpPr>
          <p:cNvPr id="82" name="그룹 81"/>
          <p:cNvGrpSpPr/>
          <p:nvPr/>
        </p:nvGrpSpPr>
        <p:grpSpPr>
          <a:xfrm>
            <a:off x="3474902" y="8003382"/>
            <a:ext cx="381000" cy="361950"/>
            <a:chOff x="9298186" y="8801993"/>
            <a:chExt cx="381000" cy="361950"/>
          </a:xfrm>
        </p:grpSpPr>
        <p:sp>
          <p:nvSpPr>
            <p:cNvPr id="25" name="Shape 22"/>
            <p:cNvSpPr/>
            <p:nvPr/>
          </p:nvSpPr>
          <p:spPr>
            <a:xfrm>
              <a:off x="9317236" y="8801993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6" name="Text 23"/>
            <p:cNvSpPr/>
            <p:nvPr/>
          </p:nvSpPr>
          <p:spPr>
            <a:xfrm>
              <a:off x="9298186" y="8821043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4</a:t>
              </a:r>
              <a:endParaRPr lang="en-US" sz="1350" dirty="0"/>
            </a:p>
          </p:txBody>
        </p:sp>
      </p:grpSp>
      <p:sp>
        <p:nvSpPr>
          <p:cNvPr id="27" name="Shape 24"/>
          <p:cNvSpPr/>
          <p:nvPr/>
        </p:nvSpPr>
        <p:spPr>
          <a:xfrm>
            <a:off x="12001500" y="13144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28" name="Text 25"/>
          <p:cNvSpPr/>
          <p:nvPr/>
        </p:nvSpPr>
        <p:spPr>
          <a:xfrm>
            <a:off x="12001500" y="1028700"/>
            <a:ext cx="12997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· 컴포넌트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3320266" y="1104900"/>
            <a:ext cx="15653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Purpose · Components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2001500" y="1428750"/>
            <a:ext cx="623963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파일에 사용자 옵션 적용. 5단계 stepper로 단계별 표시</a:t>
            </a:r>
            <a:endParaRPr lang="en-US" sz="1650" dirty="0"/>
          </a:p>
        </p:txBody>
      </p:sp>
      <p:sp>
        <p:nvSpPr>
          <p:cNvPr id="31" name="Shape 28"/>
          <p:cNvSpPr/>
          <p:nvPr/>
        </p:nvSpPr>
        <p:spPr>
          <a:xfrm>
            <a:off x="12001500" y="214312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2" name="Shape 29"/>
          <p:cNvSpPr/>
          <p:nvPr/>
        </p:nvSpPr>
        <p:spPr>
          <a:xfrm>
            <a:off x="12001500" y="18859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3" name="Text 30"/>
          <p:cNvSpPr/>
          <p:nvPr/>
        </p:nvSpPr>
        <p:spPr>
          <a:xfrm>
            <a:off x="11963400" y="18859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2287250" y="18669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+ 옵션 요약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처리 항목 N개 · 예상 시간 · 사용 한도 차감 표시</a:t>
            </a:r>
            <a:endParaRPr lang="en-US" sz="1425" dirty="0"/>
          </a:p>
        </p:txBody>
      </p:sp>
      <p:sp>
        <p:nvSpPr>
          <p:cNvPr id="35" name="Shape 32"/>
          <p:cNvSpPr/>
          <p:nvPr/>
        </p:nvSpPr>
        <p:spPr>
          <a:xfrm>
            <a:off x="12001500" y="247650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6" name="Shape 33"/>
          <p:cNvSpPr/>
          <p:nvPr/>
        </p:nvSpPr>
        <p:spPr>
          <a:xfrm>
            <a:off x="12001500" y="221932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7" name="Text 34"/>
          <p:cNvSpPr/>
          <p:nvPr/>
        </p:nvSpPr>
        <p:spPr>
          <a:xfrm>
            <a:off x="11963400" y="221932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2287250" y="220027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5단계 stepper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검증 → 합성 → 워터마크 (B-3) → 재인코딩 → 완료</a:t>
            </a:r>
            <a:endParaRPr lang="en-US" sz="1425" dirty="0"/>
          </a:p>
        </p:txBody>
      </p:sp>
      <p:sp>
        <p:nvSpPr>
          <p:cNvPr id="39" name="Shape 36"/>
          <p:cNvSpPr/>
          <p:nvPr/>
        </p:nvSpPr>
        <p:spPr>
          <a:xfrm>
            <a:off x="12001500" y="280987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0" name="Shape 37"/>
          <p:cNvSpPr/>
          <p:nvPr/>
        </p:nvSpPr>
        <p:spPr>
          <a:xfrm>
            <a:off x="12001500" y="255270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1" name="Text 38"/>
          <p:cNvSpPr/>
          <p:nvPr/>
        </p:nvSpPr>
        <p:spPr>
          <a:xfrm>
            <a:off x="11963400" y="255270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2287250" y="253365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진행률 + 예상 시간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백그라운드 전환 가능. 완료 시 이메일·푸시</a:t>
            </a:r>
            <a:endParaRPr lang="en-US" sz="1425" dirty="0"/>
          </a:p>
        </p:txBody>
      </p:sp>
      <p:sp>
        <p:nvSpPr>
          <p:cNvPr id="43" name="Shape 40"/>
          <p:cNvSpPr/>
          <p:nvPr/>
        </p:nvSpPr>
        <p:spPr>
          <a:xfrm>
            <a:off x="12001500" y="28860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4" name="Text 41"/>
          <p:cNvSpPr/>
          <p:nvPr/>
        </p:nvSpPr>
        <p:spPr>
          <a:xfrm>
            <a:off x="11963400" y="28860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2287250" y="286702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"백그라운드" / "취소"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큰 파일은 자동 권장</a:t>
            </a:r>
            <a:endParaRPr lang="en-US" sz="1425" dirty="0"/>
          </a:p>
        </p:txBody>
      </p:sp>
      <p:sp>
        <p:nvSpPr>
          <p:cNvPr id="46" name="Shape 43"/>
          <p:cNvSpPr/>
          <p:nvPr/>
        </p:nvSpPr>
        <p:spPr>
          <a:xfrm>
            <a:off x="12001500" y="35242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7" name="Text 44"/>
          <p:cNvSpPr/>
          <p:nvPr/>
        </p:nvSpPr>
        <p:spPr>
          <a:xfrm>
            <a:off x="12001500" y="3238500"/>
            <a:ext cx="9603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/ 이탈</a:t>
            </a:r>
            <a:endParaRPr lang="en-US" sz="1650" dirty="0"/>
          </a:p>
        </p:txBody>
      </p:sp>
      <p:sp>
        <p:nvSpPr>
          <p:cNvPr id="48" name="Text 45"/>
          <p:cNvSpPr/>
          <p:nvPr/>
        </p:nvSpPr>
        <p:spPr>
          <a:xfrm>
            <a:off x="12980938" y="3314700"/>
            <a:ext cx="7868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Entry · Exit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12006263" y="3643313"/>
            <a:ext cx="1047750" cy="34290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2091988" y="3690937"/>
            <a:ext cx="9525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</a:t>
            </a:r>
            <a:endParaRPr lang="en-US" sz="1425" dirty="0"/>
          </a:p>
        </p:txBody>
      </p:sp>
      <p:sp>
        <p:nvSpPr>
          <p:cNvPr id="51" name="Shape 48"/>
          <p:cNvSpPr/>
          <p:nvPr/>
        </p:nvSpPr>
        <p:spPr>
          <a:xfrm>
            <a:off x="13054013" y="3643313"/>
            <a:ext cx="5000625" cy="34290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3179743" y="3686175"/>
            <a:ext cx="487013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16 미리보기 → 처리 진행</a:t>
            </a:r>
            <a:endParaRPr lang="en-US" sz="1425" dirty="0"/>
          </a:p>
        </p:txBody>
      </p:sp>
      <p:sp>
        <p:nvSpPr>
          <p:cNvPr id="53" name="Shape 50"/>
          <p:cNvSpPr/>
          <p:nvPr/>
        </p:nvSpPr>
        <p:spPr>
          <a:xfrm>
            <a:off x="12006263" y="3986213"/>
            <a:ext cx="1047750" cy="8572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2091988" y="4033837"/>
            <a:ext cx="9525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/ 다음</a:t>
            </a:r>
            <a:endParaRPr lang="en-US" sz="1425" dirty="0"/>
          </a:p>
        </p:txBody>
      </p:sp>
      <p:sp>
        <p:nvSpPr>
          <p:cNvPr id="55" name="Shape 52"/>
          <p:cNvSpPr/>
          <p:nvPr/>
        </p:nvSpPr>
        <p:spPr>
          <a:xfrm>
            <a:off x="13054013" y="3986213"/>
            <a:ext cx="5000625" cy="8572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3179743" y="4029075"/>
            <a:ext cx="487013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→ 18 다운로드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 → 사유 + 재시도/옵션 수정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취소 → 19</a:t>
            </a:r>
            <a:endParaRPr lang="en-US" sz="1425" dirty="0"/>
          </a:p>
        </p:txBody>
      </p:sp>
      <p:sp>
        <p:nvSpPr>
          <p:cNvPr id="57" name="Shape 54"/>
          <p:cNvSpPr/>
          <p:nvPr/>
        </p:nvSpPr>
        <p:spPr>
          <a:xfrm>
            <a:off x="12001500" y="5229225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8" name="Text 55"/>
          <p:cNvSpPr/>
          <p:nvPr/>
        </p:nvSpPr>
        <p:spPr>
          <a:xfrm>
            <a:off x="12001500" y="4943475"/>
            <a:ext cx="849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분기·규칙</a:t>
            </a:r>
            <a:endParaRPr lang="en-US" sz="1650" dirty="0"/>
          </a:p>
        </p:txBody>
      </p:sp>
      <p:sp>
        <p:nvSpPr>
          <p:cNvPr id="59" name="Text 56"/>
          <p:cNvSpPr/>
          <p:nvPr/>
        </p:nvSpPr>
        <p:spPr>
          <a:xfrm>
            <a:off x="12869912" y="5019675"/>
            <a:ext cx="4344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Rules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12006263" y="5348288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2091988" y="5395912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</a:t>
            </a:r>
            <a:endParaRPr lang="en-US" sz="1425" dirty="0"/>
          </a:p>
        </p:txBody>
      </p:sp>
      <p:sp>
        <p:nvSpPr>
          <p:cNvPr id="62" name="Shape 59"/>
          <p:cNvSpPr/>
          <p:nvPr/>
        </p:nvSpPr>
        <p:spPr>
          <a:xfrm>
            <a:off x="13054013" y="5348288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3139738" y="5395912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모두 동일 큐</a:t>
            </a:r>
            <a:endParaRPr lang="en-US" sz="1425" dirty="0"/>
          </a:p>
        </p:txBody>
      </p:sp>
      <p:sp>
        <p:nvSpPr>
          <p:cNvPr id="64" name="Shape 61"/>
          <p:cNvSpPr/>
          <p:nvPr/>
        </p:nvSpPr>
        <p:spPr>
          <a:xfrm>
            <a:off x="12006263" y="5672138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2091988" y="5719763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 정식</a:t>
            </a:r>
            <a:endParaRPr lang="en-US" sz="1425" dirty="0"/>
          </a:p>
        </p:txBody>
      </p:sp>
      <p:sp>
        <p:nvSpPr>
          <p:cNvPr id="66" name="Shape 63"/>
          <p:cNvSpPr/>
          <p:nvPr/>
        </p:nvSpPr>
        <p:spPr>
          <a:xfrm>
            <a:off x="13054013" y="5672138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3139738" y="5719763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플랜별 우선순위 큐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12006263" y="5995988"/>
            <a:ext cx="1047750" cy="80010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2091988" y="6043613"/>
            <a:ext cx="9525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거부 콘텐츠 재감지 (B-3)</a:t>
            </a:r>
            <a:endParaRPr lang="en-US" sz="1425" dirty="0"/>
          </a:p>
        </p:txBody>
      </p:sp>
      <p:sp>
        <p:nvSpPr>
          <p:cNvPr id="70" name="Shape 67"/>
          <p:cNvSpPr/>
          <p:nvPr/>
        </p:nvSpPr>
        <p:spPr>
          <a:xfrm>
            <a:off x="13054013" y="5995988"/>
            <a:ext cx="5000625" cy="80010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3139738" y="6043613"/>
            <a:ext cx="4979194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거부. v1 정식은 환불 절차</a:t>
            </a:r>
            <a:endParaRPr lang="en-US" sz="1425" dirty="0"/>
          </a:p>
        </p:txBody>
      </p:sp>
      <p:sp>
        <p:nvSpPr>
          <p:cNvPr id="72" name="Shape 69"/>
          <p:cNvSpPr/>
          <p:nvPr/>
        </p:nvSpPr>
        <p:spPr>
          <a:xfrm>
            <a:off x="12006263" y="6796088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2091988" y="6843713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워터마크 (B-3)</a:t>
            </a:r>
            <a:endParaRPr lang="en-US" sz="1425" dirty="0"/>
          </a:p>
        </p:txBody>
      </p:sp>
      <p:sp>
        <p:nvSpPr>
          <p:cNvPr id="74" name="Shape 71"/>
          <p:cNvSpPr/>
          <p:nvPr/>
        </p:nvSpPr>
        <p:spPr>
          <a:xfrm>
            <a:off x="13054013" y="6796088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3139738" y="6843713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항상 적용. 옵션 불가</a:t>
            </a:r>
            <a:endParaRPr lang="en-US" sz="1425" dirty="0"/>
          </a:p>
        </p:txBody>
      </p:sp>
      <p:sp>
        <p:nvSpPr>
          <p:cNvPr id="76" name="Shape 73"/>
          <p:cNvSpPr/>
          <p:nvPr/>
        </p:nvSpPr>
        <p:spPr>
          <a:xfrm>
            <a:off x="0" y="9944100"/>
            <a:ext cx="18288000" cy="3429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77" name="Shape 74"/>
          <p:cNvSpPr/>
          <p:nvPr/>
        </p:nvSpPr>
        <p:spPr>
          <a:xfrm>
            <a:off x="0" y="9944100"/>
            <a:ext cx="18288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78" name="Text 75"/>
          <p:cNvSpPr/>
          <p:nvPr/>
        </p:nvSpPr>
        <p:spPr>
          <a:xfrm>
            <a:off x="304800" y="10034588"/>
            <a:ext cx="550275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54" dirty="0">
                <a:solidFill>
                  <a:srgbClr val="798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· 화면설계서 v1.0 · #garim.kr/jobs/[id]/processing</a:t>
            </a:r>
            <a:endParaRPr lang="en-US" sz="1200" dirty="0"/>
          </a:p>
        </p:txBody>
      </p:sp>
      <p:sp>
        <p:nvSpPr>
          <p:cNvPr id="79" name="Text 76"/>
          <p:cNvSpPr/>
          <p:nvPr/>
        </p:nvSpPr>
        <p:spPr>
          <a:xfrm>
            <a:off x="13365510" y="10020300"/>
            <a:ext cx="47562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P17 · 처리 진행 (본 처리) · ref: Replicate · Runway 생성 진행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228600" y="1343025"/>
            <a:ext cx="11582400" cy="8486775"/>
          </a:xfrm>
          <a:prstGeom prst="roundRect">
            <a:avLst>
              <a:gd name="adj" fmla="val 224"/>
            </a:avLst>
          </a:prstGeom>
          <a:solidFill>
            <a:srgbClr val="FFFFFF"/>
          </a:solidFill>
          <a:ln w="9525">
            <a:solidFill>
              <a:srgbClr val="B8BDC7"/>
            </a:solidFill>
            <a:prstDash val="solid"/>
          </a:ln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82" name="그림 81"/>
          <p:cNvPicPr>
            <a:picLocks noChangeAspect="1"/>
          </p:cNvPicPr>
          <p:nvPr/>
        </p:nvPicPr>
        <p:blipFill rotWithShape="1">
          <a:blip r:embed="rId3"/>
          <a:srcRect t="6521" b="24184"/>
          <a:stretch/>
        </p:blipFill>
        <p:spPr>
          <a:xfrm>
            <a:off x="447675" y="1487653"/>
            <a:ext cx="10991850" cy="8197517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876300"/>
            <a:ext cx="18288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00200" cy="91440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" name="Text 2"/>
          <p:cNvSpPr/>
          <p:nvPr/>
        </p:nvSpPr>
        <p:spPr>
          <a:xfrm>
            <a:off x="560636" y="147638"/>
            <a:ext cx="5549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216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5335" y="309563"/>
            <a:ext cx="6057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kern="0" spc="-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18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828800" y="152400"/>
            <a:ext cx="1283292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27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다운로드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28800" y="561975"/>
            <a:ext cx="128329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Download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516546" y="0"/>
            <a:ext cx="9525" cy="914400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" name="Shape 7"/>
          <p:cNvSpPr/>
          <p:nvPr/>
        </p:nvSpPr>
        <p:spPr>
          <a:xfrm>
            <a:off x="14792771" y="304800"/>
            <a:ext cx="544116" cy="304800"/>
          </a:xfrm>
          <a:prstGeom prst="roundRect">
            <a:avLst>
              <a:gd name="adj" fmla="val 12500"/>
            </a:avLst>
          </a:prstGeom>
          <a:solidFill>
            <a:srgbClr val="455A64"/>
          </a:solidFill>
          <a:ln w="9525">
            <a:solidFill>
              <a:srgbClr val="455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916596" y="314325"/>
            <a:ext cx="37266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치환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432137" y="304800"/>
            <a:ext cx="831503" cy="304800"/>
          </a:xfrm>
          <a:prstGeom prst="roundRect">
            <a:avLst>
              <a:gd name="adj" fmla="val 12500"/>
            </a:avLst>
          </a:prstGeom>
          <a:solidFill>
            <a:srgbClr val="0288D1"/>
          </a:solidFill>
          <a:ln w="9525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55962" y="314325"/>
            <a:ext cx="6600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6358890" y="314325"/>
            <a:ext cx="166241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473190" y="314325"/>
            <a:ext cx="1510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2026.05.14 · v1.0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8600" y="1066800"/>
            <a:ext cx="2028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와이어 / Hi-Fi Mockup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835033" y="1066800"/>
            <a:ext cx="294751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garim.kr/jobs/[id]/download</a:t>
            </a:r>
            <a:endParaRPr lang="en-US" sz="1350" dirty="0"/>
          </a:p>
        </p:txBody>
      </p:sp>
      <p:grpSp>
        <p:nvGrpSpPr>
          <p:cNvPr id="83" name="그룹 82"/>
          <p:cNvGrpSpPr/>
          <p:nvPr/>
        </p:nvGrpSpPr>
        <p:grpSpPr>
          <a:xfrm>
            <a:off x="4479037" y="1861770"/>
            <a:ext cx="381000" cy="361950"/>
            <a:chOff x="4479037" y="1861770"/>
            <a:chExt cx="381000" cy="361950"/>
          </a:xfrm>
        </p:grpSpPr>
        <p:sp>
          <p:nvSpPr>
            <p:cNvPr id="19" name="Shape 16"/>
            <p:cNvSpPr/>
            <p:nvPr/>
          </p:nvSpPr>
          <p:spPr>
            <a:xfrm>
              <a:off x="4498087" y="1861770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0" name="Text 17"/>
            <p:cNvSpPr/>
            <p:nvPr/>
          </p:nvSpPr>
          <p:spPr>
            <a:xfrm>
              <a:off x="4479037" y="1880820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</a:t>
              </a:r>
              <a:endParaRPr lang="en-US" sz="1350" dirty="0"/>
            </a:p>
          </p:txBody>
        </p:sp>
      </p:grpSp>
      <p:sp>
        <p:nvSpPr>
          <p:cNvPr id="21" name="Shape 18"/>
          <p:cNvSpPr/>
          <p:nvPr/>
        </p:nvSpPr>
        <p:spPr>
          <a:xfrm>
            <a:off x="5848350" y="4398764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829300" y="4417814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50" dirty="0"/>
          </a:p>
        </p:txBody>
      </p:sp>
      <p:grpSp>
        <p:nvGrpSpPr>
          <p:cNvPr id="84" name="그룹 83"/>
          <p:cNvGrpSpPr/>
          <p:nvPr/>
        </p:nvGrpSpPr>
        <p:grpSpPr>
          <a:xfrm>
            <a:off x="2571093" y="6646766"/>
            <a:ext cx="381000" cy="361950"/>
            <a:chOff x="3516511" y="7108478"/>
            <a:chExt cx="381000" cy="361950"/>
          </a:xfrm>
        </p:grpSpPr>
        <p:sp>
          <p:nvSpPr>
            <p:cNvPr id="23" name="Shape 20"/>
            <p:cNvSpPr/>
            <p:nvPr/>
          </p:nvSpPr>
          <p:spPr>
            <a:xfrm>
              <a:off x="3535561" y="7108478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4" name="Text 21"/>
            <p:cNvSpPr/>
            <p:nvPr/>
          </p:nvSpPr>
          <p:spPr>
            <a:xfrm>
              <a:off x="3516511" y="7127528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3</a:t>
              </a:r>
              <a:endParaRPr lang="en-US" sz="1350" dirty="0"/>
            </a:p>
          </p:txBody>
        </p:sp>
      </p:grpSp>
      <p:grpSp>
        <p:nvGrpSpPr>
          <p:cNvPr id="85" name="그룹 84"/>
          <p:cNvGrpSpPr/>
          <p:nvPr/>
        </p:nvGrpSpPr>
        <p:grpSpPr>
          <a:xfrm>
            <a:off x="4669537" y="6853238"/>
            <a:ext cx="381000" cy="361950"/>
            <a:chOff x="8141940" y="7108478"/>
            <a:chExt cx="381000" cy="361950"/>
          </a:xfrm>
        </p:grpSpPr>
        <p:sp>
          <p:nvSpPr>
            <p:cNvPr id="25" name="Shape 22"/>
            <p:cNvSpPr/>
            <p:nvPr/>
          </p:nvSpPr>
          <p:spPr>
            <a:xfrm>
              <a:off x="8160990" y="7108478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6" name="Text 23"/>
            <p:cNvSpPr/>
            <p:nvPr/>
          </p:nvSpPr>
          <p:spPr>
            <a:xfrm>
              <a:off x="8141940" y="7127528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4</a:t>
              </a:r>
              <a:endParaRPr lang="en-US" sz="1350" dirty="0"/>
            </a:p>
          </p:txBody>
        </p:sp>
      </p:grpSp>
      <p:grpSp>
        <p:nvGrpSpPr>
          <p:cNvPr id="86" name="그룹 85"/>
          <p:cNvGrpSpPr/>
          <p:nvPr/>
        </p:nvGrpSpPr>
        <p:grpSpPr>
          <a:xfrm>
            <a:off x="9551068" y="5552072"/>
            <a:ext cx="381000" cy="361950"/>
            <a:chOff x="5829300" y="8971359"/>
            <a:chExt cx="381000" cy="361950"/>
          </a:xfrm>
        </p:grpSpPr>
        <p:sp>
          <p:nvSpPr>
            <p:cNvPr id="27" name="Shape 24"/>
            <p:cNvSpPr/>
            <p:nvPr/>
          </p:nvSpPr>
          <p:spPr>
            <a:xfrm>
              <a:off x="5848350" y="8971359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8" name="Text 25"/>
            <p:cNvSpPr/>
            <p:nvPr/>
          </p:nvSpPr>
          <p:spPr>
            <a:xfrm>
              <a:off x="5829300" y="8990409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5</a:t>
              </a:r>
              <a:endParaRPr lang="en-US" sz="1350" dirty="0"/>
            </a:p>
          </p:txBody>
        </p:sp>
      </p:grpSp>
      <p:sp>
        <p:nvSpPr>
          <p:cNvPr id="29" name="Shape 26"/>
          <p:cNvSpPr/>
          <p:nvPr/>
        </p:nvSpPr>
        <p:spPr>
          <a:xfrm>
            <a:off x="12001500" y="13144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0" name="Text 27"/>
          <p:cNvSpPr/>
          <p:nvPr/>
        </p:nvSpPr>
        <p:spPr>
          <a:xfrm>
            <a:off x="12001500" y="1028700"/>
            <a:ext cx="12997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· 컴포넌트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3320266" y="1104900"/>
            <a:ext cx="15653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Purpose · Components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2001500" y="1428750"/>
            <a:ext cx="623963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결과 다운로드 + 구간 다운로드 옵션 + 자동 삭제 정책 안내</a:t>
            </a:r>
            <a:endParaRPr lang="en-US" sz="1650" dirty="0"/>
          </a:p>
        </p:txBody>
      </p:sp>
      <p:sp>
        <p:nvSpPr>
          <p:cNvPr id="33" name="Shape 30"/>
          <p:cNvSpPr/>
          <p:nvPr/>
        </p:nvSpPr>
        <p:spPr>
          <a:xfrm>
            <a:off x="12001500" y="214312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4" name="Shape 31"/>
          <p:cNvSpPr/>
          <p:nvPr/>
        </p:nvSpPr>
        <p:spPr>
          <a:xfrm>
            <a:off x="12001500" y="18859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5" name="Text 32"/>
          <p:cNvSpPr/>
          <p:nvPr/>
        </p:nvSpPr>
        <p:spPr>
          <a:xfrm>
            <a:off x="11963400" y="18859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2287250" y="18669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메시지 + 처리 요약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검출 N건 → 치환 M건 + 처리 시간</a:t>
            </a:r>
            <a:endParaRPr lang="en-US" sz="1425" dirty="0"/>
          </a:p>
        </p:txBody>
      </p:sp>
      <p:sp>
        <p:nvSpPr>
          <p:cNvPr id="37" name="Shape 34"/>
          <p:cNvSpPr/>
          <p:nvPr/>
        </p:nvSpPr>
        <p:spPr>
          <a:xfrm>
            <a:off x="12001500" y="247650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8" name="Shape 35"/>
          <p:cNvSpPr/>
          <p:nvPr/>
        </p:nvSpPr>
        <p:spPr>
          <a:xfrm>
            <a:off x="12001500" y="221932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9" name="Text 36"/>
          <p:cNvSpPr/>
          <p:nvPr/>
        </p:nvSpPr>
        <p:spPr>
          <a:xfrm>
            <a:off x="11963400" y="221932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2287250" y="220027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영상 플레이어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인라인 재생. 워터마크 비가시 (스테가노)</a:t>
            </a:r>
            <a:endParaRPr lang="en-US" sz="1425" dirty="0"/>
          </a:p>
        </p:txBody>
      </p:sp>
      <p:sp>
        <p:nvSpPr>
          <p:cNvPr id="41" name="Shape 38"/>
          <p:cNvSpPr/>
          <p:nvPr/>
        </p:nvSpPr>
        <p:spPr>
          <a:xfrm>
            <a:off x="12001500" y="280987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2" name="Shape 39"/>
          <p:cNvSpPr/>
          <p:nvPr/>
        </p:nvSpPr>
        <p:spPr>
          <a:xfrm>
            <a:off x="12001500" y="255270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3" name="Text 40"/>
          <p:cNvSpPr/>
          <p:nvPr/>
        </p:nvSpPr>
        <p:spPr>
          <a:xfrm>
            <a:off x="11963400" y="255270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2287250" y="253365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다운로드 (Primary Large)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입력 포맷 동일 재인코딩 완료 파일</a:t>
            </a:r>
            <a:endParaRPr lang="en-US" sz="1425" dirty="0"/>
          </a:p>
        </p:txBody>
      </p:sp>
      <p:sp>
        <p:nvSpPr>
          <p:cNvPr id="45" name="Shape 42"/>
          <p:cNvSpPr/>
          <p:nvPr/>
        </p:nvSpPr>
        <p:spPr>
          <a:xfrm>
            <a:off x="12001500" y="314325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6" name="Shape 43"/>
          <p:cNvSpPr/>
          <p:nvPr/>
        </p:nvSpPr>
        <p:spPr>
          <a:xfrm>
            <a:off x="12001500" y="28860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7" name="Text 44"/>
          <p:cNvSpPr/>
          <p:nvPr/>
        </p:nvSpPr>
        <p:spPr>
          <a:xfrm>
            <a:off x="11963400" y="28860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2287250" y="286702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구간 다운로드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시작/끝 mm:ss 입력 → FFmpeg trim (수초~수십초)</a:t>
            </a:r>
            <a:endParaRPr lang="en-US" sz="1425" dirty="0"/>
          </a:p>
        </p:txBody>
      </p:sp>
      <p:sp>
        <p:nvSpPr>
          <p:cNvPr id="49" name="Shape 46"/>
          <p:cNvSpPr/>
          <p:nvPr/>
        </p:nvSpPr>
        <p:spPr>
          <a:xfrm>
            <a:off x="12001500" y="32194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50" name="Text 47"/>
          <p:cNvSpPr/>
          <p:nvPr/>
        </p:nvSpPr>
        <p:spPr>
          <a:xfrm>
            <a:off x="11963400" y="32194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2287250" y="3200400"/>
            <a:ext cx="594531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삭제 안내 + SNS 가이드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24시간 이내 임박 강조. SNS 진입자는 3-step 가이드 표시</a:t>
            </a:r>
            <a:endParaRPr lang="en-US" sz="1425" dirty="0"/>
          </a:p>
        </p:txBody>
      </p:sp>
      <p:sp>
        <p:nvSpPr>
          <p:cNvPr id="52" name="Shape 49"/>
          <p:cNvSpPr/>
          <p:nvPr/>
        </p:nvSpPr>
        <p:spPr>
          <a:xfrm>
            <a:off x="12001500" y="4105275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3" name="Text 50"/>
          <p:cNvSpPr/>
          <p:nvPr/>
        </p:nvSpPr>
        <p:spPr>
          <a:xfrm>
            <a:off x="12001500" y="3819525"/>
            <a:ext cx="9603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/ 이탈</a:t>
            </a:r>
            <a:endParaRPr lang="en-US" sz="1650" dirty="0"/>
          </a:p>
        </p:txBody>
      </p:sp>
      <p:sp>
        <p:nvSpPr>
          <p:cNvPr id="54" name="Text 51"/>
          <p:cNvSpPr/>
          <p:nvPr/>
        </p:nvSpPr>
        <p:spPr>
          <a:xfrm>
            <a:off x="12980938" y="3895725"/>
            <a:ext cx="7868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Entry · Exit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12006263" y="4224338"/>
            <a:ext cx="1047750" cy="34290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2091988" y="4271963"/>
            <a:ext cx="9525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</a:t>
            </a:r>
            <a:endParaRPr lang="en-US" sz="1425" dirty="0"/>
          </a:p>
        </p:txBody>
      </p:sp>
      <p:sp>
        <p:nvSpPr>
          <p:cNvPr id="57" name="Shape 54"/>
          <p:cNvSpPr/>
          <p:nvPr/>
        </p:nvSpPr>
        <p:spPr>
          <a:xfrm>
            <a:off x="13054013" y="4224338"/>
            <a:ext cx="5000625" cy="34290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3179743" y="4267200"/>
            <a:ext cx="487013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17 본 처리 완료</a:t>
            </a:r>
            <a:endParaRPr lang="en-US" sz="1425" dirty="0"/>
          </a:p>
        </p:txBody>
      </p:sp>
      <p:sp>
        <p:nvSpPr>
          <p:cNvPr id="59" name="Shape 56"/>
          <p:cNvSpPr/>
          <p:nvPr/>
        </p:nvSpPr>
        <p:spPr>
          <a:xfrm>
            <a:off x="12006263" y="4567238"/>
            <a:ext cx="1047750" cy="8572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2091988" y="4614863"/>
            <a:ext cx="9525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/ 다음</a:t>
            </a:r>
            <a:endParaRPr lang="en-US" sz="1425" dirty="0"/>
          </a:p>
        </p:txBody>
      </p:sp>
      <p:sp>
        <p:nvSpPr>
          <p:cNvPr id="61" name="Shape 58"/>
          <p:cNvSpPr/>
          <p:nvPr/>
        </p:nvSpPr>
        <p:spPr>
          <a:xfrm>
            <a:off x="13054013" y="4567238"/>
            <a:ext cx="5000625" cy="8572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3179743" y="4610100"/>
            <a:ext cx="487013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"전체/구간 다운로드"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"다른 영상 검사" → 08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"마이 이력" → 20</a:t>
            </a:r>
            <a:endParaRPr lang="en-US" sz="1425" dirty="0"/>
          </a:p>
        </p:txBody>
      </p:sp>
      <p:sp>
        <p:nvSpPr>
          <p:cNvPr id="63" name="Shape 60"/>
          <p:cNvSpPr/>
          <p:nvPr/>
        </p:nvSpPr>
        <p:spPr>
          <a:xfrm>
            <a:off x="12001500" y="58102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64" name="Text 61"/>
          <p:cNvSpPr/>
          <p:nvPr/>
        </p:nvSpPr>
        <p:spPr>
          <a:xfrm>
            <a:off x="12001500" y="5524500"/>
            <a:ext cx="849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분기·규칙</a:t>
            </a:r>
            <a:endParaRPr lang="en-US" sz="1650" dirty="0"/>
          </a:p>
        </p:txBody>
      </p:sp>
      <p:sp>
        <p:nvSpPr>
          <p:cNvPr id="65" name="Text 62"/>
          <p:cNvSpPr/>
          <p:nvPr/>
        </p:nvSpPr>
        <p:spPr>
          <a:xfrm>
            <a:off x="12869912" y="5600700"/>
            <a:ext cx="4344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Rules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12006263" y="5929313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2091988" y="5976938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다운로드 링크 유효 시간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13054013" y="5929313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3139738" y="5976938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30분 → 재발급 옵션</a:t>
            </a:r>
            <a:endParaRPr lang="en-US" sz="1425" dirty="0"/>
          </a:p>
        </p:txBody>
      </p:sp>
      <p:sp>
        <p:nvSpPr>
          <p:cNvPr id="70" name="Shape 67"/>
          <p:cNvSpPr/>
          <p:nvPr/>
        </p:nvSpPr>
        <p:spPr>
          <a:xfrm>
            <a:off x="12006263" y="6491288"/>
            <a:ext cx="1047750" cy="80010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2091988" y="6538912"/>
            <a:ext cx="95250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삭제 임박 (24시간 이내)</a:t>
            </a:r>
            <a:endParaRPr lang="en-US" sz="1425" dirty="0"/>
          </a:p>
        </p:txBody>
      </p:sp>
      <p:sp>
        <p:nvSpPr>
          <p:cNvPr id="72" name="Shape 69"/>
          <p:cNvSpPr/>
          <p:nvPr/>
        </p:nvSpPr>
        <p:spPr>
          <a:xfrm>
            <a:off x="13054013" y="6491288"/>
            <a:ext cx="5000625" cy="80010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3139738" y="6538912"/>
            <a:ext cx="4979194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"N시간 후 삭제" 강조</a:t>
            </a:r>
            <a:endParaRPr lang="en-US" sz="1425" dirty="0"/>
          </a:p>
        </p:txBody>
      </p:sp>
      <p:sp>
        <p:nvSpPr>
          <p:cNvPr id="74" name="Shape 71"/>
          <p:cNvSpPr/>
          <p:nvPr/>
        </p:nvSpPr>
        <p:spPr>
          <a:xfrm>
            <a:off x="12006263" y="7291388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2091988" y="7339012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 진입자</a:t>
            </a:r>
            <a:endParaRPr lang="en-US" sz="1425" dirty="0"/>
          </a:p>
        </p:txBody>
      </p:sp>
      <p:sp>
        <p:nvSpPr>
          <p:cNvPr id="76" name="Shape 73"/>
          <p:cNvSpPr/>
          <p:nvPr/>
        </p:nvSpPr>
        <p:spPr>
          <a:xfrm>
            <a:off x="13054013" y="7291388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13139738" y="7339012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3-step 가이드 자동 표시 (다운로드 → 인스타 직접 삭제 → 새 버전 업로드)</a:t>
            </a:r>
            <a:endParaRPr lang="en-US" sz="1425" dirty="0"/>
          </a:p>
        </p:txBody>
      </p:sp>
      <p:sp>
        <p:nvSpPr>
          <p:cNvPr id="78" name="Shape 75"/>
          <p:cNvSpPr/>
          <p:nvPr/>
        </p:nvSpPr>
        <p:spPr>
          <a:xfrm>
            <a:off x="0" y="9944100"/>
            <a:ext cx="18288000" cy="3429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79" name="Shape 76"/>
          <p:cNvSpPr/>
          <p:nvPr/>
        </p:nvSpPr>
        <p:spPr>
          <a:xfrm>
            <a:off x="0" y="9944100"/>
            <a:ext cx="18288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80" name="Text 77"/>
          <p:cNvSpPr/>
          <p:nvPr/>
        </p:nvSpPr>
        <p:spPr>
          <a:xfrm>
            <a:off x="304800" y="10034588"/>
            <a:ext cx="529458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54" dirty="0">
                <a:solidFill>
                  <a:srgbClr val="798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· 화면설계서 v1.0 · #garim.kr/jobs/[id]/download</a:t>
            </a:r>
            <a:endParaRPr lang="en-US" sz="1200" dirty="0"/>
          </a:p>
        </p:txBody>
      </p:sp>
      <p:sp>
        <p:nvSpPr>
          <p:cNvPr id="81" name="Text 78"/>
          <p:cNvSpPr/>
          <p:nvPr/>
        </p:nvSpPr>
        <p:spPr>
          <a:xfrm>
            <a:off x="13223379" y="10020300"/>
            <a:ext cx="490261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P18 · 다운로드 · ref: Vimeo · Dropbox · YouTube Studio 클립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228600" y="1343025"/>
            <a:ext cx="11582400" cy="8486775"/>
          </a:xfrm>
          <a:prstGeom prst="roundRect">
            <a:avLst>
              <a:gd name="adj" fmla="val 224"/>
            </a:avLst>
          </a:prstGeom>
          <a:solidFill>
            <a:srgbClr val="FFFFFF"/>
          </a:solidFill>
          <a:ln w="9525">
            <a:solidFill>
              <a:srgbClr val="B8BDC7"/>
            </a:solidFill>
            <a:prstDash val="solid"/>
          </a:ln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86" name="그림 85"/>
          <p:cNvPicPr>
            <a:picLocks noChangeAspect="1"/>
          </p:cNvPicPr>
          <p:nvPr/>
        </p:nvPicPr>
        <p:blipFill rotWithShape="1">
          <a:blip r:embed="rId3"/>
          <a:srcRect t="7616" b="23139"/>
          <a:stretch/>
        </p:blipFill>
        <p:spPr>
          <a:xfrm>
            <a:off x="695325" y="1680409"/>
            <a:ext cx="10991850" cy="7459579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876300"/>
            <a:ext cx="18288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00200" cy="91440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" name="Text 2"/>
          <p:cNvSpPr/>
          <p:nvPr/>
        </p:nvSpPr>
        <p:spPr>
          <a:xfrm>
            <a:off x="560636" y="147638"/>
            <a:ext cx="5549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216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5335" y="309563"/>
            <a:ext cx="6057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kern="0" spc="-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828800" y="152400"/>
            <a:ext cx="1237503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27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 대시보드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28800" y="561975"/>
            <a:ext cx="1237503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071997" y="0"/>
            <a:ext cx="9525" cy="914400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" name="Shape 7"/>
          <p:cNvSpPr/>
          <p:nvPr/>
        </p:nvSpPr>
        <p:spPr>
          <a:xfrm>
            <a:off x="14348222" y="304800"/>
            <a:ext cx="988665" cy="304800"/>
          </a:xfrm>
          <a:prstGeom prst="roundRect">
            <a:avLst>
              <a:gd name="adj" fmla="val 12500"/>
            </a:avLst>
          </a:prstGeom>
          <a:solidFill>
            <a:srgbClr val="455A64"/>
          </a:solidFill>
          <a:ln w="9525">
            <a:solidFill>
              <a:srgbClr val="455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72047" y="314325"/>
            <a:ext cx="81721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마이페이지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432137" y="304800"/>
            <a:ext cx="831503" cy="304800"/>
          </a:xfrm>
          <a:prstGeom prst="roundRect">
            <a:avLst>
              <a:gd name="adj" fmla="val 12500"/>
            </a:avLst>
          </a:prstGeom>
          <a:solidFill>
            <a:srgbClr val="0288D1"/>
          </a:solidFill>
          <a:ln w="9525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55962" y="314325"/>
            <a:ext cx="6600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6358890" y="314325"/>
            <a:ext cx="166241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473190" y="314325"/>
            <a:ext cx="1510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2026.05.14 · v1.0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8600" y="1066800"/>
            <a:ext cx="2028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와이어 / Hi-Fi Mockup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530780" y="1066800"/>
            <a:ext cx="124212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garim.kr/me</a:t>
            </a:r>
            <a:endParaRPr lang="en-US" sz="1350" dirty="0"/>
          </a:p>
        </p:txBody>
      </p:sp>
      <p:grpSp>
        <p:nvGrpSpPr>
          <p:cNvPr id="87" name="그룹 86"/>
          <p:cNvGrpSpPr/>
          <p:nvPr/>
        </p:nvGrpSpPr>
        <p:grpSpPr>
          <a:xfrm>
            <a:off x="779115" y="1895475"/>
            <a:ext cx="381000" cy="361950"/>
            <a:chOff x="779115" y="1895475"/>
            <a:chExt cx="381000" cy="361950"/>
          </a:xfrm>
        </p:grpSpPr>
        <p:sp>
          <p:nvSpPr>
            <p:cNvPr id="19" name="Shape 16"/>
            <p:cNvSpPr/>
            <p:nvPr/>
          </p:nvSpPr>
          <p:spPr>
            <a:xfrm>
              <a:off x="798165" y="1895475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0" name="Text 17"/>
            <p:cNvSpPr/>
            <p:nvPr/>
          </p:nvSpPr>
          <p:spPr>
            <a:xfrm>
              <a:off x="779115" y="1914525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</a:t>
              </a:r>
              <a:endParaRPr lang="en-US" sz="1350" dirty="0"/>
            </a:p>
          </p:txBody>
        </p:sp>
      </p:grpSp>
      <p:grpSp>
        <p:nvGrpSpPr>
          <p:cNvPr id="88" name="그룹 87"/>
          <p:cNvGrpSpPr/>
          <p:nvPr/>
        </p:nvGrpSpPr>
        <p:grpSpPr>
          <a:xfrm>
            <a:off x="8122890" y="1838325"/>
            <a:ext cx="381000" cy="361950"/>
            <a:chOff x="8141940" y="2535882"/>
            <a:chExt cx="381000" cy="361950"/>
          </a:xfrm>
        </p:grpSpPr>
        <p:sp>
          <p:nvSpPr>
            <p:cNvPr id="21" name="Shape 18"/>
            <p:cNvSpPr/>
            <p:nvPr/>
          </p:nvSpPr>
          <p:spPr>
            <a:xfrm>
              <a:off x="8160990" y="2535882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2" name="Text 19"/>
            <p:cNvSpPr/>
            <p:nvPr/>
          </p:nvSpPr>
          <p:spPr>
            <a:xfrm>
              <a:off x="8141940" y="2554932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2</a:t>
              </a:r>
              <a:endParaRPr lang="en-US" sz="1350" dirty="0"/>
            </a:p>
          </p:txBody>
        </p:sp>
      </p:grpSp>
      <p:grpSp>
        <p:nvGrpSpPr>
          <p:cNvPr id="89" name="그룹 88"/>
          <p:cNvGrpSpPr/>
          <p:nvPr/>
        </p:nvGrpSpPr>
        <p:grpSpPr>
          <a:xfrm>
            <a:off x="734616" y="3077060"/>
            <a:ext cx="381000" cy="361950"/>
            <a:chOff x="3516511" y="4906863"/>
            <a:chExt cx="381000" cy="361950"/>
          </a:xfrm>
        </p:grpSpPr>
        <p:sp>
          <p:nvSpPr>
            <p:cNvPr id="23" name="Shape 20"/>
            <p:cNvSpPr/>
            <p:nvPr/>
          </p:nvSpPr>
          <p:spPr>
            <a:xfrm>
              <a:off x="3535561" y="4906863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4" name="Text 21"/>
            <p:cNvSpPr/>
            <p:nvPr/>
          </p:nvSpPr>
          <p:spPr>
            <a:xfrm>
              <a:off x="3516511" y="4925913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3</a:t>
              </a:r>
              <a:endParaRPr lang="en-US" sz="1350" dirty="0"/>
            </a:p>
          </p:txBody>
        </p:sp>
      </p:grpSp>
      <p:grpSp>
        <p:nvGrpSpPr>
          <p:cNvPr id="90" name="그룹 89"/>
          <p:cNvGrpSpPr/>
          <p:nvPr/>
        </p:nvGrpSpPr>
        <p:grpSpPr>
          <a:xfrm>
            <a:off x="2735750" y="4135353"/>
            <a:ext cx="381000" cy="361950"/>
            <a:chOff x="8141940" y="4906863"/>
            <a:chExt cx="381000" cy="361950"/>
          </a:xfrm>
        </p:grpSpPr>
        <p:sp>
          <p:nvSpPr>
            <p:cNvPr id="25" name="Shape 22"/>
            <p:cNvSpPr/>
            <p:nvPr/>
          </p:nvSpPr>
          <p:spPr>
            <a:xfrm>
              <a:off x="8160990" y="4906863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6" name="Text 23"/>
            <p:cNvSpPr/>
            <p:nvPr/>
          </p:nvSpPr>
          <p:spPr>
            <a:xfrm>
              <a:off x="8141940" y="4925913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4</a:t>
              </a:r>
              <a:endParaRPr lang="en-US" sz="1350" dirty="0"/>
            </a:p>
          </p:txBody>
        </p:sp>
      </p:grpSp>
      <p:grpSp>
        <p:nvGrpSpPr>
          <p:cNvPr id="91" name="그룹 90"/>
          <p:cNvGrpSpPr/>
          <p:nvPr/>
        </p:nvGrpSpPr>
        <p:grpSpPr>
          <a:xfrm>
            <a:off x="777968" y="6181725"/>
            <a:ext cx="381000" cy="361950"/>
            <a:chOff x="5829300" y="7785795"/>
            <a:chExt cx="381000" cy="361950"/>
          </a:xfrm>
        </p:grpSpPr>
        <p:sp>
          <p:nvSpPr>
            <p:cNvPr id="27" name="Shape 24"/>
            <p:cNvSpPr/>
            <p:nvPr/>
          </p:nvSpPr>
          <p:spPr>
            <a:xfrm>
              <a:off x="5848350" y="7785795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8" name="Text 25"/>
            <p:cNvSpPr/>
            <p:nvPr/>
          </p:nvSpPr>
          <p:spPr>
            <a:xfrm>
              <a:off x="5829300" y="7804845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5</a:t>
              </a:r>
              <a:endParaRPr lang="en-US" sz="1350" dirty="0"/>
            </a:p>
          </p:txBody>
        </p:sp>
      </p:grpSp>
      <p:sp>
        <p:nvSpPr>
          <p:cNvPr id="29" name="Shape 26"/>
          <p:cNvSpPr/>
          <p:nvPr/>
        </p:nvSpPr>
        <p:spPr>
          <a:xfrm>
            <a:off x="12001500" y="13144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0" name="Text 27"/>
          <p:cNvSpPr/>
          <p:nvPr/>
        </p:nvSpPr>
        <p:spPr>
          <a:xfrm>
            <a:off x="12001500" y="1028700"/>
            <a:ext cx="12997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· 컴포넌트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3320266" y="1104900"/>
            <a:ext cx="15653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Purpose · Components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2001500" y="1428750"/>
            <a:ext cx="623963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 후 홈. 활동 요약 + 자주 쓰는 진입점 + 다음 액션 권유</a:t>
            </a:r>
            <a:endParaRPr lang="en-US" sz="1650" dirty="0"/>
          </a:p>
        </p:txBody>
      </p:sp>
      <p:sp>
        <p:nvSpPr>
          <p:cNvPr id="33" name="Shape 30"/>
          <p:cNvSpPr/>
          <p:nvPr/>
        </p:nvSpPr>
        <p:spPr>
          <a:xfrm>
            <a:off x="12001500" y="214312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4" name="Shape 31"/>
          <p:cNvSpPr/>
          <p:nvPr/>
        </p:nvSpPr>
        <p:spPr>
          <a:xfrm>
            <a:off x="12001500" y="18859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5" name="Text 32"/>
          <p:cNvSpPr/>
          <p:nvPr/>
        </p:nvSpPr>
        <p:spPr>
          <a:xfrm>
            <a:off x="11963400" y="18859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2287250" y="18669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환영 메시지 + "새 검출 시작"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Primary CTA 가장 큰 사이즈. 가장 잦은 액션</a:t>
            </a:r>
            <a:endParaRPr lang="en-US" sz="1425" dirty="0"/>
          </a:p>
        </p:txBody>
      </p:sp>
      <p:sp>
        <p:nvSpPr>
          <p:cNvPr id="37" name="Shape 34"/>
          <p:cNvSpPr/>
          <p:nvPr/>
        </p:nvSpPr>
        <p:spPr>
          <a:xfrm>
            <a:off x="12001500" y="247650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8" name="Shape 35"/>
          <p:cNvSpPr/>
          <p:nvPr/>
        </p:nvSpPr>
        <p:spPr>
          <a:xfrm>
            <a:off x="12001500" y="221932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9" name="Text 36"/>
          <p:cNvSpPr/>
          <p:nvPr/>
        </p:nvSpPr>
        <p:spPr>
          <a:xfrm>
            <a:off x="11963400" y="221932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2287250" y="220027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"내 인스타 점검" 보조 CTA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연결 안된 사용자는 OAuth 안내</a:t>
            </a:r>
            <a:endParaRPr lang="en-US" sz="1425" dirty="0"/>
          </a:p>
        </p:txBody>
      </p:sp>
      <p:sp>
        <p:nvSpPr>
          <p:cNvPr id="41" name="Shape 38"/>
          <p:cNvSpPr/>
          <p:nvPr/>
        </p:nvSpPr>
        <p:spPr>
          <a:xfrm>
            <a:off x="12001500" y="280987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2" name="Shape 39"/>
          <p:cNvSpPr/>
          <p:nvPr/>
        </p:nvSpPr>
        <p:spPr>
          <a:xfrm>
            <a:off x="12001500" y="255270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3" name="Text 40"/>
          <p:cNvSpPr/>
          <p:nvPr/>
        </p:nvSpPr>
        <p:spPr>
          <a:xfrm>
            <a:off x="11963400" y="255270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2287250" y="253365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활동 요약 카드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누적 검출 · 치환 · 발견 개인정보 카운트</a:t>
            </a:r>
            <a:endParaRPr lang="en-US" sz="1425" dirty="0"/>
          </a:p>
        </p:txBody>
      </p:sp>
      <p:sp>
        <p:nvSpPr>
          <p:cNvPr id="45" name="Shape 42"/>
          <p:cNvSpPr/>
          <p:nvPr/>
        </p:nvSpPr>
        <p:spPr>
          <a:xfrm>
            <a:off x="12001500" y="314325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6" name="Shape 43"/>
          <p:cNvSpPr/>
          <p:nvPr/>
        </p:nvSpPr>
        <p:spPr>
          <a:xfrm>
            <a:off x="12001500" y="28860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7" name="Text 44"/>
          <p:cNvSpPr/>
          <p:nvPr/>
        </p:nvSpPr>
        <p:spPr>
          <a:xfrm>
            <a:off x="11963400" y="28860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2287250" y="286702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중 작업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있을 때만 표시. 클릭 → 09/17 진행 화면</a:t>
            </a:r>
            <a:endParaRPr lang="en-US" sz="1425" dirty="0"/>
          </a:p>
        </p:txBody>
      </p:sp>
      <p:sp>
        <p:nvSpPr>
          <p:cNvPr id="49" name="Shape 46"/>
          <p:cNvSpPr/>
          <p:nvPr/>
        </p:nvSpPr>
        <p:spPr>
          <a:xfrm>
            <a:off x="12001500" y="32194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50" name="Text 47"/>
          <p:cNvSpPr/>
          <p:nvPr/>
        </p:nvSpPr>
        <p:spPr>
          <a:xfrm>
            <a:off x="11963400" y="32194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2287250" y="32004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최근 처리 Top 3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"전체 이력" → 20</a:t>
            </a:r>
            <a:endParaRPr lang="en-US" sz="1425" dirty="0"/>
          </a:p>
        </p:txBody>
      </p:sp>
      <p:sp>
        <p:nvSpPr>
          <p:cNvPr id="52" name="Shape 49"/>
          <p:cNvSpPr/>
          <p:nvPr/>
        </p:nvSpPr>
        <p:spPr>
          <a:xfrm>
            <a:off x="12001500" y="3857625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3" name="Text 50"/>
          <p:cNvSpPr/>
          <p:nvPr/>
        </p:nvSpPr>
        <p:spPr>
          <a:xfrm>
            <a:off x="12001500" y="3571875"/>
            <a:ext cx="9603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/ 이탈</a:t>
            </a:r>
            <a:endParaRPr lang="en-US" sz="1650" dirty="0"/>
          </a:p>
        </p:txBody>
      </p:sp>
      <p:sp>
        <p:nvSpPr>
          <p:cNvPr id="54" name="Text 51"/>
          <p:cNvSpPr/>
          <p:nvPr/>
        </p:nvSpPr>
        <p:spPr>
          <a:xfrm>
            <a:off x="12980938" y="3648075"/>
            <a:ext cx="7868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Entry · Exit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12006263" y="3976687"/>
            <a:ext cx="1047750" cy="8572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2091988" y="4024312"/>
            <a:ext cx="9525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</a:t>
            </a:r>
            <a:endParaRPr lang="en-US" sz="1425" dirty="0"/>
          </a:p>
        </p:txBody>
      </p:sp>
      <p:sp>
        <p:nvSpPr>
          <p:cNvPr id="57" name="Shape 54"/>
          <p:cNvSpPr/>
          <p:nvPr/>
        </p:nvSpPr>
        <p:spPr>
          <a:xfrm>
            <a:off x="13054013" y="3976687"/>
            <a:ext cx="5000625" cy="8572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3179743" y="4019550"/>
            <a:ext cx="487013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 직후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헤더 로고 클릭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세션 복원</a:t>
            </a:r>
            <a:endParaRPr lang="en-US" sz="1425" dirty="0"/>
          </a:p>
        </p:txBody>
      </p:sp>
      <p:sp>
        <p:nvSpPr>
          <p:cNvPr id="59" name="Shape 56"/>
          <p:cNvSpPr/>
          <p:nvPr/>
        </p:nvSpPr>
        <p:spPr>
          <a:xfrm>
            <a:off x="12006263" y="4833938"/>
            <a:ext cx="1047750" cy="111442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2091988" y="4881562"/>
            <a:ext cx="952500" cy="1057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/ 다음</a:t>
            </a:r>
            <a:endParaRPr lang="en-US" sz="1425" dirty="0"/>
          </a:p>
        </p:txBody>
      </p:sp>
      <p:sp>
        <p:nvSpPr>
          <p:cNvPr id="61" name="Shape 58"/>
          <p:cNvSpPr/>
          <p:nvPr/>
        </p:nvSpPr>
        <p:spPr>
          <a:xfrm>
            <a:off x="13054013" y="4833938"/>
            <a:ext cx="5000625" cy="111442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3179743" y="4876800"/>
            <a:ext cx="4870133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"새 검출" → 08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"내 인스타" → 11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"이력" → 20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"설정" → 22</a:t>
            </a:r>
            <a:endParaRPr lang="en-US" sz="1425" dirty="0"/>
          </a:p>
        </p:txBody>
      </p:sp>
      <p:sp>
        <p:nvSpPr>
          <p:cNvPr id="63" name="Shape 60"/>
          <p:cNvSpPr/>
          <p:nvPr/>
        </p:nvSpPr>
        <p:spPr>
          <a:xfrm>
            <a:off x="12001500" y="6334125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64" name="Text 61"/>
          <p:cNvSpPr/>
          <p:nvPr/>
        </p:nvSpPr>
        <p:spPr>
          <a:xfrm>
            <a:off x="12001500" y="6048375"/>
            <a:ext cx="849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분기·규칙</a:t>
            </a:r>
            <a:endParaRPr lang="en-US" sz="1650" dirty="0"/>
          </a:p>
        </p:txBody>
      </p:sp>
      <p:sp>
        <p:nvSpPr>
          <p:cNvPr id="65" name="Text 62"/>
          <p:cNvSpPr/>
          <p:nvPr/>
        </p:nvSpPr>
        <p:spPr>
          <a:xfrm>
            <a:off x="12869912" y="6124575"/>
            <a:ext cx="4344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Rules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12006263" y="6453188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2091988" y="6500813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사용자 (처리 0건)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13054013" y="6453188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3139738" y="6500813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온보딩 모드 "첫 검출 시작"</a:t>
            </a:r>
            <a:endParaRPr lang="en-US" sz="1425" dirty="0"/>
          </a:p>
        </p:txBody>
      </p:sp>
      <p:sp>
        <p:nvSpPr>
          <p:cNvPr id="70" name="Shape 67"/>
          <p:cNvSpPr/>
          <p:nvPr/>
        </p:nvSpPr>
        <p:spPr>
          <a:xfrm>
            <a:off x="12006263" y="7015163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2091988" y="7062788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활성 사용자</a:t>
            </a:r>
            <a:endParaRPr lang="en-US" sz="1425" dirty="0"/>
          </a:p>
        </p:txBody>
      </p:sp>
      <p:sp>
        <p:nvSpPr>
          <p:cNvPr id="72" name="Shape 69"/>
          <p:cNvSpPr/>
          <p:nvPr/>
        </p:nvSpPr>
        <p:spPr>
          <a:xfrm>
            <a:off x="13054013" y="7015163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3139738" y="7062788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요약·이력 강조</a:t>
            </a:r>
            <a:endParaRPr lang="en-US" sz="1425" dirty="0"/>
          </a:p>
        </p:txBody>
      </p:sp>
      <p:sp>
        <p:nvSpPr>
          <p:cNvPr id="74" name="Shape 71"/>
          <p:cNvSpPr/>
          <p:nvPr/>
        </p:nvSpPr>
        <p:spPr>
          <a:xfrm>
            <a:off x="12006263" y="7339012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2091988" y="7386638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 중 작업</a:t>
            </a:r>
            <a:endParaRPr lang="en-US" sz="1425" dirty="0"/>
          </a:p>
        </p:txBody>
      </p:sp>
      <p:sp>
        <p:nvSpPr>
          <p:cNvPr id="76" name="Shape 73"/>
          <p:cNvSpPr/>
          <p:nvPr/>
        </p:nvSpPr>
        <p:spPr>
          <a:xfrm>
            <a:off x="13054013" y="7339012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13139738" y="7386638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진행률 표시 + 클릭 시 진행 화면</a:t>
            </a:r>
            <a:endParaRPr lang="en-US" sz="1425" dirty="0"/>
          </a:p>
        </p:txBody>
      </p:sp>
      <p:sp>
        <p:nvSpPr>
          <p:cNvPr id="78" name="Shape 75"/>
          <p:cNvSpPr/>
          <p:nvPr/>
        </p:nvSpPr>
        <p:spPr>
          <a:xfrm>
            <a:off x="12006263" y="7662863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12091988" y="7710488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 정식</a:t>
            </a:r>
            <a:endParaRPr lang="en-US" sz="1425" dirty="0"/>
          </a:p>
        </p:txBody>
      </p:sp>
      <p:sp>
        <p:nvSpPr>
          <p:cNvPr id="80" name="Shape 77"/>
          <p:cNvSpPr/>
          <p:nvPr/>
        </p:nvSpPr>
        <p:spPr>
          <a:xfrm>
            <a:off x="13054013" y="7662863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13139738" y="7710488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플랜 카드 + 업그레이드 권유</a:t>
            </a:r>
            <a:endParaRPr lang="en-US" sz="1425" dirty="0"/>
          </a:p>
        </p:txBody>
      </p:sp>
      <p:sp>
        <p:nvSpPr>
          <p:cNvPr id="82" name="Shape 79"/>
          <p:cNvSpPr/>
          <p:nvPr/>
        </p:nvSpPr>
        <p:spPr>
          <a:xfrm>
            <a:off x="0" y="9944100"/>
            <a:ext cx="18288000" cy="3429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83" name="Shape 80"/>
          <p:cNvSpPr/>
          <p:nvPr/>
        </p:nvSpPr>
        <p:spPr>
          <a:xfrm>
            <a:off x="0" y="9944100"/>
            <a:ext cx="18288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84" name="Text 81"/>
          <p:cNvSpPr/>
          <p:nvPr/>
        </p:nvSpPr>
        <p:spPr>
          <a:xfrm>
            <a:off x="304800" y="10034588"/>
            <a:ext cx="362905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54" dirty="0">
                <a:solidFill>
                  <a:srgbClr val="798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· 화면설계서 v1.0 · #garim.kr/me</a:t>
            </a:r>
            <a:endParaRPr lang="en-US" sz="1200" dirty="0"/>
          </a:p>
        </p:txBody>
      </p:sp>
      <p:sp>
        <p:nvSpPr>
          <p:cNvPr id="85" name="Text 82"/>
          <p:cNvSpPr/>
          <p:nvPr/>
        </p:nvSpPr>
        <p:spPr>
          <a:xfrm>
            <a:off x="11890325" y="10020300"/>
            <a:ext cx="62756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P19 · 마이 대시보드 · ref: Linear inbox · GitHub overview · Vercel dashboard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228600" y="1343025"/>
            <a:ext cx="11582400" cy="8486775"/>
          </a:xfrm>
          <a:prstGeom prst="roundRect">
            <a:avLst>
              <a:gd name="adj" fmla="val 224"/>
            </a:avLst>
          </a:prstGeom>
          <a:solidFill>
            <a:srgbClr val="FFFFFF"/>
          </a:solidFill>
          <a:ln w="9525">
            <a:solidFill>
              <a:srgbClr val="B8BDC7"/>
            </a:solidFill>
            <a:prstDash val="solid"/>
          </a:ln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76" name="그림 75"/>
          <p:cNvPicPr>
            <a:picLocks noChangeAspect="1"/>
          </p:cNvPicPr>
          <p:nvPr/>
        </p:nvPicPr>
        <p:blipFill rotWithShape="1">
          <a:blip r:embed="rId3"/>
          <a:srcRect t="7303" b="25133"/>
          <a:stretch/>
        </p:blipFill>
        <p:spPr>
          <a:xfrm>
            <a:off x="560636" y="2100474"/>
            <a:ext cx="10991850" cy="664143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876300"/>
            <a:ext cx="18288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00200" cy="91440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" name="Text 2"/>
          <p:cNvSpPr/>
          <p:nvPr/>
        </p:nvSpPr>
        <p:spPr>
          <a:xfrm>
            <a:off x="560636" y="147638"/>
            <a:ext cx="5549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216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5335" y="309563"/>
            <a:ext cx="6057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kern="0" spc="-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828800" y="152400"/>
            <a:ext cx="1237503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27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이력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28800" y="561975"/>
            <a:ext cx="1237503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History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071997" y="0"/>
            <a:ext cx="9525" cy="914400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" name="Shape 7"/>
          <p:cNvSpPr/>
          <p:nvPr/>
        </p:nvSpPr>
        <p:spPr>
          <a:xfrm>
            <a:off x="14348222" y="304800"/>
            <a:ext cx="988665" cy="304800"/>
          </a:xfrm>
          <a:prstGeom prst="roundRect">
            <a:avLst>
              <a:gd name="adj" fmla="val 12500"/>
            </a:avLst>
          </a:prstGeom>
          <a:solidFill>
            <a:srgbClr val="455A64"/>
          </a:solidFill>
          <a:ln w="9525">
            <a:solidFill>
              <a:srgbClr val="455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72047" y="314325"/>
            <a:ext cx="81721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마이페이지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432137" y="304800"/>
            <a:ext cx="831503" cy="304800"/>
          </a:xfrm>
          <a:prstGeom prst="roundRect">
            <a:avLst>
              <a:gd name="adj" fmla="val 12500"/>
            </a:avLst>
          </a:prstGeom>
          <a:solidFill>
            <a:srgbClr val="0288D1"/>
          </a:solidFill>
          <a:ln w="9525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55962" y="314325"/>
            <a:ext cx="6600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6358890" y="314325"/>
            <a:ext cx="166241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473190" y="314325"/>
            <a:ext cx="1510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2026.05.14 · v1.0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8600" y="1066800"/>
            <a:ext cx="2028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와이어 / Hi-Fi Mockup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682907" y="1066800"/>
            <a:ext cx="208999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garim.kr/me/history</a:t>
            </a:r>
            <a:endParaRPr lang="en-US" sz="1350" dirty="0"/>
          </a:p>
        </p:txBody>
      </p:sp>
      <p:grpSp>
        <p:nvGrpSpPr>
          <p:cNvPr id="77" name="그룹 76"/>
          <p:cNvGrpSpPr/>
          <p:nvPr/>
        </p:nvGrpSpPr>
        <p:grpSpPr>
          <a:xfrm>
            <a:off x="6034839" y="2716090"/>
            <a:ext cx="381000" cy="361950"/>
            <a:chOff x="5829300" y="2027783"/>
            <a:chExt cx="381000" cy="361950"/>
          </a:xfrm>
        </p:grpSpPr>
        <p:sp>
          <p:nvSpPr>
            <p:cNvPr id="19" name="Shape 16"/>
            <p:cNvSpPr/>
            <p:nvPr/>
          </p:nvSpPr>
          <p:spPr>
            <a:xfrm>
              <a:off x="5848350" y="2027783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0" name="Text 17"/>
            <p:cNvSpPr/>
            <p:nvPr/>
          </p:nvSpPr>
          <p:spPr>
            <a:xfrm>
              <a:off x="5829300" y="2046833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</a:t>
              </a:r>
              <a:endParaRPr lang="en-US" sz="1350" dirty="0"/>
            </a:p>
          </p:txBody>
        </p:sp>
      </p:grpSp>
      <p:grpSp>
        <p:nvGrpSpPr>
          <p:cNvPr id="78" name="그룹 77"/>
          <p:cNvGrpSpPr/>
          <p:nvPr/>
        </p:nvGrpSpPr>
        <p:grpSpPr>
          <a:xfrm>
            <a:off x="647626" y="4905375"/>
            <a:ext cx="381000" cy="361950"/>
            <a:chOff x="5829300" y="4229398"/>
            <a:chExt cx="381000" cy="361950"/>
          </a:xfrm>
        </p:grpSpPr>
        <p:sp>
          <p:nvSpPr>
            <p:cNvPr id="21" name="Shape 18"/>
            <p:cNvSpPr/>
            <p:nvPr/>
          </p:nvSpPr>
          <p:spPr>
            <a:xfrm>
              <a:off x="5848350" y="4229398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2" name="Text 19"/>
            <p:cNvSpPr/>
            <p:nvPr/>
          </p:nvSpPr>
          <p:spPr>
            <a:xfrm>
              <a:off x="5829300" y="4248448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2</a:t>
              </a:r>
              <a:endParaRPr lang="en-US" sz="1350" dirty="0"/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10353973" y="3505200"/>
            <a:ext cx="381000" cy="361950"/>
            <a:chOff x="9992023" y="4229398"/>
            <a:chExt cx="381000" cy="361950"/>
          </a:xfrm>
        </p:grpSpPr>
        <p:sp>
          <p:nvSpPr>
            <p:cNvPr id="23" name="Shape 20"/>
            <p:cNvSpPr/>
            <p:nvPr/>
          </p:nvSpPr>
          <p:spPr>
            <a:xfrm>
              <a:off x="10011073" y="4229398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4" name="Text 21"/>
            <p:cNvSpPr/>
            <p:nvPr/>
          </p:nvSpPr>
          <p:spPr>
            <a:xfrm>
              <a:off x="9992023" y="4248448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3</a:t>
              </a:r>
              <a:endParaRPr lang="en-US" sz="1350" dirty="0"/>
            </a:p>
          </p:txBody>
        </p:sp>
      </p:grpSp>
      <p:grpSp>
        <p:nvGrpSpPr>
          <p:cNvPr id="80" name="그룹 79"/>
          <p:cNvGrpSpPr/>
          <p:nvPr/>
        </p:nvGrpSpPr>
        <p:grpSpPr>
          <a:xfrm>
            <a:off x="10782097" y="2875509"/>
            <a:ext cx="381000" cy="361950"/>
            <a:chOff x="5829300" y="8293894"/>
            <a:chExt cx="381000" cy="361950"/>
          </a:xfrm>
        </p:grpSpPr>
        <p:sp>
          <p:nvSpPr>
            <p:cNvPr id="25" name="Shape 22"/>
            <p:cNvSpPr/>
            <p:nvPr/>
          </p:nvSpPr>
          <p:spPr>
            <a:xfrm>
              <a:off x="5848350" y="8293894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6" name="Text 23"/>
            <p:cNvSpPr/>
            <p:nvPr/>
          </p:nvSpPr>
          <p:spPr>
            <a:xfrm>
              <a:off x="5829300" y="8312944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4</a:t>
              </a:r>
              <a:endParaRPr lang="en-US" sz="1350" dirty="0"/>
            </a:p>
          </p:txBody>
        </p:sp>
      </p:grpSp>
      <p:sp>
        <p:nvSpPr>
          <p:cNvPr id="27" name="Shape 24"/>
          <p:cNvSpPr/>
          <p:nvPr/>
        </p:nvSpPr>
        <p:spPr>
          <a:xfrm>
            <a:off x="12001500" y="13144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28" name="Text 25"/>
          <p:cNvSpPr/>
          <p:nvPr/>
        </p:nvSpPr>
        <p:spPr>
          <a:xfrm>
            <a:off x="12001500" y="1028700"/>
            <a:ext cx="12997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· 컴포넌트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3320266" y="1104900"/>
            <a:ext cx="15653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Purpose · Components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2001500" y="1428750"/>
            <a:ext cx="623963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과거 작업 전체 리스트. 다시 보기·다시 다운로드·삭제</a:t>
            </a:r>
            <a:endParaRPr lang="en-US" sz="1650" dirty="0"/>
          </a:p>
        </p:txBody>
      </p:sp>
      <p:sp>
        <p:nvSpPr>
          <p:cNvPr id="31" name="Shape 28"/>
          <p:cNvSpPr/>
          <p:nvPr/>
        </p:nvSpPr>
        <p:spPr>
          <a:xfrm>
            <a:off x="12001500" y="214312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2" name="Shape 29"/>
          <p:cNvSpPr/>
          <p:nvPr/>
        </p:nvSpPr>
        <p:spPr>
          <a:xfrm>
            <a:off x="12001500" y="18859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3" name="Text 30"/>
          <p:cNvSpPr/>
          <p:nvPr/>
        </p:nvSpPr>
        <p:spPr>
          <a:xfrm>
            <a:off x="11963400" y="18859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2287250" y="18669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검색 + 필터 + 정렬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검출만/치환완료/진행중/실패 · 최신/위험도/처리시간순</a:t>
            </a:r>
            <a:endParaRPr lang="en-US" sz="1425" dirty="0"/>
          </a:p>
        </p:txBody>
      </p:sp>
      <p:sp>
        <p:nvSpPr>
          <p:cNvPr id="35" name="Shape 32"/>
          <p:cNvSpPr/>
          <p:nvPr/>
        </p:nvSpPr>
        <p:spPr>
          <a:xfrm>
            <a:off x="12001500" y="247650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6" name="Shape 33"/>
          <p:cNvSpPr/>
          <p:nvPr/>
        </p:nvSpPr>
        <p:spPr>
          <a:xfrm>
            <a:off x="12001500" y="221932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7" name="Text 34"/>
          <p:cNvSpPr/>
          <p:nvPr/>
        </p:nvSpPr>
        <p:spPr>
          <a:xfrm>
            <a:off x="11963400" y="221932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2287250" y="220027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이력 카드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썸네일·파일명·일시·상태·검출 N → 치환 N·자동 삭제 예정</a:t>
            </a:r>
            <a:endParaRPr lang="en-US" sz="1425" dirty="0"/>
          </a:p>
        </p:txBody>
      </p:sp>
      <p:sp>
        <p:nvSpPr>
          <p:cNvPr id="39" name="Shape 36"/>
          <p:cNvSpPr/>
          <p:nvPr/>
        </p:nvSpPr>
        <p:spPr>
          <a:xfrm>
            <a:off x="12001500" y="280987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0" name="Shape 37"/>
          <p:cNvSpPr/>
          <p:nvPr/>
        </p:nvSpPr>
        <p:spPr>
          <a:xfrm>
            <a:off x="12001500" y="255270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1" name="Text 38"/>
          <p:cNvSpPr/>
          <p:nvPr/>
        </p:nvSpPr>
        <p:spPr>
          <a:xfrm>
            <a:off x="11963400" y="255270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2287250" y="253365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액션 메뉴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다시 보기 · 다시 다운로드 · 삭제 · 임시 저장 옵션 이어 보기</a:t>
            </a:r>
            <a:endParaRPr lang="en-US" sz="1425" dirty="0"/>
          </a:p>
        </p:txBody>
      </p:sp>
      <p:sp>
        <p:nvSpPr>
          <p:cNvPr id="43" name="Shape 40"/>
          <p:cNvSpPr/>
          <p:nvPr/>
        </p:nvSpPr>
        <p:spPr>
          <a:xfrm>
            <a:off x="12001500" y="28860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4" name="Text 41"/>
          <p:cNvSpPr/>
          <p:nvPr/>
        </p:nvSpPr>
        <p:spPr>
          <a:xfrm>
            <a:off x="11963400" y="28860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2287250" y="286702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다중 선택 + 일괄 삭제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체크박스 모드 토글. 확인 모달 후 영구 삭제</a:t>
            </a:r>
            <a:endParaRPr lang="en-US" sz="1425" dirty="0"/>
          </a:p>
        </p:txBody>
      </p:sp>
      <p:sp>
        <p:nvSpPr>
          <p:cNvPr id="46" name="Shape 43"/>
          <p:cNvSpPr/>
          <p:nvPr/>
        </p:nvSpPr>
        <p:spPr>
          <a:xfrm>
            <a:off x="12001500" y="35242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7" name="Text 44"/>
          <p:cNvSpPr/>
          <p:nvPr/>
        </p:nvSpPr>
        <p:spPr>
          <a:xfrm>
            <a:off x="12001500" y="3238500"/>
            <a:ext cx="9603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/ 이탈</a:t>
            </a:r>
            <a:endParaRPr lang="en-US" sz="1650" dirty="0"/>
          </a:p>
        </p:txBody>
      </p:sp>
      <p:sp>
        <p:nvSpPr>
          <p:cNvPr id="48" name="Text 45"/>
          <p:cNvSpPr/>
          <p:nvPr/>
        </p:nvSpPr>
        <p:spPr>
          <a:xfrm>
            <a:off x="12980938" y="3314700"/>
            <a:ext cx="7868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Entry · Exit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12006263" y="3643313"/>
            <a:ext cx="1047750" cy="6000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2091988" y="3690937"/>
            <a:ext cx="9525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</a:t>
            </a:r>
            <a:endParaRPr lang="en-US" sz="1425" dirty="0"/>
          </a:p>
        </p:txBody>
      </p:sp>
      <p:sp>
        <p:nvSpPr>
          <p:cNvPr id="51" name="Shape 48"/>
          <p:cNvSpPr/>
          <p:nvPr/>
        </p:nvSpPr>
        <p:spPr>
          <a:xfrm>
            <a:off x="13054013" y="3643313"/>
            <a:ext cx="5000625" cy="6000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3179743" y="3686175"/>
            <a:ext cx="487013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헤더 "이력"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대시보드 "전체 이력"</a:t>
            </a:r>
            <a:endParaRPr lang="en-US" sz="1425" dirty="0"/>
          </a:p>
        </p:txBody>
      </p:sp>
      <p:sp>
        <p:nvSpPr>
          <p:cNvPr id="53" name="Shape 50"/>
          <p:cNvSpPr/>
          <p:nvPr/>
        </p:nvSpPr>
        <p:spPr>
          <a:xfrm>
            <a:off x="12006263" y="4243388"/>
            <a:ext cx="1047750" cy="6000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2091988" y="4291013"/>
            <a:ext cx="9525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/ 다음</a:t>
            </a:r>
            <a:endParaRPr lang="en-US" sz="1425" dirty="0"/>
          </a:p>
        </p:txBody>
      </p:sp>
      <p:sp>
        <p:nvSpPr>
          <p:cNvPr id="55" name="Shape 52"/>
          <p:cNvSpPr/>
          <p:nvPr/>
        </p:nvSpPr>
        <p:spPr>
          <a:xfrm>
            <a:off x="13054013" y="4243388"/>
            <a:ext cx="5000625" cy="6000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3179743" y="4286250"/>
            <a:ext cx="487013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클릭 → 10·15·16·18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삭제 → 영구 (자동 삭제와 별개)</a:t>
            </a:r>
            <a:endParaRPr lang="en-US" sz="1425" dirty="0"/>
          </a:p>
        </p:txBody>
      </p:sp>
      <p:sp>
        <p:nvSpPr>
          <p:cNvPr id="57" name="Shape 54"/>
          <p:cNvSpPr/>
          <p:nvPr/>
        </p:nvSpPr>
        <p:spPr>
          <a:xfrm>
            <a:off x="12001500" y="5229225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8" name="Text 55"/>
          <p:cNvSpPr/>
          <p:nvPr/>
        </p:nvSpPr>
        <p:spPr>
          <a:xfrm>
            <a:off x="12001500" y="4943475"/>
            <a:ext cx="849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분기·규칙</a:t>
            </a:r>
            <a:endParaRPr lang="en-US" sz="1650" dirty="0"/>
          </a:p>
        </p:txBody>
      </p:sp>
      <p:sp>
        <p:nvSpPr>
          <p:cNvPr id="59" name="Text 56"/>
          <p:cNvSpPr/>
          <p:nvPr/>
        </p:nvSpPr>
        <p:spPr>
          <a:xfrm>
            <a:off x="12869912" y="5019675"/>
            <a:ext cx="4344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Rules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12006263" y="5348288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2091988" y="5395912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빈 상태</a:t>
            </a:r>
            <a:endParaRPr lang="en-US" sz="1425" dirty="0"/>
          </a:p>
        </p:txBody>
      </p:sp>
      <p:sp>
        <p:nvSpPr>
          <p:cNvPr id="62" name="Shape 59"/>
          <p:cNvSpPr/>
          <p:nvPr/>
        </p:nvSpPr>
        <p:spPr>
          <a:xfrm>
            <a:off x="13054013" y="5348288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3139738" y="5395912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"첫 검출 시작" 큰 CTA</a:t>
            </a:r>
            <a:endParaRPr lang="en-US" sz="1425" dirty="0"/>
          </a:p>
        </p:txBody>
      </p:sp>
      <p:sp>
        <p:nvSpPr>
          <p:cNvPr id="64" name="Shape 61"/>
          <p:cNvSpPr/>
          <p:nvPr/>
        </p:nvSpPr>
        <p:spPr>
          <a:xfrm>
            <a:off x="12006263" y="5672138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2091988" y="5719763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삭제 임박</a:t>
            </a:r>
            <a:endParaRPr lang="en-US" sz="1425" dirty="0"/>
          </a:p>
        </p:txBody>
      </p:sp>
      <p:sp>
        <p:nvSpPr>
          <p:cNvPr id="66" name="Shape 63"/>
          <p:cNvSpPr/>
          <p:nvPr/>
        </p:nvSpPr>
        <p:spPr>
          <a:xfrm>
            <a:off x="13054013" y="5672138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3139738" y="5719763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경고 아이콘 + 강조 카드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12006263" y="6234113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2091988" y="6281737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만료 후 재다운로드</a:t>
            </a:r>
            <a:endParaRPr lang="en-US" sz="1425" dirty="0"/>
          </a:p>
        </p:txBody>
      </p:sp>
      <p:sp>
        <p:nvSpPr>
          <p:cNvPr id="70" name="Shape 67"/>
          <p:cNvSpPr/>
          <p:nvPr/>
        </p:nvSpPr>
        <p:spPr>
          <a:xfrm>
            <a:off x="13054013" y="6234113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3139738" y="6281737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재발급 옵션 (워터마크는 동일)</a:t>
            </a:r>
            <a:endParaRPr lang="en-US" sz="1425" dirty="0"/>
          </a:p>
        </p:txBody>
      </p:sp>
      <p:sp>
        <p:nvSpPr>
          <p:cNvPr id="72" name="Shape 69"/>
          <p:cNvSpPr/>
          <p:nvPr/>
        </p:nvSpPr>
        <p:spPr>
          <a:xfrm>
            <a:off x="0" y="9944100"/>
            <a:ext cx="18288000" cy="3429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73" name="Shape 70"/>
          <p:cNvSpPr/>
          <p:nvPr/>
        </p:nvSpPr>
        <p:spPr>
          <a:xfrm>
            <a:off x="0" y="9944100"/>
            <a:ext cx="18288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74" name="Text 71"/>
          <p:cNvSpPr/>
          <p:nvPr/>
        </p:nvSpPr>
        <p:spPr>
          <a:xfrm>
            <a:off x="304800" y="10034588"/>
            <a:ext cx="44618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54" dirty="0">
                <a:solidFill>
                  <a:srgbClr val="798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· 화면설계서 v1.0 · #garim.kr/me/history</a:t>
            </a:r>
            <a:endParaRPr lang="en-US" sz="1200" dirty="0"/>
          </a:p>
        </p:txBody>
      </p:sp>
      <p:sp>
        <p:nvSpPr>
          <p:cNvPr id="75" name="Text 72"/>
          <p:cNvSpPr/>
          <p:nvPr/>
        </p:nvSpPr>
        <p:spPr>
          <a:xfrm>
            <a:off x="12893873" y="10020300"/>
            <a:ext cx="524200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P20 · 처리 이력 · ref: Vercel deployments · GitHub Actions runs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228600" y="1343025"/>
            <a:ext cx="11582400" cy="8486775"/>
          </a:xfrm>
          <a:prstGeom prst="roundRect">
            <a:avLst>
              <a:gd name="adj" fmla="val 224"/>
            </a:avLst>
          </a:prstGeom>
          <a:solidFill>
            <a:srgbClr val="FFFFFF"/>
          </a:solidFill>
          <a:ln w="9525">
            <a:solidFill>
              <a:srgbClr val="B8BDC7"/>
            </a:solidFill>
            <a:prstDash val="solid"/>
          </a:ln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82" name="그림 81"/>
          <p:cNvPicPr>
            <a:picLocks noChangeAspect="1"/>
          </p:cNvPicPr>
          <p:nvPr/>
        </p:nvPicPr>
        <p:blipFill rotWithShape="1">
          <a:blip r:embed="rId3"/>
          <a:srcRect t="7552" b="22478"/>
          <a:stretch/>
        </p:blipFill>
        <p:spPr>
          <a:xfrm>
            <a:off x="523875" y="1752600"/>
            <a:ext cx="10991850" cy="7764379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876300"/>
            <a:ext cx="18288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00200" cy="91440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" name="Text 2"/>
          <p:cNvSpPr/>
          <p:nvPr/>
        </p:nvSpPr>
        <p:spPr>
          <a:xfrm>
            <a:off x="560636" y="147638"/>
            <a:ext cx="5549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216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5335" y="309563"/>
            <a:ext cx="6057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kern="0" spc="-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828800" y="152400"/>
            <a:ext cx="1230942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27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결제·구독 관리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28800" y="561975"/>
            <a:ext cx="1230942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Billing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008298" y="0"/>
            <a:ext cx="9525" cy="914400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" name="Shape 7"/>
          <p:cNvSpPr/>
          <p:nvPr/>
        </p:nvSpPr>
        <p:spPr>
          <a:xfrm>
            <a:off x="14284523" y="304800"/>
            <a:ext cx="988665" cy="304800"/>
          </a:xfrm>
          <a:prstGeom prst="roundRect">
            <a:avLst>
              <a:gd name="adj" fmla="val 12500"/>
            </a:avLst>
          </a:prstGeom>
          <a:solidFill>
            <a:srgbClr val="455A64"/>
          </a:solidFill>
          <a:ln w="9525">
            <a:solidFill>
              <a:srgbClr val="455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08348" y="314325"/>
            <a:ext cx="81721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마이페이지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368439" y="304800"/>
            <a:ext cx="895201" cy="304800"/>
          </a:xfrm>
          <a:prstGeom prst="roundRect">
            <a:avLst>
              <a:gd name="adj" fmla="val 12500"/>
            </a:avLst>
          </a:prstGeom>
          <a:solidFill>
            <a:srgbClr val="2E7D32"/>
          </a:solidFill>
          <a:ln w="9525">
            <a:solidFill>
              <a:srgbClr val="2E7D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492264" y="314325"/>
            <a:ext cx="7237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 정식~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6358890" y="314325"/>
            <a:ext cx="166241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473190" y="314325"/>
            <a:ext cx="1510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2026.05.14 · v1.0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8600" y="1066800"/>
            <a:ext cx="2028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와이어 / Hi-Fi Mockup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682907" y="1066800"/>
            <a:ext cx="208999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garim.kr/me/billing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3535561" y="2366516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516511" y="2385566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50" dirty="0"/>
          </a:p>
        </p:txBody>
      </p:sp>
      <p:grpSp>
        <p:nvGrpSpPr>
          <p:cNvPr id="86" name="그룹 85"/>
          <p:cNvGrpSpPr/>
          <p:nvPr/>
        </p:nvGrpSpPr>
        <p:grpSpPr>
          <a:xfrm>
            <a:off x="2185868" y="6538912"/>
            <a:ext cx="381000" cy="361950"/>
            <a:chOff x="2185868" y="6538912"/>
            <a:chExt cx="381000" cy="361950"/>
          </a:xfrm>
        </p:grpSpPr>
        <p:sp>
          <p:nvSpPr>
            <p:cNvPr id="21" name="Shape 18"/>
            <p:cNvSpPr/>
            <p:nvPr/>
          </p:nvSpPr>
          <p:spPr>
            <a:xfrm>
              <a:off x="2204918" y="6538912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2" name="Text 19"/>
            <p:cNvSpPr/>
            <p:nvPr/>
          </p:nvSpPr>
          <p:spPr>
            <a:xfrm>
              <a:off x="2185868" y="6557962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2</a:t>
              </a:r>
              <a:endParaRPr lang="en-US" sz="1350" dirty="0"/>
            </a:p>
          </p:txBody>
        </p:sp>
      </p:grpSp>
      <p:grpSp>
        <p:nvGrpSpPr>
          <p:cNvPr id="83" name="그룹 82"/>
          <p:cNvGrpSpPr/>
          <p:nvPr/>
        </p:nvGrpSpPr>
        <p:grpSpPr>
          <a:xfrm>
            <a:off x="2166818" y="8020050"/>
            <a:ext cx="381000" cy="361950"/>
            <a:chOff x="5829300" y="4906863"/>
            <a:chExt cx="381000" cy="361950"/>
          </a:xfrm>
        </p:grpSpPr>
        <p:sp>
          <p:nvSpPr>
            <p:cNvPr id="23" name="Shape 20"/>
            <p:cNvSpPr/>
            <p:nvPr/>
          </p:nvSpPr>
          <p:spPr>
            <a:xfrm>
              <a:off x="5848350" y="4906863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4" name="Text 21"/>
            <p:cNvSpPr/>
            <p:nvPr/>
          </p:nvSpPr>
          <p:spPr>
            <a:xfrm>
              <a:off x="5829300" y="4925913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3</a:t>
              </a:r>
              <a:endParaRPr lang="en-US" sz="1350" dirty="0"/>
            </a:p>
          </p:txBody>
        </p:sp>
      </p:grpSp>
      <p:grpSp>
        <p:nvGrpSpPr>
          <p:cNvPr id="84" name="그룹 83"/>
          <p:cNvGrpSpPr/>
          <p:nvPr/>
        </p:nvGrpSpPr>
        <p:grpSpPr>
          <a:xfrm>
            <a:off x="8523537" y="8296275"/>
            <a:ext cx="381000" cy="361950"/>
            <a:chOff x="3516511" y="7785795"/>
            <a:chExt cx="381000" cy="361950"/>
          </a:xfrm>
        </p:grpSpPr>
        <p:sp>
          <p:nvSpPr>
            <p:cNvPr id="25" name="Shape 22"/>
            <p:cNvSpPr/>
            <p:nvPr/>
          </p:nvSpPr>
          <p:spPr>
            <a:xfrm>
              <a:off x="3535561" y="7785795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6" name="Text 23"/>
            <p:cNvSpPr/>
            <p:nvPr/>
          </p:nvSpPr>
          <p:spPr>
            <a:xfrm>
              <a:off x="3516511" y="7804845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4</a:t>
              </a:r>
              <a:endParaRPr lang="en-US" sz="1350" dirty="0"/>
            </a:p>
          </p:txBody>
        </p:sp>
      </p:grpSp>
      <p:grpSp>
        <p:nvGrpSpPr>
          <p:cNvPr id="85" name="그룹 84"/>
          <p:cNvGrpSpPr/>
          <p:nvPr/>
        </p:nvGrpSpPr>
        <p:grpSpPr>
          <a:xfrm>
            <a:off x="9144000" y="9439275"/>
            <a:ext cx="381000" cy="361950"/>
            <a:chOff x="8141940" y="7785795"/>
            <a:chExt cx="381000" cy="361950"/>
          </a:xfrm>
        </p:grpSpPr>
        <p:sp>
          <p:nvSpPr>
            <p:cNvPr id="27" name="Shape 24"/>
            <p:cNvSpPr/>
            <p:nvPr/>
          </p:nvSpPr>
          <p:spPr>
            <a:xfrm>
              <a:off x="8160990" y="7785795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8" name="Text 25"/>
            <p:cNvSpPr/>
            <p:nvPr/>
          </p:nvSpPr>
          <p:spPr>
            <a:xfrm>
              <a:off x="8141940" y="7804845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5</a:t>
              </a:r>
              <a:endParaRPr lang="en-US" sz="1350" dirty="0"/>
            </a:p>
          </p:txBody>
        </p:sp>
      </p:grpSp>
      <p:sp>
        <p:nvSpPr>
          <p:cNvPr id="29" name="Shape 26"/>
          <p:cNvSpPr/>
          <p:nvPr/>
        </p:nvSpPr>
        <p:spPr>
          <a:xfrm>
            <a:off x="12001500" y="13144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0" name="Text 27"/>
          <p:cNvSpPr/>
          <p:nvPr/>
        </p:nvSpPr>
        <p:spPr>
          <a:xfrm>
            <a:off x="12001500" y="1028700"/>
            <a:ext cx="12997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· 컴포넌트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3320266" y="1104900"/>
            <a:ext cx="15653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Purpose · Components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2001500" y="1428750"/>
            <a:ext cx="623963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내역·구독·결제 수단 관리·환불. MVP1 비활성</a:t>
            </a:r>
            <a:endParaRPr lang="en-US" sz="1650" dirty="0"/>
          </a:p>
        </p:txBody>
      </p:sp>
      <p:sp>
        <p:nvSpPr>
          <p:cNvPr id="33" name="Shape 30"/>
          <p:cNvSpPr/>
          <p:nvPr/>
        </p:nvSpPr>
        <p:spPr>
          <a:xfrm>
            <a:off x="12001500" y="214312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4" name="Shape 31"/>
          <p:cNvSpPr/>
          <p:nvPr/>
        </p:nvSpPr>
        <p:spPr>
          <a:xfrm>
            <a:off x="12001500" y="18859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5" name="Text 32"/>
          <p:cNvSpPr/>
          <p:nvPr/>
        </p:nvSpPr>
        <p:spPr>
          <a:xfrm>
            <a:off x="11963400" y="18859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2287250" y="18669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플랜 카드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가격 · 다음 결제일 · 잔여 한도 · 변경 액션</a:t>
            </a:r>
            <a:endParaRPr lang="en-US" sz="1425" dirty="0"/>
          </a:p>
        </p:txBody>
      </p:sp>
      <p:sp>
        <p:nvSpPr>
          <p:cNvPr id="37" name="Shape 34"/>
          <p:cNvSpPr/>
          <p:nvPr/>
        </p:nvSpPr>
        <p:spPr>
          <a:xfrm>
            <a:off x="12001500" y="247650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8" name="Shape 35"/>
          <p:cNvSpPr/>
          <p:nvPr/>
        </p:nvSpPr>
        <p:spPr>
          <a:xfrm>
            <a:off x="12001500" y="221932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9" name="Text 36"/>
          <p:cNvSpPr/>
          <p:nvPr/>
        </p:nvSpPr>
        <p:spPr>
          <a:xfrm>
            <a:off x="11963400" y="221932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2287250" y="220027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플랜 업그레이드 CTA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Free 사용자는 강조. Pro는 Studio 권유 비차단</a:t>
            </a:r>
            <a:endParaRPr lang="en-US" sz="1425" dirty="0"/>
          </a:p>
        </p:txBody>
      </p:sp>
      <p:sp>
        <p:nvSpPr>
          <p:cNvPr id="41" name="Shape 38"/>
          <p:cNvSpPr/>
          <p:nvPr/>
        </p:nvSpPr>
        <p:spPr>
          <a:xfrm>
            <a:off x="12001500" y="280987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2" name="Shape 39"/>
          <p:cNvSpPr/>
          <p:nvPr/>
        </p:nvSpPr>
        <p:spPr>
          <a:xfrm>
            <a:off x="12001500" y="255270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3" name="Text 40"/>
          <p:cNvSpPr/>
          <p:nvPr/>
        </p:nvSpPr>
        <p:spPr>
          <a:xfrm>
            <a:off x="11963400" y="255270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2287250" y="253365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내역 테이블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날짜 · 상품 · 금액 · 영수증 PDF</a:t>
            </a:r>
            <a:endParaRPr lang="en-US" sz="1425" dirty="0"/>
          </a:p>
        </p:txBody>
      </p:sp>
      <p:sp>
        <p:nvSpPr>
          <p:cNvPr id="45" name="Shape 42"/>
          <p:cNvSpPr/>
          <p:nvPr/>
        </p:nvSpPr>
        <p:spPr>
          <a:xfrm>
            <a:off x="12001500" y="314325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6" name="Shape 43"/>
          <p:cNvSpPr/>
          <p:nvPr/>
        </p:nvSpPr>
        <p:spPr>
          <a:xfrm>
            <a:off x="12001500" y="28860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7" name="Text 44"/>
          <p:cNvSpPr/>
          <p:nvPr/>
        </p:nvSpPr>
        <p:spPr>
          <a:xfrm>
            <a:off x="11963400" y="28860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2287250" y="286702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 수단 관리 (마스킹)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카드 마스킹 표시 · 삭제. 자동 결제 토글</a:t>
            </a:r>
            <a:endParaRPr lang="en-US" sz="1425" dirty="0"/>
          </a:p>
        </p:txBody>
      </p:sp>
      <p:sp>
        <p:nvSpPr>
          <p:cNvPr id="49" name="Shape 46"/>
          <p:cNvSpPr/>
          <p:nvPr/>
        </p:nvSpPr>
        <p:spPr>
          <a:xfrm>
            <a:off x="12001500" y="32194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50" name="Text 47"/>
          <p:cNvSpPr/>
          <p:nvPr/>
        </p:nvSpPr>
        <p:spPr>
          <a:xfrm>
            <a:off x="11963400" y="32194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2287250" y="32004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해지·환불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다단계 확인. 1회권 7일 / 구독 정책별</a:t>
            </a:r>
            <a:endParaRPr lang="en-US" sz="1425" dirty="0"/>
          </a:p>
        </p:txBody>
      </p:sp>
      <p:sp>
        <p:nvSpPr>
          <p:cNvPr id="52" name="Shape 49"/>
          <p:cNvSpPr/>
          <p:nvPr/>
        </p:nvSpPr>
        <p:spPr>
          <a:xfrm>
            <a:off x="12001500" y="3857625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3" name="Text 50"/>
          <p:cNvSpPr/>
          <p:nvPr/>
        </p:nvSpPr>
        <p:spPr>
          <a:xfrm>
            <a:off x="12001500" y="3571875"/>
            <a:ext cx="9603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/ 이탈</a:t>
            </a:r>
            <a:endParaRPr lang="en-US" sz="1650" dirty="0"/>
          </a:p>
        </p:txBody>
      </p:sp>
      <p:sp>
        <p:nvSpPr>
          <p:cNvPr id="54" name="Text 51"/>
          <p:cNvSpPr/>
          <p:nvPr/>
        </p:nvSpPr>
        <p:spPr>
          <a:xfrm>
            <a:off x="12980938" y="3648075"/>
            <a:ext cx="7868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Entry · Exit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12006263" y="3976687"/>
            <a:ext cx="1047750" cy="6000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2091988" y="4024312"/>
            <a:ext cx="9525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</a:t>
            </a:r>
            <a:endParaRPr lang="en-US" sz="1425" dirty="0"/>
          </a:p>
        </p:txBody>
      </p:sp>
      <p:sp>
        <p:nvSpPr>
          <p:cNvPr id="57" name="Shape 54"/>
          <p:cNvSpPr/>
          <p:nvPr/>
        </p:nvSpPr>
        <p:spPr>
          <a:xfrm>
            <a:off x="13054013" y="3976687"/>
            <a:ext cx="5000625" cy="6000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3179743" y="4019550"/>
            <a:ext cx="487013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 설정 · 결제 카테고리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요금제 → "내 플랜 관리"</a:t>
            </a:r>
            <a:endParaRPr lang="en-US" sz="1425" dirty="0"/>
          </a:p>
        </p:txBody>
      </p:sp>
      <p:sp>
        <p:nvSpPr>
          <p:cNvPr id="59" name="Shape 56"/>
          <p:cNvSpPr/>
          <p:nvPr/>
        </p:nvSpPr>
        <p:spPr>
          <a:xfrm>
            <a:off x="12006263" y="4576763"/>
            <a:ext cx="1047750" cy="6000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2091988" y="4624387"/>
            <a:ext cx="9525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/ 다음</a:t>
            </a:r>
            <a:endParaRPr lang="en-US" sz="1425" dirty="0"/>
          </a:p>
        </p:txBody>
      </p:sp>
      <p:sp>
        <p:nvSpPr>
          <p:cNvPr id="61" name="Shape 58"/>
          <p:cNvSpPr/>
          <p:nvPr/>
        </p:nvSpPr>
        <p:spPr>
          <a:xfrm>
            <a:off x="13054013" y="4576763"/>
            <a:ext cx="5000625" cy="6000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3179743" y="4619625"/>
            <a:ext cx="487013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업그레이드 → 13/14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해지 → 다단계 확인</a:t>
            </a:r>
            <a:endParaRPr lang="en-US" sz="1425" dirty="0"/>
          </a:p>
        </p:txBody>
      </p:sp>
      <p:sp>
        <p:nvSpPr>
          <p:cNvPr id="63" name="Shape 60"/>
          <p:cNvSpPr/>
          <p:nvPr/>
        </p:nvSpPr>
        <p:spPr>
          <a:xfrm>
            <a:off x="12001500" y="556260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64" name="Text 61"/>
          <p:cNvSpPr/>
          <p:nvPr/>
        </p:nvSpPr>
        <p:spPr>
          <a:xfrm>
            <a:off x="12001500" y="5276850"/>
            <a:ext cx="849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분기·규칙</a:t>
            </a:r>
            <a:endParaRPr lang="en-US" sz="1650" dirty="0"/>
          </a:p>
        </p:txBody>
      </p:sp>
      <p:sp>
        <p:nvSpPr>
          <p:cNvPr id="65" name="Text 62"/>
          <p:cNvSpPr/>
          <p:nvPr/>
        </p:nvSpPr>
        <p:spPr>
          <a:xfrm>
            <a:off x="12869912" y="5353050"/>
            <a:ext cx="4344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Rules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12006263" y="5681663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2091988" y="5729288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13054013" y="5681663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3139738" y="5729288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"v1 정식 출시 후 이용 가능" placeholder</a:t>
            </a:r>
            <a:endParaRPr lang="en-US" sz="1425" dirty="0"/>
          </a:p>
        </p:txBody>
      </p:sp>
      <p:sp>
        <p:nvSpPr>
          <p:cNvPr id="70" name="Shape 67"/>
          <p:cNvSpPr/>
          <p:nvPr/>
        </p:nvSpPr>
        <p:spPr>
          <a:xfrm>
            <a:off x="12006263" y="6005513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2091988" y="6053137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 결제 수단 보관 (B-1)</a:t>
            </a:r>
            <a:endParaRPr lang="en-US" sz="1425" dirty="0"/>
          </a:p>
        </p:txBody>
      </p:sp>
      <p:sp>
        <p:nvSpPr>
          <p:cNvPr id="72" name="Shape 69"/>
          <p:cNvSpPr/>
          <p:nvPr/>
        </p:nvSpPr>
        <p:spPr>
          <a:xfrm>
            <a:off x="13054013" y="6005513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3139738" y="6053137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 PG사에만 마스킹된 표시만</a:t>
            </a:r>
            <a:endParaRPr lang="en-US" sz="1425" dirty="0"/>
          </a:p>
        </p:txBody>
      </p:sp>
      <p:sp>
        <p:nvSpPr>
          <p:cNvPr id="74" name="Shape 71"/>
          <p:cNvSpPr/>
          <p:nvPr/>
        </p:nvSpPr>
        <p:spPr>
          <a:xfrm>
            <a:off x="12006263" y="6567488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2091988" y="6615113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환불 가능 기간</a:t>
            </a:r>
            <a:endParaRPr lang="en-US" sz="1425" dirty="0"/>
          </a:p>
        </p:txBody>
      </p:sp>
      <p:sp>
        <p:nvSpPr>
          <p:cNvPr id="76" name="Shape 73"/>
          <p:cNvSpPr/>
          <p:nvPr/>
        </p:nvSpPr>
        <p:spPr>
          <a:xfrm>
            <a:off x="13054013" y="6567488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13139738" y="6615113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1회권 7일 / 구독 정책별</a:t>
            </a:r>
            <a:endParaRPr lang="en-US" sz="1425" dirty="0"/>
          </a:p>
        </p:txBody>
      </p:sp>
      <p:sp>
        <p:nvSpPr>
          <p:cNvPr id="78" name="Shape 75"/>
          <p:cNvSpPr/>
          <p:nvPr/>
        </p:nvSpPr>
        <p:spPr>
          <a:xfrm>
            <a:off x="0" y="9944100"/>
            <a:ext cx="18288000" cy="3429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79" name="Shape 76"/>
          <p:cNvSpPr/>
          <p:nvPr/>
        </p:nvSpPr>
        <p:spPr>
          <a:xfrm>
            <a:off x="0" y="9944100"/>
            <a:ext cx="18288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80" name="Text 77"/>
          <p:cNvSpPr/>
          <p:nvPr/>
        </p:nvSpPr>
        <p:spPr>
          <a:xfrm>
            <a:off x="304800" y="10034588"/>
            <a:ext cx="446189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54" dirty="0">
                <a:solidFill>
                  <a:srgbClr val="798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· 화면설계서 v1.0 · #garim.kr/me/billing</a:t>
            </a:r>
            <a:endParaRPr lang="en-US" sz="1200" dirty="0"/>
          </a:p>
        </p:txBody>
      </p:sp>
      <p:sp>
        <p:nvSpPr>
          <p:cNvPr id="81" name="Text 78"/>
          <p:cNvSpPr/>
          <p:nvPr/>
        </p:nvSpPr>
        <p:spPr>
          <a:xfrm>
            <a:off x="13588157" y="10020300"/>
            <a:ext cx="452689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P21 · 결제·구독 관리 · ref: Stripe billing portal · 토스 구독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228600" y="1343025"/>
            <a:ext cx="11582400" cy="8486775"/>
          </a:xfrm>
          <a:prstGeom prst="roundRect">
            <a:avLst>
              <a:gd name="adj" fmla="val 224"/>
            </a:avLst>
          </a:prstGeom>
          <a:solidFill>
            <a:srgbClr val="FFFFFF"/>
          </a:solidFill>
          <a:ln w="9525">
            <a:solidFill>
              <a:srgbClr val="B8BDC7"/>
            </a:solidFill>
            <a:prstDash val="solid"/>
          </a:ln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78" name="그림 77"/>
          <p:cNvPicPr>
            <a:picLocks noChangeAspect="1"/>
          </p:cNvPicPr>
          <p:nvPr/>
        </p:nvPicPr>
        <p:blipFill rotWithShape="1">
          <a:blip r:embed="rId3"/>
          <a:srcRect t="3596" r="11458" b="34550"/>
          <a:stretch/>
        </p:blipFill>
        <p:spPr>
          <a:xfrm>
            <a:off x="327860" y="1879561"/>
            <a:ext cx="5399172" cy="6674127"/>
          </a:xfrm>
          <a:prstGeom prst="rect">
            <a:avLst/>
          </a:prstGeom>
        </p:spPr>
      </p:pic>
      <p:pic>
        <p:nvPicPr>
          <p:cNvPr id="80" name="그림 79"/>
          <p:cNvPicPr>
            <a:picLocks noChangeAspect="1"/>
          </p:cNvPicPr>
          <p:nvPr/>
        </p:nvPicPr>
        <p:blipFill rotWithShape="1">
          <a:blip r:embed="rId3"/>
          <a:srcRect t="66936" r="11458" b="4358"/>
          <a:stretch/>
        </p:blipFill>
        <p:spPr>
          <a:xfrm>
            <a:off x="6203282" y="3743326"/>
            <a:ext cx="5399172" cy="3097366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876300"/>
            <a:ext cx="18288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00200" cy="91440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" name="Text 2"/>
          <p:cNvSpPr/>
          <p:nvPr/>
        </p:nvSpPr>
        <p:spPr>
          <a:xfrm>
            <a:off x="560636" y="147638"/>
            <a:ext cx="5549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216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5335" y="309563"/>
            <a:ext cx="6057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kern="0" spc="-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828800" y="152400"/>
            <a:ext cx="1237503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27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프로필·환경 설정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28800" y="561975"/>
            <a:ext cx="1237503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Settings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071997" y="0"/>
            <a:ext cx="9525" cy="914400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" name="Shape 7"/>
          <p:cNvSpPr/>
          <p:nvPr/>
        </p:nvSpPr>
        <p:spPr>
          <a:xfrm>
            <a:off x="14348222" y="304800"/>
            <a:ext cx="988665" cy="304800"/>
          </a:xfrm>
          <a:prstGeom prst="roundRect">
            <a:avLst>
              <a:gd name="adj" fmla="val 12500"/>
            </a:avLst>
          </a:prstGeom>
          <a:solidFill>
            <a:srgbClr val="455A64"/>
          </a:solidFill>
          <a:ln w="9525">
            <a:solidFill>
              <a:srgbClr val="455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72047" y="314325"/>
            <a:ext cx="81721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마이페이지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432137" y="304800"/>
            <a:ext cx="831503" cy="304800"/>
          </a:xfrm>
          <a:prstGeom prst="roundRect">
            <a:avLst>
              <a:gd name="adj" fmla="val 12500"/>
            </a:avLst>
          </a:prstGeom>
          <a:solidFill>
            <a:srgbClr val="0288D1"/>
          </a:solidFill>
          <a:ln w="9525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55962" y="314325"/>
            <a:ext cx="6600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6358890" y="314325"/>
            <a:ext cx="166241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473190" y="314325"/>
            <a:ext cx="1510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2026.05.14 · v1.0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8600" y="1066800"/>
            <a:ext cx="2028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와이어 / Hi-Fi Mockup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576941" y="1066800"/>
            <a:ext cx="219595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garim.kr/me/settings</a:t>
            </a:r>
            <a:endParaRPr lang="en-US" sz="1350" dirty="0"/>
          </a:p>
        </p:txBody>
      </p:sp>
      <p:grpSp>
        <p:nvGrpSpPr>
          <p:cNvPr id="81" name="그룹 80"/>
          <p:cNvGrpSpPr/>
          <p:nvPr/>
        </p:nvGrpSpPr>
        <p:grpSpPr>
          <a:xfrm>
            <a:off x="734616" y="1647825"/>
            <a:ext cx="381000" cy="361950"/>
            <a:chOff x="1897707" y="5414963"/>
            <a:chExt cx="381000" cy="361950"/>
          </a:xfrm>
        </p:grpSpPr>
        <p:sp>
          <p:nvSpPr>
            <p:cNvPr id="19" name="Shape 16"/>
            <p:cNvSpPr/>
            <p:nvPr/>
          </p:nvSpPr>
          <p:spPr>
            <a:xfrm>
              <a:off x="1916757" y="5414963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0" name="Text 17"/>
            <p:cNvSpPr/>
            <p:nvPr/>
          </p:nvSpPr>
          <p:spPr>
            <a:xfrm>
              <a:off x="1897707" y="5434013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</a:t>
              </a:r>
              <a:endParaRPr lang="en-US" sz="1350" dirty="0"/>
            </a:p>
          </p:txBody>
        </p:sp>
      </p:grpSp>
      <p:sp>
        <p:nvSpPr>
          <p:cNvPr id="21" name="Shape 18"/>
          <p:cNvSpPr/>
          <p:nvPr/>
        </p:nvSpPr>
        <p:spPr>
          <a:xfrm>
            <a:off x="1428750" y="2254065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409700" y="2273115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1428750" y="4413561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1409700" y="4432611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1428750" y="6615176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1409700" y="6634226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7252035" y="3819525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232985" y="3838575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12001500" y="13144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0" name="Text 27"/>
          <p:cNvSpPr/>
          <p:nvPr/>
        </p:nvSpPr>
        <p:spPr>
          <a:xfrm>
            <a:off x="12001500" y="1028700"/>
            <a:ext cx="12997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· 컴포넌트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3320266" y="1104900"/>
            <a:ext cx="15653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Purpose · Components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2001500" y="1428750"/>
            <a:ext cx="623963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계정·알림·보안·데이터·약관 통합 관리. B-1 동의 분리·B-4 권리 보호 핵심 통제 페이지</a:t>
            </a:r>
            <a:endParaRPr lang="en-US" sz="1650" dirty="0"/>
          </a:p>
        </p:txBody>
      </p:sp>
      <p:sp>
        <p:nvSpPr>
          <p:cNvPr id="33" name="Shape 30"/>
          <p:cNvSpPr/>
          <p:nvPr/>
        </p:nvSpPr>
        <p:spPr>
          <a:xfrm>
            <a:off x="12001500" y="245745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4" name="Shape 31"/>
          <p:cNvSpPr/>
          <p:nvPr/>
        </p:nvSpPr>
        <p:spPr>
          <a:xfrm>
            <a:off x="12001500" y="22002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5" name="Text 32"/>
          <p:cNvSpPr/>
          <p:nvPr/>
        </p:nvSpPr>
        <p:spPr>
          <a:xfrm>
            <a:off x="11963400" y="22002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2287250" y="218122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카테고리 사이드바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프로필 · 알림 · 보안 · 데이터 · 위험 영역</a:t>
            </a:r>
            <a:endParaRPr lang="en-US" sz="1425" dirty="0"/>
          </a:p>
        </p:txBody>
      </p:sp>
      <p:sp>
        <p:nvSpPr>
          <p:cNvPr id="37" name="Shape 34"/>
          <p:cNvSpPr/>
          <p:nvPr/>
        </p:nvSpPr>
        <p:spPr>
          <a:xfrm>
            <a:off x="12001500" y="279082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8" name="Shape 35"/>
          <p:cNvSpPr/>
          <p:nvPr/>
        </p:nvSpPr>
        <p:spPr>
          <a:xfrm>
            <a:off x="12001500" y="25336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9" name="Text 36"/>
          <p:cNvSpPr/>
          <p:nvPr/>
        </p:nvSpPr>
        <p:spPr>
          <a:xfrm>
            <a:off x="11963400" y="25336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2287250" y="25146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프로필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이메일 · 닉네임 · 프로필 사진. 실명·전화 ✕</a:t>
            </a:r>
            <a:endParaRPr lang="en-US" sz="1425" dirty="0"/>
          </a:p>
        </p:txBody>
      </p:sp>
      <p:sp>
        <p:nvSpPr>
          <p:cNvPr id="41" name="Shape 38"/>
          <p:cNvSpPr/>
          <p:nvPr/>
        </p:nvSpPr>
        <p:spPr>
          <a:xfrm>
            <a:off x="12001500" y="337185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2" name="Shape 39"/>
          <p:cNvSpPr/>
          <p:nvPr/>
        </p:nvSpPr>
        <p:spPr>
          <a:xfrm>
            <a:off x="12001500" y="286702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3" name="Text 40"/>
          <p:cNvSpPr/>
          <p:nvPr/>
        </p:nvSpPr>
        <p:spPr>
          <a:xfrm>
            <a:off x="11963400" y="286702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2287250" y="2847975"/>
            <a:ext cx="594531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알림 / 보안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처리 완료 · 마케팅 (B-1 분리) · 정기 SNS 스캔 (v2) / 비번 변경 · 로그인 이력 · 2FA (v2)</a:t>
            </a:r>
            <a:endParaRPr lang="en-US" sz="1425" dirty="0"/>
          </a:p>
        </p:txBody>
      </p:sp>
      <p:sp>
        <p:nvSpPr>
          <p:cNvPr id="45" name="Shape 42"/>
          <p:cNvSpPr/>
          <p:nvPr/>
        </p:nvSpPr>
        <p:spPr>
          <a:xfrm>
            <a:off x="12001500" y="395287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6" name="Shape 43"/>
          <p:cNvSpPr/>
          <p:nvPr/>
        </p:nvSpPr>
        <p:spPr>
          <a:xfrm>
            <a:off x="12001500" y="34480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7" name="Text 44"/>
          <p:cNvSpPr/>
          <p:nvPr/>
        </p:nvSpPr>
        <p:spPr>
          <a:xfrm>
            <a:off x="11963400" y="34480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2287250" y="3429000"/>
            <a:ext cx="594531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학습 동의 → 23 · 얼굴 → 24 (v2) · 자동 삭제 · 내 데이터 내려받기 (JSON)</a:t>
            </a:r>
            <a:endParaRPr lang="en-US" sz="1425" dirty="0"/>
          </a:p>
        </p:txBody>
      </p:sp>
      <p:sp>
        <p:nvSpPr>
          <p:cNvPr id="49" name="Shape 46"/>
          <p:cNvSpPr/>
          <p:nvPr/>
        </p:nvSpPr>
        <p:spPr>
          <a:xfrm>
            <a:off x="12001500" y="40290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50" name="Text 47"/>
          <p:cNvSpPr/>
          <p:nvPr/>
        </p:nvSpPr>
        <p:spPr>
          <a:xfrm>
            <a:off x="11963400" y="40290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2287250" y="401002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영역 — 계정 삭제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다단계 확인 + 이메일 인증 + 7일 유예</a:t>
            </a:r>
            <a:endParaRPr lang="en-US" sz="1425" dirty="0"/>
          </a:p>
        </p:txBody>
      </p:sp>
      <p:sp>
        <p:nvSpPr>
          <p:cNvPr id="52" name="Shape 49"/>
          <p:cNvSpPr/>
          <p:nvPr/>
        </p:nvSpPr>
        <p:spPr>
          <a:xfrm>
            <a:off x="12001500" y="46672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3" name="Text 50"/>
          <p:cNvSpPr/>
          <p:nvPr/>
        </p:nvSpPr>
        <p:spPr>
          <a:xfrm>
            <a:off x="12001500" y="4381500"/>
            <a:ext cx="9603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/ 이탈</a:t>
            </a:r>
            <a:endParaRPr lang="en-US" sz="1650" dirty="0"/>
          </a:p>
        </p:txBody>
      </p:sp>
      <p:sp>
        <p:nvSpPr>
          <p:cNvPr id="54" name="Text 51"/>
          <p:cNvSpPr/>
          <p:nvPr/>
        </p:nvSpPr>
        <p:spPr>
          <a:xfrm>
            <a:off x="12980938" y="4457700"/>
            <a:ext cx="7868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Entry · Exit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12006263" y="4786313"/>
            <a:ext cx="1047750" cy="34290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2091988" y="4833938"/>
            <a:ext cx="9525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</a:t>
            </a:r>
            <a:endParaRPr lang="en-US" sz="1425" dirty="0"/>
          </a:p>
        </p:txBody>
      </p:sp>
      <p:sp>
        <p:nvSpPr>
          <p:cNvPr id="57" name="Shape 54"/>
          <p:cNvSpPr/>
          <p:nvPr/>
        </p:nvSpPr>
        <p:spPr>
          <a:xfrm>
            <a:off x="13054013" y="4786313"/>
            <a:ext cx="5000625" cy="34290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3179743" y="4829175"/>
            <a:ext cx="487013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19 대시보드 · 헤더 사용자 메뉴</a:t>
            </a:r>
            <a:endParaRPr lang="en-US" sz="1425" dirty="0"/>
          </a:p>
        </p:txBody>
      </p:sp>
      <p:sp>
        <p:nvSpPr>
          <p:cNvPr id="59" name="Shape 56"/>
          <p:cNvSpPr/>
          <p:nvPr/>
        </p:nvSpPr>
        <p:spPr>
          <a:xfrm>
            <a:off x="12006263" y="5129213"/>
            <a:ext cx="1047750" cy="6000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2091988" y="5176838"/>
            <a:ext cx="9525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/ 다음</a:t>
            </a:r>
            <a:endParaRPr lang="en-US" sz="1425" dirty="0"/>
          </a:p>
        </p:txBody>
      </p:sp>
      <p:sp>
        <p:nvSpPr>
          <p:cNvPr id="61" name="Shape 58"/>
          <p:cNvSpPr/>
          <p:nvPr/>
        </p:nvSpPr>
        <p:spPr>
          <a:xfrm>
            <a:off x="13054013" y="5129213"/>
            <a:ext cx="5000625" cy="6000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3179743" y="5172075"/>
            <a:ext cx="487013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세부 카테고리 → 23 · 24 · 21 · 04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계정 삭제 → 7일 유예 후 영구</a:t>
            </a:r>
            <a:endParaRPr lang="en-US" sz="1425" dirty="0"/>
          </a:p>
        </p:txBody>
      </p:sp>
      <p:sp>
        <p:nvSpPr>
          <p:cNvPr id="63" name="Shape 60"/>
          <p:cNvSpPr/>
          <p:nvPr/>
        </p:nvSpPr>
        <p:spPr>
          <a:xfrm>
            <a:off x="12001500" y="61150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64" name="Text 61"/>
          <p:cNvSpPr/>
          <p:nvPr/>
        </p:nvSpPr>
        <p:spPr>
          <a:xfrm>
            <a:off x="12001500" y="5829300"/>
            <a:ext cx="849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분기·규칙</a:t>
            </a:r>
            <a:endParaRPr lang="en-US" sz="1650" dirty="0"/>
          </a:p>
        </p:txBody>
      </p:sp>
      <p:sp>
        <p:nvSpPr>
          <p:cNvPr id="65" name="Text 62"/>
          <p:cNvSpPr/>
          <p:nvPr/>
        </p:nvSpPr>
        <p:spPr>
          <a:xfrm>
            <a:off x="12869912" y="5905500"/>
            <a:ext cx="4344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Rules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12006263" y="6234113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2091988" y="6281737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SSO 사용자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13054013" y="6234113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3139738" y="6281737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"비밀번호 변경" 비활성 + "카카오 계정에서 관리"</a:t>
            </a:r>
            <a:endParaRPr lang="en-US" sz="1425" dirty="0"/>
          </a:p>
        </p:txBody>
      </p:sp>
      <p:sp>
        <p:nvSpPr>
          <p:cNvPr id="70" name="Shape 67"/>
          <p:cNvSpPr/>
          <p:nvPr/>
        </p:nvSpPr>
        <p:spPr>
          <a:xfrm>
            <a:off x="12006263" y="6557963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2091988" y="6605588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v2 기능</a:t>
            </a:r>
            <a:endParaRPr lang="en-US" sz="1425" dirty="0"/>
          </a:p>
        </p:txBody>
      </p:sp>
      <p:sp>
        <p:nvSpPr>
          <p:cNvPr id="72" name="Shape 69"/>
          <p:cNvSpPr/>
          <p:nvPr/>
        </p:nvSpPr>
        <p:spPr>
          <a:xfrm>
            <a:off x="13054013" y="6557963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3139738" y="6605588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placeholder 표시</a:t>
            </a:r>
            <a:endParaRPr lang="en-US" sz="1425" dirty="0"/>
          </a:p>
        </p:txBody>
      </p:sp>
      <p:sp>
        <p:nvSpPr>
          <p:cNvPr id="74" name="Shape 71"/>
          <p:cNvSpPr/>
          <p:nvPr/>
        </p:nvSpPr>
        <p:spPr>
          <a:xfrm>
            <a:off x="0" y="9944100"/>
            <a:ext cx="18288000" cy="3429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75" name="Shape 72"/>
          <p:cNvSpPr/>
          <p:nvPr/>
        </p:nvSpPr>
        <p:spPr>
          <a:xfrm>
            <a:off x="0" y="9944100"/>
            <a:ext cx="18288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76" name="Text 73"/>
          <p:cNvSpPr/>
          <p:nvPr/>
        </p:nvSpPr>
        <p:spPr>
          <a:xfrm>
            <a:off x="304800" y="10034588"/>
            <a:ext cx="456598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54" dirty="0">
                <a:solidFill>
                  <a:srgbClr val="798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· 화면설계서 v1.0 · #garim.kr/me/settings</a:t>
            </a:r>
            <a:endParaRPr lang="en-US" sz="1200" dirty="0"/>
          </a:p>
        </p:txBody>
      </p:sp>
      <p:sp>
        <p:nvSpPr>
          <p:cNvPr id="77" name="Text 74"/>
          <p:cNvSpPr/>
          <p:nvPr/>
        </p:nvSpPr>
        <p:spPr>
          <a:xfrm>
            <a:off x="13168908" y="10020300"/>
            <a:ext cx="495872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P22 · 프로필·환경 설정 · ref: Linear · Notion · GitHub settings</a:t>
            </a:r>
            <a:endParaRPr lang="en-US" sz="13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228600" y="1343025"/>
            <a:ext cx="11582400" cy="8486775"/>
          </a:xfrm>
          <a:prstGeom prst="roundRect">
            <a:avLst>
              <a:gd name="adj" fmla="val 224"/>
            </a:avLst>
          </a:prstGeom>
          <a:solidFill>
            <a:srgbClr val="FFFFFF"/>
          </a:solidFill>
          <a:ln w="9525">
            <a:solidFill>
              <a:srgbClr val="B8BDC7"/>
            </a:solidFill>
            <a:prstDash val="solid"/>
          </a:ln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76" name="그림 75"/>
          <p:cNvPicPr>
            <a:picLocks noChangeAspect="1"/>
          </p:cNvPicPr>
          <p:nvPr/>
        </p:nvPicPr>
        <p:blipFill rotWithShape="1">
          <a:blip r:embed="rId3"/>
          <a:srcRect t="7471" b="23506"/>
          <a:stretch/>
        </p:blipFill>
        <p:spPr>
          <a:xfrm>
            <a:off x="524306" y="1547311"/>
            <a:ext cx="10991850" cy="8165431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876300"/>
            <a:ext cx="18288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00200" cy="91440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" name="Text 2"/>
          <p:cNvSpPr/>
          <p:nvPr/>
        </p:nvSpPr>
        <p:spPr>
          <a:xfrm>
            <a:off x="560636" y="147638"/>
            <a:ext cx="5549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216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5335" y="309563"/>
            <a:ext cx="6057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kern="0" spc="-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23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828800" y="152400"/>
            <a:ext cx="1237503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27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데이터 동의 토글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28800" y="561975"/>
            <a:ext cx="1237503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Training Consent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071997" y="0"/>
            <a:ext cx="9525" cy="914400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" name="Shape 7"/>
          <p:cNvSpPr/>
          <p:nvPr/>
        </p:nvSpPr>
        <p:spPr>
          <a:xfrm>
            <a:off x="14348222" y="304800"/>
            <a:ext cx="988665" cy="304800"/>
          </a:xfrm>
          <a:prstGeom prst="roundRect">
            <a:avLst>
              <a:gd name="adj" fmla="val 12500"/>
            </a:avLst>
          </a:prstGeom>
          <a:solidFill>
            <a:srgbClr val="455A64"/>
          </a:solidFill>
          <a:ln w="9525">
            <a:solidFill>
              <a:srgbClr val="455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472047" y="314325"/>
            <a:ext cx="81721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마이페이지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432137" y="304800"/>
            <a:ext cx="831503" cy="304800"/>
          </a:xfrm>
          <a:prstGeom prst="roundRect">
            <a:avLst>
              <a:gd name="adj" fmla="val 12500"/>
            </a:avLst>
          </a:prstGeom>
          <a:solidFill>
            <a:srgbClr val="0288D1"/>
          </a:solidFill>
          <a:ln w="9525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55962" y="314325"/>
            <a:ext cx="6600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6358890" y="314325"/>
            <a:ext cx="166241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473190" y="314325"/>
            <a:ext cx="1510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2026.05.14 · v1.0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8600" y="1066800"/>
            <a:ext cx="2028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와이어 / Hi-Fi Mockup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623102" y="1066800"/>
            <a:ext cx="316580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garim.kr/me/settings/learning</a:t>
            </a:r>
            <a:endParaRPr lang="en-US" sz="1350" dirty="0"/>
          </a:p>
        </p:txBody>
      </p:sp>
      <p:grpSp>
        <p:nvGrpSpPr>
          <p:cNvPr id="77" name="그룹 76"/>
          <p:cNvGrpSpPr/>
          <p:nvPr/>
        </p:nvGrpSpPr>
        <p:grpSpPr>
          <a:xfrm>
            <a:off x="2861510" y="3257550"/>
            <a:ext cx="381000" cy="361950"/>
            <a:chOff x="2861510" y="3257550"/>
            <a:chExt cx="381000" cy="361950"/>
          </a:xfrm>
        </p:grpSpPr>
        <p:sp>
          <p:nvSpPr>
            <p:cNvPr id="19" name="Shape 16"/>
            <p:cNvSpPr/>
            <p:nvPr/>
          </p:nvSpPr>
          <p:spPr>
            <a:xfrm>
              <a:off x="2880560" y="3257550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0" name="Text 17"/>
            <p:cNvSpPr/>
            <p:nvPr/>
          </p:nvSpPr>
          <p:spPr>
            <a:xfrm>
              <a:off x="2861510" y="3276600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</a:t>
              </a:r>
              <a:endParaRPr lang="en-US" sz="1350" dirty="0"/>
            </a:p>
          </p:txBody>
        </p:sp>
      </p:grpSp>
      <p:sp>
        <p:nvSpPr>
          <p:cNvPr id="21" name="Shape 18"/>
          <p:cNvSpPr/>
          <p:nvPr/>
        </p:nvSpPr>
        <p:spPr>
          <a:xfrm>
            <a:off x="3535561" y="5414963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516511" y="5434013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160990" y="5414963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141940" y="5434013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5848350" y="7785795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829300" y="7804845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12001500" y="13144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28" name="Text 25"/>
          <p:cNvSpPr/>
          <p:nvPr/>
        </p:nvSpPr>
        <p:spPr>
          <a:xfrm>
            <a:off x="12001500" y="1028700"/>
            <a:ext cx="12997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· 컴포넌트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3320266" y="1104900"/>
            <a:ext cx="15653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Purpose · Components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2001500" y="1428750"/>
            <a:ext cx="623963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B-1 학습 데이터 동의 분리 원칙 구체적 구현. 언제든 ON/OFF + 변경 이력 투명</a:t>
            </a:r>
            <a:endParaRPr lang="en-US" sz="1650" dirty="0"/>
          </a:p>
        </p:txBody>
      </p:sp>
      <p:sp>
        <p:nvSpPr>
          <p:cNvPr id="31" name="Shape 28"/>
          <p:cNvSpPr/>
          <p:nvPr/>
        </p:nvSpPr>
        <p:spPr>
          <a:xfrm>
            <a:off x="12001500" y="245745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2" name="Shape 29"/>
          <p:cNvSpPr/>
          <p:nvPr/>
        </p:nvSpPr>
        <p:spPr>
          <a:xfrm>
            <a:off x="12001500" y="22002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3" name="Text 30"/>
          <p:cNvSpPr/>
          <p:nvPr/>
        </p:nvSpPr>
        <p:spPr>
          <a:xfrm>
            <a:off x="11963400" y="22002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2287250" y="218122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큰 동의 toggle (ON/OFF 명확)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디폴트 OFF. 변경 시 모달 확인</a:t>
            </a:r>
            <a:endParaRPr lang="en-US" sz="1425" dirty="0"/>
          </a:p>
        </p:txBody>
      </p:sp>
      <p:sp>
        <p:nvSpPr>
          <p:cNvPr id="35" name="Shape 32"/>
          <p:cNvSpPr/>
          <p:nvPr/>
        </p:nvSpPr>
        <p:spPr>
          <a:xfrm>
            <a:off x="12001500" y="303847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6" name="Shape 33"/>
          <p:cNvSpPr/>
          <p:nvPr/>
        </p:nvSpPr>
        <p:spPr>
          <a:xfrm>
            <a:off x="12001500" y="25336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7" name="Text 34"/>
          <p:cNvSpPr/>
          <p:nvPr/>
        </p:nvSpPr>
        <p:spPr>
          <a:xfrm>
            <a:off x="11963400" y="25336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2287250" y="2514600"/>
            <a:ext cx="594531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"동의 시" 카드 (긍정 톤)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"내 데이터가 모델 개선에 활용됩니다" + 환원 크레딧 (v1 정식)</a:t>
            </a:r>
            <a:endParaRPr lang="en-US" sz="1425" dirty="0"/>
          </a:p>
        </p:txBody>
      </p:sp>
      <p:sp>
        <p:nvSpPr>
          <p:cNvPr id="39" name="Shape 36"/>
          <p:cNvSpPr/>
          <p:nvPr/>
        </p:nvSpPr>
        <p:spPr>
          <a:xfrm>
            <a:off x="12001500" y="337185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0" name="Shape 37"/>
          <p:cNvSpPr/>
          <p:nvPr/>
        </p:nvSpPr>
        <p:spPr>
          <a:xfrm>
            <a:off x="12001500" y="31146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1" name="Text 38"/>
          <p:cNvSpPr/>
          <p:nvPr/>
        </p:nvSpPr>
        <p:spPr>
          <a:xfrm>
            <a:off x="11963400" y="31146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2287250" y="309562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"비동의 시" 카드 (강조)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"사용자 정보는 학습에 절대 사용하지 않습니다"</a:t>
            </a:r>
            <a:endParaRPr lang="en-US" sz="1425" dirty="0"/>
          </a:p>
        </p:txBody>
      </p:sp>
      <p:sp>
        <p:nvSpPr>
          <p:cNvPr id="43" name="Shape 40"/>
          <p:cNvSpPr/>
          <p:nvPr/>
        </p:nvSpPr>
        <p:spPr>
          <a:xfrm>
            <a:off x="12001500" y="34480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4" name="Text 41"/>
          <p:cNvSpPr/>
          <p:nvPr/>
        </p:nvSpPr>
        <p:spPr>
          <a:xfrm>
            <a:off x="11963400" y="34480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2287250" y="34290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 이력 + 정책 링크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ON/OFF 시점 타임라인. 04 약관 학습 동의 탭으로 연결</a:t>
            </a:r>
            <a:endParaRPr lang="en-US" sz="1425" dirty="0"/>
          </a:p>
        </p:txBody>
      </p:sp>
      <p:sp>
        <p:nvSpPr>
          <p:cNvPr id="46" name="Shape 43"/>
          <p:cNvSpPr/>
          <p:nvPr/>
        </p:nvSpPr>
        <p:spPr>
          <a:xfrm>
            <a:off x="12001500" y="4086225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7" name="Text 44"/>
          <p:cNvSpPr/>
          <p:nvPr/>
        </p:nvSpPr>
        <p:spPr>
          <a:xfrm>
            <a:off x="12001500" y="3800475"/>
            <a:ext cx="9603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/ 이탈</a:t>
            </a:r>
            <a:endParaRPr lang="en-US" sz="1650" dirty="0"/>
          </a:p>
        </p:txBody>
      </p:sp>
      <p:sp>
        <p:nvSpPr>
          <p:cNvPr id="48" name="Text 45"/>
          <p:cNvSpPr/>
          <p:nvPr/>
        </p:nvSpPr>
        <p:spPr>
          <a:xfrm>
            <a:off x="12980938" y="3876675"/>
            <a:ext cx="7868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Entry · Exit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12006263" y="4205288"/>
            <a:ext cx="1047750" cy="34290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2091988" y="4252912"/>
            <a:ext cx="9525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</a:t>
            </a:r>
            <a:endParaRPr lang="en-US" sz="1425" dirty="0"/>
          </a:p>
        </p:txBody>
      </p:sp>
      <p:sp>
        <p:nvSpPr>
          <p:cNvPr id="51" name="Shape 48"/>
          <p:cNvSpPr/>
          <p:nvPr/>
        </p:nvSpPr>
        <p:spPr>
          <a:xfrm>
            <a:off x="13054013" y="4205288"/>
            <a:ext cx="5000625" cy="34290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3179743" y="4248150"/>
            <a:ext cx="487013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 설정 · 데이터 카테고리</a:t>
            </a:r>
            <a:endParaRPr lang="en-US" sz="1425" dirty="0"/>
          </a:p>
        </p:txBody>
      </p:sp>
      <p:sp>
        <p:nvSpPr>
          <p:cNvPr id="53" name="Shape 50"/>
          <p:cNvSpPr/>
          <p:nvPr/>
        </p:nvSpPr>
        <p:spPr>
          <a:xfrm>
            <a:off x="12006263" y="4548188"/>
            <a:ext cx="1047750" cy="34290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2091988" y="4595812"/>
            <a:ext cx="9525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/ 다음</a:t>
            </a:r>
            <a:endParaRPr lang="en-US" sz="1425" dirty="0"/>
          </a:p>
        </p:txBody>
      </p:sp>
      <p:sp>
        <p:nvSpPr>
          <p:cNvPr id="55" name="Shape 52"/>
          <p:cNvSpPr/>
          <p:nvPr/>
        </p:nvSpPr>
        <p:spPr>
          <a:xfrm>
            <a:off x="13054013" y="4548188"/>
            <a:ext cx="5000625" cy="34290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3179743" y="4591050"/>
            <a:ext cx="487013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"확인" 후 22 복귀</a:t>
            </a:r>
            <a:endParaRPr lang="en-US" sz="1425" dirty="0"/>
          </a:p>
        </p:txBody>
      </p:sp>
      <p:sp>
        <p:nvSpPr>
          <p:cNvPr id="57" name="Shape 54"/>
          <p:cNvSpPr/>
          <p:nvPr/>
        </p:nvSpPr>
        <p:spPr>
          <a:xfrm>
            <a:off x="12001500" y="52768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8" name="Text 55"/>
          <p:cNvSpPr/>
          <p:nvPr/>
        </p:nvSpPr>
        <p:spPr>
          <a:xfrm>
            <a:off x="12001500" y="4991100"/>
            <a:ext cx="849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분기·규칙</a:t>
            </a:r>
            <a:endParaRPr lang="en-US" sz="1650" dirty="0"/>
          </a:p>
        </p:txBody>
      </p:sp>
      <p:sp>
        <p:nvSpPr>
          <p:cNvPr id="59" name="Text 56"/>
          <p:cNvSpPr/>
          <p:nvPr/>
        </p:nvSpPr>
        <p:spPr>
          <a:xfrm>
            <a:off x="12869912" y="5067300"/>
            <a:ext cx="4344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Rules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12006263" y="5395913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2091988" y="5443538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OFF → ON</a:t>
            </a:r>
            <a:endParaRPr lang="en-US" sz="1425" dirty="0"/>
          </a:p>
        </p:txBody>
      </p:sp>
      <p:sp>
        <p:nvSpPr>
          <p:cNvPr id="62" name="Shape 59"/>
          <p:cNvSpPr/>
          <p:nvPr/>
        </p:nvSpPr>
        <p:spPr>
          <a:xfrm>
            <a:off x="13054013" y="5395913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3139738" y="5443538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활용 안내 + 혜택 모달</a:t>
            </a:r>
            <a:endParaRPr lang="en-US" sz="1425" dirty="0"/>
          </a:p>
        </p:txBody>
      </p:sp>
      <p:sp>
        <p:nvSpPr>
          <p:cNvPr id="64" name="Shape 61"/>
          <p:cNvSpPr/>
          <p:nvPr/>
        </p:nvSpPr>
        <p:spPr>
          <a:xfrm>
            <a:off x="12006263" y="5719763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2091988" y="5767387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ON → OFF</a:t>
            </a:r>
            <a:endParaRPr lang="en-US" sz="1425" dirty="0"/>
          </a:p>
        </p:txBody>
      </p:sp>
      <p:sp>
        <p:nvSpPr>
          <p:cNvPr id="66" name="Shape 63"/>
          <p:cNvSpPr/>
          <p:nvPr/>
        </p:nvSpPr>
        <p:spPr>
          <a:xfrm>
            <a:off x="13054013" y="5719763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3139738" y="5767387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"이미 학습된 모델에서 분리 어려움" 솔직 안내 + 향후 제외 확인 (B-1)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12006263" y="6281738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2091988" y="6329363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철회 안내 (B-1)</a:t>
            </a:r>
            <a:endParaRPr lang="en-US" sz="1425" dirty="0"/>
          </a:p>
        </p:txBody>
      </p:sp>
      <p:sp>
        <p:nvSpPr>
          <p:cNvPr id="70" name="Shape 67"/>
          <p:cNvSpPr/>
          <p:nvPr/>
        </p:nvSpPr>
        <p:spPr>
          <a:xfrm>
            <a:off x="13054013" y="6281738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3139738" y="6329363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"기술적 분리 불가" 본문 명시</a:t>
            </a:r>
            <a:endParaRPr lang="en-US" sz="1425" dirty="0"/>
          </a:p>
        </p:txBody>
      </p:sp>
      <p:sp>
        <p:nvSpPr>
          <p:cNvPr id="72" name="Shape 69"/>
          <p:cNvSpPr/>
          <p:nvPr/>
        </p:nvSpPr>
        <p:spPr>
          <a:xfrm>
            <a:off x="0" y="9944100"/>
            <a:ext cx="18288000" cy="3429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73" name="Shape 70"/>
          <p:cNvSpPr/>
          <p:nvPr/>
        </p:nvSpPr>
        <p:spPr>
          <a:xfrm>
            <a:off x="0" y="9944100"/>
            <a:ext cx="18288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74" name="Text 71"/>
          <p:cNvSpPr/>
          <p:nvPr/>
        </p:nvSpPr>
        <p:spPr>
          <a:xfrm>
            <a:off x="304800" y="10034588"/>
            <a:ext cx="5502758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54" dirty="0">
                <a:solidFill>
                  <a:srgbClr val="798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· 화면설계서 v1.0 · #garim.kr/me/settings/learning</a:t>
            </a:r>
            <a:endParaRPr lang="en-US" sz="1200" dirty="0"/>
          </a:p>
        </p:txBody>
      </p:sp>
      <p:sp>
        <p:nvSpPr>
          <p:cNvPr id="75" name="Text 72"/>
          <p:cNvSpPr/>
          <p:nvPr/>
        </p:nvSpPr>
        <p:spPr>
          <a:xfrm>
            <a:off x="11447413" y="10020300"/>
            <a:ext cx="673186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P23 · 학습 데이터 동의 토글 · ref: Apple iCloud 데이터 동의 · GitHub Copilot 학습 동의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228600" y="1343025"/>
            <a:ext cx="11582400" cy="8486775"/>
          </a:xfrm>
          <a:prstGeom prst="roundRect">
            <a:avLst>
              <a:gd name="adj" fmla="val 224"/>
            </a:avLst>
          </a:prstGeom>
          <a:solidFill>
            <a:srgbClr val="FFFFFF"/>
          </a:solidFill>
          <a:ln w="9525">
            <a:solidFill>
              <a:srgbClr val="B8BDC7"/>
            </a:solidFill>
            <a:prstDash val="solid"/>
          </a:ln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86" name="그림 85"/>
          <p:cNvPicPr>
            <a:picLocks noChangeAspect="1"/>
          </p:cNvPicPr>
          <p:nvPr/>
        </p:nvPicPr>
        <p:blipFill rotWithShape="1">
          <a:blip r:embed="rId3"/>
          <a:srcRect t="7565" b="23984"/>
          <a:stretch/>
        </p:blipFill>
        <p:spPr>
          <a:xfrm>
            <a:off x="576263" y="1560596"/>
            <a:ext cx="10991850" cy="7908757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876300"/>
            <a:ext cx="18288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00200" cy="91440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" name="Text 2"/>
          <p:cNvSpPr/>
          <p:nvPr/>
        </p:nvSpPr>
        <p:spPr>
          <a:xfrm>
            <a:off x="560636" y="147638"/>
            <a:ext cx="5549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216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5335" y="309563"/>
            <a:ext cx="6057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kern="0" spc="-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828800" y="152400"/>
            <a:ext cx="1265786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27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본인 얼굴 화이트리스트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28800" y="561975"/>
            <a:ext cx="1265786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Face Whitelist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346585" y="0"/>
            <a:ext cx="9525" cy="914400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" name="Shape 7"/>
          <p:cNvSpPr/>
          <p:nvPr/>
        </p:nvSpPr>
        <p:spPr>
          <a:xfrm>
            <a:off x="14622810" y="304800"/>
            <a:ext cx="988665" cy="304800"/>
          </a:xfrm>
          <a:prstGeom prst="roundRect">
            <a:avLst>
              <a:gd name="adj" fmla="val 12500"/>
            </a:avLst>
          </a:prstGeom>
          <a:solidFill>
            <a:srgbClr val="455A64"/>
          </a:solidFill>
          <a:ln w="9525">
            <a:solidFill>
              <a:srgbClr val="455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746635" y="314325"/>
            <a:ext cx="81721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마이페이지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706725" y="304800"/>
            <a:ext cx="556915" cy="304800"/>
          </a:xfrm>
          <a:prstGeom prst="roundRect">
            <a:avLst>
              <a:gd name="adj" fmla="val 12500"/>
            </a:avLst>
          </a:prstGeom>
          <a:solidFill>
            <a:srgbClr val="9747FF"/>
          </a:solidFill>
          <a:ln w="9525">
            <a:solidFill>
              <a:srgbClr val="974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830550" y="314325"/>
            <a:ext cx="38546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v2~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6358890" y="314325"/>
            <a:ext cx="166241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473190" y="314325"/>
            <a:ext cx="1510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2026.05.14 · v1.0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8600" y="1066800"/>
            <a:ext cx="2028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와이어 / Hi-Fi Mockup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000952" y="1066800"/>
            <a:ext cx="177194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garim.kr/me/face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848350" y="2366516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829300" y="2385566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3535561" y="4906863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516511" y="4925913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160990" y="4906863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141940" y="4925913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5848350" y="7072312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829300" y="7091362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350" dirty="0"/>
          </a:p>
        </p:txBody>
      </p:sp>
      <p:sp>
        <p:nvSpPr>
          <p:cNvPr id="27" name="Shape 24"/>
          <p:cNvSpPr/>
          <p:nvPr/>
        </p:nvSpPr>
        <p:spPr>
          <a:xfrm>
            <a:off x="5848350" y="8257877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829300" y="8276927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12001500" y="13144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0" name="Text 27"/>
          <p:cNvSpPr/>
          <p:nvPr/>
        </p:nvSpPr>
        <p:spPr>
          <a:xfrm>
            <a:off x="12001500" y="1028700"/>
            <a:ext cx="12997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· 컴포넌트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3320266" y="1104900"/>
            <a:ext cx="15653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Purpose · Components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2001500" y="1428750"/>
            <a:ext cx="623963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B-4 제3자 권리 보호 보완. 본인 콘텐츠에서 본인이 자동 마스킹되는 어색함 해소</a:t>
            </a:r>
            <a:endParaRPr lang="en-US" sz="1650" dirty="0"/>
          </a:p>
        </p:txBody>
      </p:sp>
      <p:sp>
        <p:nvSpPr>
          <p:cNvPr id="33" name="Shape 30"/>
          <p:cNvSpPr/>
          <p:nvPr/>
        </p:nvSpPr>
        <p:spPr>
          <a:xfrm>
            <a:off x="12001500" y="245745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4" name="Shape 31"/>
          <p:cNvSpPr/>
          <p:nvPr/>
        </p:nvSpPr>
        <p:spPr>
          <a:xfrm>
            <a:off x="12001500" y="22002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5" name="Text 32"/>
          <p:cNvSpPr/>
          <p:nvPr/>
        </p:nvSpPr>
        <p:spPr>
          <a:xfrm>
            <a:off x="11963400" y="22002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2287250" y="218122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안내 카드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왜 등록하는지 · 어떻게 작동하는지 · 임베딩 변환 후 사진 삭제</a:t>
            </a:r>
            <a:endParaRPr lang="en-US" sz="1425" dirty="0"/>
          </a:p>
        </p:txBody>
      </p:sp>
      <p:sp>
        <p:nvSpPr>
          <p:cNvPr id="37" name="Shape 34"/>
          <p:cNvSpPr/>
          <p:nvPr/>
        </p:nvSpPr>
        <p:spPr>
          <a:xfrm>
            <a:off x="12001500" y="279082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8" name="Shape 35"/>
          <p:cNvSpPr/>
          <p:nvPr/>
        </p:nvSpPr>
        <p:spPr>
          <a:xfrm>
            <a:off x="12001500" y="25336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9" name="Text 36"/>
          <p:cNvSpPr/>
          <p:nvPr/>
        </p:nvSpPr>
        <p:spPr>
          <a:xfrm>
            <a:off x="11963400" y="25336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2287250" y="25146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등록된 얼굴 카드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썸네일 · 등록일 · 마지막 사용 · 삭제 액션</a:t>
            </a:r>
            <a:endParaRPr lang="en-US" sz="1425" dirty="0"/>
          </a:p>
        </p:txBody>
      </p:sp>
      <p:sp>
        <p:nvSpPr>
          <p:cNvPr id="41" name="Shape 38"/>
          <p:cNvSpPr/>
          <p:nvPr/>
        </p:nvSpPr>
        <p:spPr>
          <a:xfrm>
            <a:off x="12001500" y="312420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2" name="Shape 39"/>
          <p:cNvSpPr/>
          <p:nvPr/>
        </p:nvSpPr>
        <p:spPr>
          <a:xfrm>
            <a:off x="12001500" y="286702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3" name="Text 40"/>
          <p:cNvSpPr/>
          <p:nvPr/>
        </p:nvSpPr>
        <p:spPr>
          <a:xfrm>
            <a:off x="11963400" y="286702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2287250" y="284797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사진 업로드 zone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3~5장 권장. 다양한 각도 권장</a:t>
            </a:r>
            <a:endParaRPr lang="en-US" sz="1425" dirty="0"/>
          </a:p>
        </p:txBody>
      </p:sp>
      <p:sp>
        <p:nvSpPr>
          <p:cNvPr id="45" name="Shape 42"/>
          <p:cNvSpPr/>
          <p:nvPr/>
        </p:nvSpPr>
        <p:spPr>
          <a:xfrm>
            <a:off x="12001500" y="345757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6" name="Shape 43"/>
          <p:cNvSpPr/>
          <p:nvPr/>
        </p:nvSpPr>
        <p:spPr>
          <a:xfrm>
            <a:off x="12001500" y="320040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7" name="Text 44"/>
          <p:cNvSpPr/>
          <p:nvPr/>
        </p:nvSpPr>
        <p:spPr>
          <a:xfrm>
            <a:off x="11963400" y="320040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2287250" y="318135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진행 stepper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업로드 → 얼굴 검증 → 임베딩 학습 → 활성</a:t>
            </a:r>
            <a:endParaRPr lang="en-US" sz="1425" dirty="0"/>
          </a:p>
        </p:txBody>
      </p:sp>
      <p:sp>
        <p:nvSpPr>
          <p:cNvPr id="49" name="Shape 46"/>
          <p:cNvSpPr/>
          <p:nvPr/>
        </p:nvSpPr>
        <p:spPr>
          <a:xfrm>
            <a:off x="12001500" y="35337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50" name="Text 47"/>
          <p:cNvSpPr/>
          <p:nvPr/>
        </p:nvSpPr>
        <p:spPr>
          <a:xfrm>
            <a:off x="11963400" y="35337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2287250" y="351472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권한·보안 안내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외부 전송 ✕ · 본인 식별용으로만 사용</a:t>
            </a:r>
            <a:endParaRPr lang="en-US" sz="1425" dirty="0"/>
          </a:p>
        </p:txBody>
      </p:sp>
      <p:sp>
        <p:nvSpPr>
          <p:cNvPr id="52" name="Shape 49"/>
          <p:cNvSpPr/>
          <p:nvPr/>
        </p:nvSpPr>
        <p:spPr>
          <a:xfrm>
            <a:off x="12001500" y="41719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3" name="Text 50"/>
          <p:cNvSpPr/>
          <p:nvPr/>
        </p:nvSpPr>
        <p:spPr>
          <a:xfrm>
            <a:off x="12001500" y="3886200"/>
            <a:ext cx="9603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/ 이탈</a:t>
            </a:r>
            <a:endParaRPr lang="en-US" sz="1650" dirty="0"/>
          </a:p>
        </p:txBody>
      </p:sp>
      <p:sp>
        <p:nvSpPr>
          <p:cNvPr id="54" name="Text 51"/>
          <p:cNvSpPr/>
          <p:nvPr/>
        </p:nvSpPr>
        <p:spPr>
          <a:xfrm>
            <a:off x="12980938" y="3962400"/>
            <a:ext cx="7868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Entry · Exit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12006263" y="4291013"/>
            <a:ext cx="1047750" cy="34290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2091988" y="4338637"/>
            <a:ext cx="9525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</a:t>
            </a:r>
            <a:endParaRPr lang="en-US" sz="1425" dirty="0"/>
          </a:p>
        </p:txBody>
      </p:sp>
      <p:sp>
        <p:nvSpPr>
          <p:cNvPr id="57" name="Shape 54"/>
          <p:cNvSpPr/>
          <p:nvPr/>
        </p:nvSpPr>
        <p:spPr>
          <a:xfrm>
            <a:off x="13054013" y="4291013"/>
            <a:ext cx="5000625" cy="34290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3179743" y="4333875"/>
            <a:ext cx="487013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22 설정 · 데이터 카테고리</a:t>
            </a:r>
            <a:endParaRPr lang="en-US" sz="1425" dirty="0"/>
          </a:p>
        </p:txBody>
      </p:sp>
      <p:sp>
        <p:nvSpPr>
          <p:cNvPr id="59" name="Shape 56"/>
          <p:cNvSpPr/>
          <p:nvPr/>
        </p:nvSpPr>
        <p:spPr>
          <a:xfrm>
            <a:off x="12006263" y="4633913"/>
            <a:ext cx="1047750" cy="6000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2091988" y="4681537"/>
            <a:ext cx="9525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/ 다음</a:t>
            </a:r>
            <a:endParaRPr lang="en-US" sz="1425" dirty="0"/>
          </a:p>
        </p:txBody>
      </p:sp>
      <p:sp>
        <p:nvSpPr>
          <p:cNvPr id="61" name="Shape 58"/>
          <p:cNvSpPr/>
          <p:nvPr/>
        </p:nvSpPr>
        <p:spPr>
          <a:xfrm>
            <a:off x="13054013" y="4633913"/>
            <a:ext cx="5000625" cy="6000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3179743" y="4676775"/>
            <a:ext cx="487013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등록 완료 → 22 복귀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삭제 → 즉시 영구 제거</a:t>
            </a:r>
            <a:endParaRPr lang="en-US" sz="1425" dirty="0"/>
          </a:p>
        </p:txBody>
      </p:sp>
      <p:sp>
        <p:nvSpPr>
          <p:cNvPr id="63" name="Shape 60"/>
          <p:cNvSpPr/>
          <p:nvPr/>
        </p:nvSpPr>
        <p:spPr>
          <a:xfrm>
            <a:off x="12001500" y="56197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64" name="Text 61"/>
          <p:cNvSpPr/>
          <p:nvPr/>
        </p:nvSpPr>
        <p:spPr>
          <a:xfrm>
            <a:off x="12001500" y="5334000"/>
            <a:ext cx="849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분기·규칙</a:t>
            </a:r>
            <a:endParaRPr lang="en-US" sz="1650" dirty="0"/>
          </a:p>
        </p:txBody>
      </p:sp>
      <p:sp>
        <p:nvSpPr>
          <p:cNvPr id="65" name="Text 62"/>
          <p:cNvSpPr/>
          <p:nvPr/>
        </p:nvSpPr>
        <p:spPr>
          <a:xfrm>
            <a:off x="12869912" y="5410200"/>
            <a:ext cx="4344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Rules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12006263" y="5738813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2091988" y="5786438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MVP1·v1 정식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13054013" y="5738813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3139738" y="5786438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"v2 예정" placeholder. 비활성</a:t>
            </a:r>
            <a:endParaRPr lang="en-US" sz="1425" dirty="0"/>
          </a:p>
        </p:txBody>
      </p:sp>
      <p:sp>
        <p:nvSpPr>
          <p:cNvPr id="70" name="Shape 67"/>
          <p:cNvSpPr/>
          <p:nvPr/>
        </p:nvSpPr>
        <p:spPr>
          <a:xfrm>
            <a:off x="12006263" y="6300788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2091988" y="6348413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정책</a:t>
            </a:r>
            <a:endParaRPr lang="en-US" sz="1425" dirty="0"/>
          </a:p>
        </p:txBody>
      </p:sp>
      <p:sp>
        <p:nvSpPr>
          <p:cNvPr id="72" name="Shape 69"/>
          <p:cNvSpPr/>
          <p:nvPr/>
        </p:nvSpPr>
        <p:spPr>
          <a:xfrm>
            <a:off x="13054013" y="6300788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3139738" y="6348413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얼굴 사진은 임베딩 벡터로 변환 후 원본 삭제</a:t>
            </a:r>
            <a:endParaRPr lang="en-US" sz="1425" dirty="0"/>
          </a:p>
        </p:txBody>
      </p:sp>
      <p:sp>
        <p:nvSpPr>
          <p:cNvPr id="74" name="Shape 71"/>
          <p:cNvSpPr/>
          <p:nvPr/>
        </p:nvSpPr>
        <p:spPr>
          <a:xfrm>
            <a:off x="12006263" y="6624638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2091988" y="6672263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전송</a:t>
            </a:r>
            <a:endParaRPr lang="en-US" sz="1425" dirty="0"/>
          </a:p>
        </p:txBody>
      </p:sp>
      <p:sp>
        <p:nvSpPr>
          <p:cNvPr id="76" name="Shape 73"/>
          <p:cNvSpPr/>
          <p:nvPr/>
        </p:nvSpPr>
        <p:spPr>
          <a:xfrm>
            <a:off x="13054013" y="6624638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13139738" y="6672263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1425" dirty="0"/>
          </a:p>
        </p:txBody>
      </p:sp>
      <p:sp>
        <p:nvSpPr>
          <p:cNvPr id="78" name="Shape 75"/>
          <p:cNvSpPr/>
          <p:nvPr/>
        </p:nvSpPr>
        <p:spPr>
          <a:xfrm>
            <a:off x="12006263" y="6948488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12091988" y="6996112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삭제</a:t>
            </a:r>
            <a:endParaRPr lang="en-US" sz="1425" dirty="0"/>
          </a:p>
        </p:txBody>
      </p:sp>
      <p:sp>
        <p:nvSpPr>
          <p:cNvPr id="80" name="Shape 77"/>
          <p:cNvSpPr/>
          <p:nvPr/>
        </p:nvSpPr>
        <p:spPr>
          <a:xfrm>
            <a:off x="13054013" y="6948488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13139738" y="6996112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즉시 영구 제거 (자동 삭제와 별개)</a:t>
            </a:r>
            <a:endParaRPr lang="en-US" sz="1425" dirty="0"/>
          </a:p>
        </p:txBody>
      </p:sp>
      <p:sp>
        <p:nvSpPr>
          <p:cNvPr id="82" name="Shape 79"/>
          <p:cNvSpPr/>
          <p:nvPr/>
        </p:nvSpPr>
        <p:spPr>
          <a:xfrm>
            <a:off x="0" y="9944100"/>
            <a:ext cx="18288000" cy="3429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83" name="Shape 80"/>
          <p:cNvSpPr/>
          <p:nvPr/>
        </p:nvSpPr>
        <p:spPr>
          <a:xfrm>
            <a:off x="0" y="9944100"/>
            <a:ext cx="18288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84" name="Text 81"/>
          <p:cNvSpPr/>
          <p:nvPr/>
        </p:nvSpPr>
        <p:spPr>
          <a:xfrm>
            <a:off x="304800" y="10034588"/>
            <a:ext cx="414948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54" dirty="0">
                <a:solidFill>
                  <a:srgbClr val="798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· 화면설계서 v1.0 · #garim.kr/me/face</a:t>
            </a:r>
            <a:endParaRPr lang="en-US" sz="1200" dirty="0"/>
          </a:p>
        </p:txBody>
      </p:sp>
      <p:sp>
        <p:nvSpPr>
          <p:cNvPr id="85" name="Text 82"/>
          <p:cNvSpPr/>
          <p:nvPr/>
        </p:nvSpPr>
        <p:spPr>
          <a:xfrm>
            <a:off x="12132022" y="10020300"/>
            <a:ext cx="602671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P24 · 본인 얼굴 화이트리스트 · ref: Apple Face ID · Google Photos 본인 얼굴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228600" y="1343025"/>
            <a:ext cx="11582400" cy="8486775"/>
          </a:xfrm>
          <a:prstGeom prst="roundRect">
            <a:avLst>
              <a:gd name="adj" fmla="val 224"/>
            </a:avLst>
          </a:prstGeom>
          <a:solidFill>
            <a:srgbClr val="FFFFFF"/>
          </a:solidFill>
          <a:ln w="9525">
            <a:solidFill>
              <a:srgbClr val="B8BDC7"/>
            </a:solidFill>
            <a:prstDash val="solid"/>
          </a:ln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77" name="그림 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645" y="1624076"/>
            <a:ext cx="10991850" cy="77724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876300"/>
            <a:ext cx="18288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00200" cy="91440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" name="Text 2"/>
          <p:cNvSpPr/>
          <p:nvPr/>
        </p:nvSpPr>
        <p:spPr>
          <a:xfrm>
            <a:off x="560636" y="147638"/>
            <a:ext cx="5549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216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5335" y="309563"/>
            <a:ext cx="6057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kern="0" spc="-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828800" y="152400"/>
            <a:ext cx="1268039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27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어뷰징 모니터링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28800" y="561975"/>
            <a:ext cx="1268039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Abuse Monitoring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368463" y="0"/>
            <a:ext cx="9525" cy="914400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" name="Shape 7"/>
          <p:cNvSpPr/>
          <p:nvPr/>
        </p:nvSpPr>
        <p:spPr>
          <a:xfrm>
            <a:off x="14644688" y="304800"/>
            <a:ext cx="692200" cy="304800"/>
          </a:xfrm>
          <a:prstGeom prst="roundRect">
            <a:avLst>
              <a:gd name="adj" fmla="val 12500"/>
            </a:avLst>
          </a:prstGeom>
          <a:solidFill>
            <a:srgbClr val="455A64"/>
          </a:solidFill>
          <a:ln w="9525">
            <a:solidFill>
              <a:srgbClr val="455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768513" y="314325"/>
            <a:ext cx="520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432137" y="304800"/>
            <a:ext cx="831503" cy="304800"/>
          </a:xfrm>
          <a:prstGeom prst="roundRect">
            <a:avLst>
              <a:gd name="adj" fmla="val 12500"/>
            </a:avLst>
          </a:prstGeom>
          <a:solidFill>
            <a:srgbClr val="0288D1"/>
          </a:solidFill>
          <a:ln w="9525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55962" y="314325"/>
            <a:ext cx="6600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6358890" y="314325"/>
            <a:ext cx="166241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473190" y="314325"/>
            <a:ext cx="1510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2026.05.14 · v1.0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8600" y="1066800"/>
            <a:ext cx="2028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와이어 / Hi-Fi Mockup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576941" y="1066800"/>
            <a:ext cx="219595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admin.garim.kr/abuse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5848350" y="2197150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829300" y="2216200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3535561" y="4737497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516511" y="4756547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50" dirty="0"/>
          </a:p>
        </p:txBody>
      </p:sp>
      <p:grpSp>
        <p:nvGrpSpPr>
          <p:cNvPr id="78" name="그룹 77"/>
          <p:cNvGrpSpPr/>
          <p:nvPr/>
        </p:nvGrpSpPr>
        <p:grpSpPr>
          <a:xfrm>
            <a:off x="10066993" y="3273405"/>
            <a:ext cx="381000" cy="361950"/>
            <a:chOff x="10066993" y="3273405"/>
            <a:chExt cx="381000" cy="361950"/>
          </a:xfrm>
        </p:grpSpPr>
        <p:sp>
          <p:nvSpPr>
            <p:cNvPr id="23" name="Shape 20"/>
            <p:cNvSpPr/>
            <p:nvPr/>
          </p:nvSpPr>
          <p:spPr>
            <a:xfrm>
              <a:off x="10086043" y="3273405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4" name="Text 21"/>
            <p:cNvSpPr/>
            <p:nvPr/>
          </p:nvSpPr>
          <p:spPr>
            <a:xfrm>
              <a:off x="10066993" y="3292455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3</a:t>
              </a:r>
              <a:endParaRPr lang="en-US" sz="1350" dirty="0"/>
            </a:p>
          </p:txBody>
        </p:sp>
      </p:grpSp>
      <p:grpSp>
        <p:nvGrpSpPr>
          <p:cNvPr id="79" name="그룹 78"/>
          <p:cNvGrpSpPr/>
          <p:nvPr/>
        </p:nvGrpSpPr>
        <p:grpSpPr>
          <a:xfrm>
            <a:off x="8168997" y="3852862"/>
            <a:ext cx="381000" cy="361950"/>
            <a:chOff x="5829300" y="8293894"/>
            <a:chExt cx="381000" cy="361950"/>
          </a:xfrm>
        </p:grpSpPr>
        <p:sp>
          <p:nvSpPr>
            <p:cNvPr id="25" name="Shape 22"/>
            <p:cNvSpPr/>
            <p:nvPr/>
          </p:nvSpPr>
          <p:spPr>
            <a:xfrm>
              <a:off x="5848350" y="8293894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6" name="Text 23"/>
            <p:cNvSpPr/>
            <p:nvPr/>
          </p:nvSpPr>
          <p:spPr>
            <a:xfrm>
              <a:off x="5829300" y="8312944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4</a:t>
              </a:r>
              <a:endParaRPr lang="en-US" sz="1350" dirty="0"/>
            </a:p>
          </p:txBody>
        </p:sp>
      </p:grpSp>
      <p:sp>
        <p:nvSpPr>
          <p:cNvPr id="27" name="Shape 24"/>
          <p:cNvSpPr/>
          <p:nvPr/>
        </p:nvSpPr>
        <p:spPr>
          <a:xfrm>
            <a:off x="12001500" y="13144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28" name="Text 25"/>
          <p:cNvSpPr/>
          <p:nvPr/>
        </p:nvSpPr>
        <p:spPr>
          <a:xfrm>
            <a:off x="12001500" y="1028700"/>
            <a:ext cx="12997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· 컴포넌트</a:t>
            </a:r>
            <a:endParaRPr lang="en-US" sz="1650" dirty="0"/>
          </a:p>
        </p:txBody>
      </p:sp>
      <p:sp>
        <p:nvSpPr>
          <p:cNvPr id="29" name="Text 26"/>
          <p:cNvSpPr/>
          <p:nvPr/>
        </p:nvSpPr>
        <p:spPr>
          <a:xfrm>
            <a:off x="13320266" y="1104900"/>
            <a:ext cx="15653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Purpose · Components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12001500" y="1428750"/>
            <a:ext cx="623963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검출 무료 정책의 운영 안전망. B-6 6번 어뷰징 대응 구체화</a:t>
            </a:r>
            <a:endParaRPr lang="en-US" sz="1650" dirty="0"/>
          </a:p>
        </p:txBody>
      </p:sp>
      <p:sp>
        <p:nvSpPr>
          <p:cNvPr id="31" name="Shape 28"/>
          <p:cNvSpPr/>
          <p:nvPr/>
        </p:nvSpPr>
        <p:spPr>
          <a:xfrm>
            <a:off x="12001500" y="214312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2" name="Shape 29"/>
          <p:cNvSpPr/>
          <p:nvPr/>
        </p:nvSpPr>
        <p:spPr>
          <a:xfrm>
            <a:off x="12001500" y="18859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3" name="Text 30"/>
          <p:cNvSpPr/>
          <p:nvPr/>
        </p:nvSpPr>
        <p:spPr>
          <a:xfrm>
            <a:off x="11963400" y="18859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2287250" y="18669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상단 메트릭 카드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자동 차단 · 수동 검토 · 해제 통계</a:t>
            </a:r>
            <a:endParaRPr lang="en-US" sz="1425" dirty="0"/>
          </a:p>
        </p:txBody>
      </p:sp>
      <p:sp>
        <p:nvSpPr>
          <p:cNvPr id="35" name="Shape 32"/>
          <p:cNvSpPr/>
          <p:nvPr/>
        </p:nvSpPr>
        <p:spPr>
          <a:xfrm>
            <a:off x="12001500" y="247650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6" name="Shape 33"/>
          <p:cNvSpPr/>
          <p:nvPr/>
        </p:nvSpPr>
        <p:spPr>
          <a:xfrm>
            <a:off x="12001500" y="221932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7" name="Text 34"/>
          <p:cNvSpPr/>
          <p:nvPr/>
        </p:nvSpPr>
        <p:spPr>
          <a:xfrm>
            <a:off x="11963400" y="221932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2287250" y="220027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의심 활동 카드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사용자 ID 해시 · IP · 디바이스 · 트리거 룰</a:t>
            </a:r>
            <a:endParaRPr lang="en-US" sz="1425" dirty="0"/>
          </a:p>
        </p:txBody>
      </p:sp>
      <p:sp>
        <p:nvSpPr>
          <p:cNvPr id="39" name="Shape 36"/>
          <p:cNvSpPr/>
          <p:nvPr/>
        </p:nvSpPr>
        <p:spPr>
          <a:xfrm>
            <a:off x="12001500" y="280987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0" name="Shape 37"/>
          <p:cNvSpPr/>
          <p:nvPr/>
        </p:nvSpPr>
        <p:spPr>
          <a:xfrm>
            <a:off x="12001500" y="255270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1" name="Text 38"/>
          <p:cNvSpPr/>
          <p:nvPr/>
        </p:nvSpPr>
        <p:spPr>
          <a:xfrm>
            <a:off x="11963400" y="255270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2287250" y="253365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활동 상세 로그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시간순. 같은 IP의 패턴·캠페인 추적</a:t>
            </a:r>
            <a:endParaRPr lang="en-US" sz="1425" dirty="0"/>
          </a:p>
        </p:txBody>
      </p:sp>
      <p:sp>
        <p:nvSpPr>
          <p:cNvPr id="43" name="Shape 40"/>
          <p:cNvSpPr/>
          <p:nvPr/>
        </p:nvSpPr>
        <p:spPr>
          <a:xfrm>
            <a:off x="12001500" y="28860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4" name="Text 41"/>
          <p:cNvSpPr/>
          <p:nvPr/>
        </p:nvSpPr>
        <p:spPr>
          <a:xfrm>
            <a:off x="11963400" y="28860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12287250" y="286702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액션 (차단·해제·일시 잠금)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사유 입력 필수 → 감사 로그 (27)에 기록</a:t>
            </a:r>
            <a:endParaRPr lang="en-US" sz="1425" dirty="0"/>
          </a:p>
        </p:txBody>
      </p:sp>
      <p:sp>
        <p:nvSpPr>
          <p:cNvPr id="46" name="Shape 43"/>
          <p:cNvSpPr/>
          <p:nvPr/>
        </p:nvSpPr>
        <p:spPr>
          <a:xfrm>
            <a:off x="12001500" y="35242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7" name="Text 44"/>
          <p:cNvSpPr/>
          <p:nvPr/>
        </p:nvSpPr>
        <p:spPr>
          <a:xfrm>
            <a:off x="12001500" y="3238500"/>
            <a:ext cx="9603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/ 이탈</a:t>
            </a:r>
            <a:endParaRPr lang="en-US" sz="1650" dirty="0"/>
          </a:p>
        </p:txBody>
      </p:sp>
      <p:sp>
        <p:nvSpPr>
          <p:cNvPr id="48" name="Text 45"/>
          <p:cNvSpPr/>
          <p:nvPr/>
        </p:nvSpPr>
        <p:spPr>
          <a:xfrm>
            <a:off x="12980938" y="3314700"/>
            <a:ext cx="7868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Entry · Exit</a:t>
            </a:r>
            <a:endParaRPr lang="en-US" sz="1050" dirty="0"/>
          </a:p>
        </p:txBody>
      </p:sp>
      <p:sp>
        <p:nvSpPr>
          <p:cNvPr id="49" name="Shape 46"/>
          <p:cNvSpPr/>
          <p:nvPr/>
        </p:nvSpPr>
        <p:spPr>
          <a:xfrm>
            <a:off x="12006263" y="3643313"/>
            <a:ext cx="1047750" cy="34290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2091988" y="3690937"/>
            <a:ext cx="9525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</a:t>
            </a:r>
            <a:endParaRPr lang="en-US" sz="1425" dirty="0"/>
          </a:p>
        </p:txBody>
      </p:sp>
      <p:sp>
        <p:nvSpPr>
          <p:cNvPr id="51" name="Shape 48"/>
          <p:cNvSpPr/>
          <p:nvPr/>
        </p:nvSpPr>
        <p:spPr>
          <a:xfrm>
            <a:off x="13054013" y="3643313"/>
            <a:ext cx="5000625" cy="34290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3179743" y="3686175"/>
            <a:ext cx="487013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로그인</a:t>
            </a:r>
            <a:endParaRPr lang="en-US" sz="1425" dirty="0"/>
          </a:p>
        </p:txBody>
      </p:sp>
      <p:sp>
        <p:nvSpPr>
          <p:cNvPr id="53" name="Shape 50"/>
          <p:cNvSpPr/>
          <p:nvPr/>
        </p:nvSpPr>
        <p:spPr>
          <a:xfrm>
            <a:off x="12006263" y="3986213"/>
            <a:ext cx="1047750" cy="34290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2091988" y="4033837"/>
            <a:ext cx="9525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/ 다음</a:t>
            </a:r>
            <a:endParaRPr lang="en-US" sz="1425" dirty="0"/>
          </a:p>
        </p:txBody>
      </p:sp>
      <p:sp>
        <p:nvSpPr>
          <p:cNvPr id="55" name="Shape 52"/>
          <p:cNvSpPr/>
          <p:nvPr/>
        </p:nvSpPr>
        <p:spPr>
          <a:xfrm>
            <a:off x="13054013" y="3986213"/>
            <a:ext cx="5000625" cy="34290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3179743" y="4029075"/>
            <a:ext cx="487013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액션 후 동일 페이지 · 27 컴플라이언스 감사</a:t>
            </a:r>
            <a:endParaRPr lang="en-US" sz="1425" dirty="0"/>
          </a:p>
        </p:txBody>
      </p:sp>
      <p:sp>
        <p:nvSpPr>
          <p:cNvPr id="57" name="Shape 54"/>
          <p:cNvSpPr/>
          <p:nvPr/>
        </p:nvSpPr>
        <p:spPr>
          <a:xfrm>
            <a:off x="12001500" y="4714875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8" name="Text 55"/>
          <p:cNvSpPr/>
          <p:nvPr/>
        </p:nvSpPr>
        <p:spPr>
          <a:xfrm>
            <a:off x="12001500" y="4429125"/>
            <a:ext cx="849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분기·규칙</a:t>
            </a:r>
            <a:endParaRPr lang="en-US" sz="1650" dirty="0"/>
          </a:p>
        </p:txBody>
      </p:sp>
      <p:sp>
        <p:nvSpPr>
          <p:cNvPr id="59" name="Text 56"/>
          <p:cNvSpPr/>
          <p:nvPr/>
        </p:nvSpPr>
        <p:spPr>
          <a:xfrm>
            <a:off x="12869912" y="4505325"/>
            <a:ext cx="4344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Rules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12006263" y="4833938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2091988" y="4881562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식별자 (B-1)</a:t>
            </a:r>
            <a:endParaRPr lang="en-US" sz="1425" dirty="0"/>
          </a:p>
        </p:txBody>
      </p:sp>
      <p:sp>
        <p:nvSpPr>
          <p:cNvPr id="62" name="Shape 59"/>
          <p:cNvSpPr/>
          <p:nvPr/>
        </p:nvSpPr>
        <p:spPr>
          <a:xfrm>
            <a:off x="13054013" y="4833938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3139738" y="4881562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해시 (실명 ✕)</a:t>
            </a:r>
            <a:endParaRPr lang="en-US" sz="1425" dirty="0"/>
          </a:p>
        </p:txBody>
      </p:sp>
      <p:sp>
        <p:nvSpPr>
          <p:cNvPr id="64" name="Shape 61"/>
          <p:cNvSpPr/>
          <p:nvPr/>
        </p:nvSpPr>
        <p:spPr>
          <a:xfrm>
            <a:off x="12006263" y="5395913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12091988" y="5443538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트리거 룰</a:t>
            </a:r>
            <a:endParaRPr lang="en-US" sz="1425" dirty="0"/>
          </a:p>
        </p:txBody>
      </p:sp>
      <p:sp>
        <p:nvSpPr>
          <p:cNvPr id="66" name="Shape 63"/>
          <p:cNvSpPr/>
          <p:nvPr/>
        </p:nvSpPr>
        <p:spPr>
          <a:xfrm>
            <a:off x="13054013" y="5395913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3139738" y="5443538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"1시간 내 100건 검출 시도" 등 임계값 기반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12006263" y="5719763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2091988" y="5767387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차등</a:t>
            </a:r>
            <a:endParaRPr lang="en-US" sz="1425" dirty="0"/>
          </a:p>
        </p:txBody>
      </p:sp>
      <p:sp>
        <p:nvSpPr>
          <p:cNvPr id="70" name="Shape 67"/>
          <p:cNvSpPr/>
          <p:nvPr/>
        </p:nvSpPr>
        <p:spPr>
          <a:xfrm>
            <a:off x="13054013" y="5719763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3139738" y="5767387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관리자=조회·차단/해제 · 슈퍼=임계값 조정 · v2=ML 룰 추가</a:t>
            </a:r>
            <a:endParaRPr lang="en-US" sz="1425" dirty="0"/>
          </a:p>
        </p:txBody>
      </p:sp>
      <p:sp>
        <p:nvSpPr>
          <p:cNvPr id="72" name="Shape 69"/>
          <p:cNvSpPr/>
          <p:nvPr/>
        </p:nvSpPr>
        <p:spPr>
          <a:xfrm>
            <a:off x="0" y="9944100"/>
            <a:ext cx="18288000" cy="3429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73" name="Shape 70"/>
          <p:cNvSpPr/>
          <p:nvPr/>
        </p:nvSpPr>
        <p:spPr>
          <a:xfrm>
            <a:off x="0" y="9944100"/>
            <a:ext cx="18288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74" name="Text 71"/>
          <p:cNvSpPr/>
          <p:nvPr/>
        </p:nvSpPr>
        <p:spPr>
          <a:xfrm>
            <a:off x="304800" y="10034588"/>
            <a:ext cx="456598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54" dirty="0">
                <a:solidFill>
                  <a:srgbClr val="798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· 화면설계서 v1.0 · #admin.garim.kr/abuse</a:t>
            </a:r>
            <a:endParaRPr lang="en-US" sz="1200" dirty="0"/>
          </a:p>
        </p:txBody>
      </p:sp>
      <p:sp>
        <p:nvSpPr>
          <p:cNvPr id="75" name="Text 72"/>
          <p:cNvSpPr/>
          <p:nvPr/>
        </p:nvSpPr>
        <p:spPr>
          <a:xfrm>
            <a:off x="12716470" y="10020300"/>
            <a:ext cx="542473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P25 · 어뷰징 모니터링 · ref: Cloudflare WAF · Datadog 보안 모니터링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228600" y="1343025"/>
            <a:ext cx="11582400" cy="8486775"/>
          </a:xfrm>
          <a:prstGeom prst="roundRect">
            <a:avLst>
              <a:gd name="adj" fmla="val 224"/>
            </a:avLst>
          </a:prstGeom>
          <a:solidFill>
            <a:srgbClr val="FFFFFF"/>
          </a:solidFill>
          <a:ln w="9525">
            <a:solidFill>
              <a:srgbClr val="B8BDC7"/>
            </a:solidFill>
            <a:prstDash val="solid"/>
          </a:ln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82" name="그림 8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489472"/>
            <a:ext cx="10991850" cy="77724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876300"/>
            <a:ext cx="18288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00200" cy="91440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" name="Text 2"/>
          <p:cNvSpPr/>
          <p:nvPr/>
        </p:nvSpPr>
        <p:spPr>
          <a:xfrm>
            <a:off x="560636" y="147638"/>
            <a:ext cx="5549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216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5335" y="309563"/>
            <a:ext cx="6057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kern="0" spc="-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26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828800" y="152400"/>
            <a:ext cx="1268039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27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큐 관리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28800" y="561975"/>
            <a:ext cx="1268039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Queue Management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368463" y="0"/>
            <a:ext cx="9525" cy="914400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" name="Shape 7"/>
          <p:cNvSpPr/>
          <p:nvPr/>
        </p:nvSpPr>
        <p:spPr>
          <a:xfrm>
            <a:off x="14644688" y="304800"/>
            <a:ext cx="692200" cy="304800"/>
          </a:xfrm>
          <a:prstGeom prst="roundRect">
            <a:avLst>
              <a:gd name="adj" fmla="val 12500"/>
            </a:avLst>
          </a:prstGeom>
          <a:solidFill>
            <a:srgbClr val="455A64"/>
          </a:solidFill>
          <a:ln w="9525">
            <a:solidFill>
              <a:srgbClr val="455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768513" y="314325"/>
            <a:ext cx="520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432137" y="304800"/>
            <a:ext cx="831503" cy="304800"/>
          </a:xfrm>
          <a:prstGeom prst="roundRect">
            <a:avLst>
              <a:gd name="adj" fmla="val 12500"/>
            </a:avLst>
          </a:prstGeom>
          <a:solidFill>
            <a:srgbClr val="0288D1"/>
          </a:solidFill>
          <a:ln w="9525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55962" y="314325"/>
            <a:ext cx="6600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6358890" y="314325"/>
            <a:ext cx="166241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473190" y="314325"/>
            <a:ext cx="1510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2026.05.14 · v1.0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8600" y="1066800"/>
            <a:ext cx="2028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와이어 / Hi-Fi Mockup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576941" y="1066800"/>
            <a:ext cx="2195959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admin.garim.kr/queue</a:t>
            </a:r>
            <a:endParaRPr lang="en-US" sz="1350" dirty="0"/>
          </a:p>
        </p:txBody>
      </p:sp>
      <p:grpSp>
        <p:nvGrpSpPr>
          <p:cNvPr id="83" name="그룹 82"/>
          <p:cNvGrpSpPr/>
          <p:nvPr/>
        </p:nvGrpSpPr>
        <p:grpSpPr>
          <a:xfrm>
            <a:off x="5829300" y="2342649"/>
            <a:ext cx="381000" cy="361950"/>
            <a:chOff x="5829300" y="2342649"/>
            <a:chExt cx="381000" cy="361950"/>
          </a:xfrm>
        </p:grpSpPr>
        <p:sp>
          <p:nvSpPr>
            <p:cNvPr id="19" name="Shape 16"/>
            <p:cNvSpPr/>
            <p:nvPr/>
          </p:nvSpPr>
          <p:spPr>
            <a:xfrm>
              <a:off x="5848350" y="2342649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0" name="Text 17"/>
            <p:cNvSpPr/>
            <p:nvPr/>
          </p:nvSpPr>
          <p:spPr>
            <a:xfrm>
              <a:off x="5829300" y="2361699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</a:t>
              </a:r>
              <a:endParaRPr lang="en-US" sz="1350" dirty="0"/>
            </a:p>
          </p:txBody>
        </p:sp>
      </p:grpSp>
      <p:sp>
        <p:nvSpPr>
          <p:cNvPr id="21" name="Shape 18"/>
          <p:cNvSpPr/>
          <p:nvPr/>
        </p:nvSpPr>
        <p:spPr>
          <a:xfrm>
            <a:off x="3535561" y="4229398"/>
            <a:ext cx="342900" cy="342900"/>
          </a:xfrm>
          <a:prstGeom prst="ellipse">
            <a:avLst/>
          </a:prstGeom>
          <a:solidFill>
            <a:srgbClr val="D32F2F"/>
          </a:solidFill>
          <a:ln w="19050">
            <a:solidFill>
              <a:srgbClr val="FFFFFF"/>
            </a:solidFill>
            <a:prstDash val="solid"/>
          </a:ln>
          <a:effectLst>
            <a:outerShdw blurRad="57150" dist="1905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516511" y="4248448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50" dirty="0"/>
          </a:p>
        </p:txBody>
      </p:sp>
      <p:grpSp>
        <p:nvGrpSpPr>
          <p:cNvPr id="84" name="그룹 83"/>
          <p:cNvGrpSpPr/>
          <p:nvPr/>
        </p:nvGrpSpPr>
        <p:grpSpPr>
          <a:xfrm>
            <a:off x="2397292" y="5557838"/>
            <a:ext cx="381000" cy="361950"/>
            <a:chOff x="8141940" y="4229398"/>
            <a:chExt cx="381000" cy="361950"/>
          </a:xfrm>
        </p:grpSpPr>
        <p:sp>
          <p:nvSpPr>
            <p:cNvPr id="23" name="Shape 20"/>
            <p:cNvSpPr/>
            <p:nvPr/>
          </p:nvSpPr>
          <p:spPr>
            <a:xfrm>
              <a:off x="8160990" y="4229398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4" name="Text 21"/>
            <p:cNvSpPr/>
            <p:nvPr/>
          </p:nvSpPr>
          <p:spPr>
            <a:xfrm>
              <a:off x="8141940" y="4248448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3</a:t>
              </a:r>
              <a:endParaRPr lang="en-US" sz="1350" dirty="0"/>
            </a:p>
          </p:txBody>
        </p:sp>
      </p:grpSp>
      <p:grpSp>
        <p:nvGrpSpPr>
          <p:cNvPr id="85" name="그룹 84"/>
          <p:cNvGrpSpPr/>
          <p:nvPr/>
        </p:nvGrpSpPr>
        <p:grpSpPr>
          <a:xfrm>
            <a:off x="8953500" y="5738813"/>
            <a:ext cx="381000" cy="361950"/>
            <a:chOff x="5829300" y="7616428"/>
            <a:chExt cx="381000" cy="361950"/>
          </a:xfrm>
        </p:grpSpPr>
        <p:sp>
          <p:nvSpPr>
            <p:cNvPr id="25" name="Shape 22"/>
            <p:cNvSpPr/>
            <p:nvPr/>
          </p:nvSpPr>
          <p:spPr>
            <a:xfrm>
              <a:off x="5848350" y="7616428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6" name="Text 23"/>
            <p:cNvSpPr/>
            <p:nvPr/>
          </p:nvSpPr>
          <p:spPr>
            <a:xfrm>
              <a:off x="5829300" y="7635478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4</a:t>
              </a:r>
              <a:endParaRPr lang="en-US" sz="1350" dirty="0"/>
            </a:p>
          </p:txBody>
        </p:sp>
      </p:grpSp>
      <p:grpSp>
        <p:nvGrpSpPr>
          <p:cNvPr id="86" name="그룹 85"/>
          <p:cNvGrpSpPr/>
          <p:nvPr/>
        </p:nvGrpSpPr>
        <p:grpSpPr>
          <a:xfrm>
            <a:off x="9124950" y="2181225"/>
            <a:ext cx="381000" cy="361950"/>
            <a:chOff x="9992023" y="8971359"/>
            <a:chExt cx="381000" cy="361950"/>
          </a:xfrm>
        </p:grpSpPr>
        <p:sp>
          <p:nvSpPr>
            <p:cNvPr id="27" name="Shape 24"/>
            <p:cNvSpPr/>
            <p:nvPr/>
          </p:nvSpPr>
          <p:spPr>
            <a:xfrm>
              <a:off x="10011073" y="8971359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8" name="Text 25"/>
            <p:cNvSpPr/>
            <p:nvPr/>
          </p:nvSpPr>
          <p:spPr>
            <a:xfrm>
              <a:off x="9992023" y="8990409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5</a:t>
              </a:r>
              <a:endParaRPr lang="en-US" sz="1350" dirty="0"/>
            </a:p>
          </p:txBody>
        </p:sp>
      </p:grpSp>
      <p:sp>
        <p:nvSpPr>
          <p:cNvPr id="29" name="Shape 26"/>
          <p:cNvSpPr/>
          <p:nvPr/>
        </p:nvSpPr>
        <p:spPr>
          <a:xfrm>
            <a:off x="12001500" y="13144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0" name="Text 27"/>
          <p:cNvSpPr/>
          <p:nvPr/>
        </p:nvSpPr>
        <p:spPr>
          <a:xfrm>
            <a:off x="12001500" y="1028700"/>
            <a:ext cx="12997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· 컴포넌트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3320266" y="1104900"/>
            <a:ext cx="15653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Purpose · Components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2001500" y="1428750"/>
            <a:ext cx="6239637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실시간 처리·GPU 인프라 모니터링. B-6 9번 GPU 비용 폭증 운영 대응 핵심</a:t>
            </a:r>
            <a:endParaRPr lang="en-US" sz="1650" dirty="0"/>
          </a:p>
        </p:txBody>
      </p:sp>
      <p:sp>
        <p:nvSpPr>
          <p:cNvPr id="33" name="Shape 30"/>
          <p:cNvSpPr/>
          <p:nvPr/>
        </p:nvSpPr>
        <p:spPr>
          <a:xfrm>
            <a:off x="12001500" y="270510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4" name="Shape 31"/>
          <p:cNvSpPr/>
          <p:nvPr/>
        </p:nvSpPr>
        <p:spPr>
          <a:xfrm>
            <a:off x="12001500" y="22002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5" name="Text 32"/>
          <p:cNvSpPr/>
          <p:nvPr/>
        </p:nvSpPr>
        <p:spPr>
          <a:xfrm>
            <a:off x="11963400" y="22002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2287250" y="2181225"/>
            <a:ext cx="594531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상단 메트릭 6개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큐 수 · 평균 대기 · GPU 사용률 · 시간당 완료 · 실패율 · 활성 워커</a:t>
            </a:r>
            <a:endParaRPr lang="en-US" sz="1425" dirty="0"/>
          </a:p>
        </p:txBody>
      </p:sp>
      <p:sp>
        <p:nvSpPr>
          <p:cNvPr id="37" name="Shape 34"/>
          <p:cNvSpPr/>
          <p:nvPr/>
        </p:nvSpPr>
        <p:spPr>
          <a:xfrm>
            <a:off x="12001500" y="303847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8" name="Shape 35"/>
          <p:cNvSpPr/>
          <p:nvPr/>
        </p:nvSpPr>
        <p:spPr>
          <a:xfrm>
            <a:off x="12001500" y="278130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9" name="Text 36"/>
          <p:cNvSpPr/>
          <p:nvPr/>
        </p:nvSpPr>
        <p:spPr>
          <a:xfrm>
            <a:off x="11963400" y="278130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2287250" y="276225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시간별 차트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24h 처리량 · 실패율 추이 · 큐 길이 추이</a:t>
            </a:r>
            <a:endParaRPr lang="en-US" sz="1425" dirty="0"/>
          </a:p>
        </p:txBody>
      </p:sp>
      <p:sp>
        <p:nvSpPr>
          <p:cNvPr id="41" name="Shape 38"/>
          <p:cNvSpPr/>
          <p:nvPr/>
        </p:nvSpPr>
        <p:spPr>
          <a:xfrm>
            <a:off x="12001500" y="337185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2" name="Shape 39"/>
          <p:cNvSpPr/>
          <p:nvPr/>
        </p:nvSpPr>
        <p:spPr>
          <a:xfrm>
            <a:off x="12001500" y="311467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3" name="Text 40"/>
          <p:cNvSpPr/>
          <p:nvPr/>
        </p:nvSpPr>
        <p:spPr>
          <a:xfrm>
            <a:off x="11963400" y="311467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2287250" y="309562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작업 리스트 (가상 스크롤)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작업 ID · 플랜 · 상태 · 우선순위 · 진입 시각 · 진행률</a:t>
            </a:r>
            <a:endParaRPr lang="en-US" sz="1425" dirty="0"/>
          </a:p>
        </p:txBody>
      </p:sp>
      <p:sp>
        <p:nvSpPr>
          <p:cNvPr id="45" name="Shape 42"/>
          <p:cNvSpPr/>
          <p:nvPr/>
        </p:nvSpPr>
        <p:spPr>
          <a:xfrm>
            <a:off x="12001500" y="370522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6" name="Shape 43"/>
          <p:cNvSpPr/>
          <p:nvPr/>
        </p:nvSpPr>
        <p:spPr>
          <a:xfrm>
            <a:off x="12001500" y="34480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7" name="Text 44"/>
          <p:cNvSpPr/>
          <p:nvPr/>
        </p:nvSpPr>
        <p:spPr>
          <a:xfrm>
            <a:off x="11963400" y="34480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2287250" y="34290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GPU 워커 카드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사용률 · 메모리 · 온도 · 현재 작업. 이상 워커 자동 강조</a:t>
            </a:r>
            <a:endParaRPr lang="en-US" sz="1425" dirty="0"/>
          </a:p>
        </p:txBody>
      </p:sp>
      <p:sp>
        <p:nvSpPr>
          <p:cNvPr id="49" name="Shape 46"/>
          <p:cNvSpPr/>
          <p:nvPr/>
        </p:nvSpPr>
        <p:spPr>
          <a:xfrm>
            <a:off x="12001500" y="378142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50" name="Text 47"/>
          <p:cNvSpPr/>
          <p:nvPr/>
        </p:nvSpPr>
        <p:spPr>
          <a:xfrm>
            <a:off x="11963400" y="378142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2287250" y="376237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큐 일시 정지·재개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슈퍼관리자 + 확인 모달</a:t>
            </a:r>
            <a:endParaRPr lang="en-US" sz="1425" dirty="0"/>
          </a:p>
        </p:txBody>
      </p:sp>
      <p:sp>
        <p:nvSpPr>
          <p:cNvPr id="52" name="Shape 49"/>
          <p:cNvSpPr/>
          <p:nvPr/>
        </p:nvSpPr>
        <p:spPr>
          <a:xfrm>
            <a:off x="12001500" y="441960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3" name="Text 50"/>
          <p:cNvSpPr/>
          <p:nvPr/>
        </p:nvSpPr>
        <p:spPr>
          <a:xfrm>
            <a:off x="12001500" y="4133850"/>
            <a:ext cx="9603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/ 이탈</a:t>
            </a:r>
            <a:endParaRPr lang="en-US" sz="1650" dirty="0"/>
          </a:p>
        </p:txBody>
      </p:sp>
      <p:sp>
        <p:nvSpPr>
          <p:cNvPr id="54" name="Text 51"/>
          <p:cNvSpPr/>
          <p:nvPr/>
        </p:nvSpPr>
        <p:spPr>
          <a:xfrm>
            <a:off x="12980938" y="4210050"/>
            <a:ext cx="7868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Entry · Exit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12006263" y="4538663"/>
            <a:ext cx="1047750" cy="34290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2091988" y="4586288"/>
            <a:ext cx="95250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</a:t>
            </a:r>
            <a:endParaRPr lang="en-US" sz="1425" dirty="0"/>
          </a:p>
        </p:txBody>
      </p:sp>
      <p:sp>
        <p:nvSpPr>
          <p:cNvPr id="57" name="Shape 54"/>
          <p:cNvSpPr/>
          <p:nvPr/>
        </p:nvSpPr>
        <p:spPr>
          <a:xfrm>
            <a:off x="13054013" y="4538663"/>
            <a:ext cx="5000625" cy="34290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3179743" y="4581525"/>
            <a:ext cx="4870133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대시보드 → 큐</a:t>
            </a:r>
            <a:endParaRPr lang="en-US" sz="1425" dirty="0"/>
          </a:p>
        </p:txBody>
      </p:sp>
      <p:sp>
        <p:nvSpPr>
          <p:cNvPr id="59" name="Shape 56"/>
          <p:cNvSpPr/>
          <p:nvPr/>
        </p:nvSpPr>
        <p:spPr>
          <a:xfrm>
            <a:off x="12006263" y="4881563"/>
            <a:ext cx="1047750" cy="8572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2091988" y="4929188"/>
            <a:ext cx="95250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/ 다음</a:t>
            </a:r>
            <a:endParaRPr lang="en-US" sz="1425" dirty="0"/>
          </a:p>
        </p:txBody>
      </p:sp>
      <p:sp>
        <p:nvSpPr>
          <p:cNvPr id="61" name="Shape 58"/>
          <p:cNvSpPr/>
          <p:nvPr/>
        </p:nvSpPr>
        <p:spPr>
          <a:xfrm>
            <a:off x="13054013" y="4881563"/>
            <a:ext cx="5000625" cy="8572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3179743" y="4924425"/>
            <a:ext cx="4870133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우선순위 조정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워커 재시작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큐 일시 정지·재개</a:t>
            </a:r>
            <a:endParaRPr lang="en-US" sz="1425" dirty="0"/>
          </a:p>
        </p:txBody>
      </p:sp>
      <p:sp>
        <p:nvSpPr>
          <p:cNvPr id="63" name="Shape 60"/>
          <p:cNvSpPr/>
          <p:nvPr/>
        </p:nvSpPr>
        <p:spPr>
          <a:xfrm>
            <a:off x="12001500" y="6124575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64" name="Text 61"/>
          <p:cNvSpPr/>
          <p:nvPr/>
        </p:nvSpPr>
        <p:spPr>
          <a:xfrm>
            <a:off x="12001500" y="5838825"/>
            <a:ext cx="849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분기·규칙</a:t>
            </a:r>
            <a:endParaRPr lang="en-US" sz="1650" dirty="0"/>
          </a:p>
        </p:txBody>
      </p:sp>
      <p:sp>
        <p:nvSpPr>
          <p:cNvPr id="65" name="Text 62"/>
          <p:cNvSpPr/>
          <p:nvPr/>
        </p:nvSpPr>
        <p:spPr>
          <a:xfrm>
            <a:off x="12869912" y="5915025"/>
            <a:ext cx="4344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Rules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12006263" y="6243638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2091988" y="6291263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GPU 이상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13054013" y="6243638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3139738" y="6291263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자동 알림 + 자동 복구 시도</a:t>
            </a:r>
            <a:endParaRPr lang="en-US" sz="1425" dirty="0"/>
          </a:p>
        </p:txBody>
      </p:sp>
      <p:sp>
        <p:nvSpPr>
          <p:cNvPr id="70" name="Shape 67"/>
          <p:cNvSpPr/>
          <p:nvPr/>
        </p:nvSpPr>
        <p:spPr>
          <a:xfrm>
            <a:off x="12006263" y="6567488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2091988" y="6615113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우선순위</a:t>
            </a:r>
            <a:endParaRPr lang="en-US" sz="1425" dirty="0"/>
          </a:p>
        </p:txBody>
      </p:sp>
      <p:sp>
        <p:nvSpPr>
          <p:cNvPr id="72" name="Shape 69"/>
          <p:cNvSpPr/>
          <p:nvPr/>
        </p:nvSpPr>
        <p:spPr>
          <a:xfrm>
            <a:off x="13054013" y="6567488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3139738" y="6615113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드래그 또는 액션. 플랜별 기본값</a:t>
            </a:r>
            <a:endParaRPr lang="en-US" sz="1425" dirty="0"/>
          </a:p>
        </p:txBody>
      </p:sp>
      <p:sp>
        <p:nvSpPr>
          <p:cNvPr id="74" name="Shape 71"/>
          <p:cNvSpPr/>
          <p:nvPr/>
        </p:nvSpPr>
        <p:spPr>
          <a:xfrm>
            <a:off x="12006263" y="6891338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2091988" y="6938962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</a:t>
            </a:r>
            <a:endParaRPr lang="en-US" sz="1425" dirty="0"/>
          </a:p>
        </p:txBody>
      </p:sp>
      <p:sp>
        <p:nvSpPr>
          <p:cNvPr id="76" name="Shape 73"/>
          <p:cNvSpPr/>
          <p:nvPr/>
        </p:nvSpPr>
        <p:spPr>
          <a:xfrm>
            <a:off x="13054013" y="6891338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13139738" y="6938962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단일 큐. v1 정식 = 플랜별 우선순위</a:t>
            </a:r>
            <a:endParaRPr lang="en-US" sz="1425" dirty="0"/>
          </a:p>
        </p:txBody>
      </p:sp>
      <p:sp>
        <p:nvSpPr>
          <p:cNvPr id="78" name="Shape 75"/>
          <p:cNvSpPr/>
          <p:nvPr/>
        </p:nvSpPr>
        <p:spPr>
          <a:xfrm>
            <a:off x="0" y="9944100"/>
            <a:ext cx="18288000" cy="3429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79" name="Shape 76"/>
          <p:cNvSpPr/>
          <p:nvPr/>
        </p:nvSpPr>
        <p:spPr>
          <a:xfrm>
            <a:off x="0" y="9944100"/>
            <a:ext cx="18288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80" name="Text 77"/>
          <p:cNvSpPr/>
          <p:nvPr/>
        </p:nvSpPr>
        <p:spPr>
          <a:xfrm>
            <a:off x="304800" y="10034588"/>
            <a:ext cx="456598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54" dirty="0">
                <a:solidFill>
                  <a:srgbClr val="798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· 화면설계서 v1.0 · #admin.garim.kr/queue</a:t>
            </a:r>
            <a:endParaRPr lang="en-US" sz="1200" dirty="0"/>
          </a:p>
        </p:txBody>
      </p:sp>
      <p:sp>
        <p:nvSpPr>
          <p:cNvPr id="81" name="Text 78"/>
          <p:cNvSpPr/>
          <p:nvPr/>
        </p:nvSpPr>
        <p:spPr>
          <a:xfrm>
            <a:off x="12724061" y="10020300"/>
            <a:ext cx="541691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P26 · 처리 큐 관리 · ref: Vercel Analytics · Datadog APM · Grafana</a:t>
            </a:r>
            <a:endParaRPr lang="en-US" sz="13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5"/>
          <p:cNvSpPr/>
          <p:nvPr/>
        </p:nvSpPr>
        <p:spPr>
          <a:xfrm>
            <a:off x="228600" y="1343025"/>
            <a:ext cx="11582400" cy="8486775"/>
          </a:xfrm>
          <a:prstGeom prst="roundRect">
            <a:avLst>
              <a:gd name="adj" fmla="val 224"/>
            </a:avLst>
          </a:prstGeom>
          <a:solidFill>
            <a:srgbClr val="FFFFFF"/>
          </a:solidFill>
          <a:ln w="9525">
            <a:solidFill>
              <a:srgbClr val="B8BDC7"/>
            </a:solidFill>
            <a:prstDash val="solid"/>
          </a:ln>
          <a:effectLst>
            <a:outerShdw blurRad="57150" dist="19050" dir="5400000" algn="bl" rotWithShape="0">
              <a:srgbClr val="000000">
                <a:alpha val="5000"/>
              </a:srgbClr>
            </a:outerShdw>
          </a:effectLst>
        </p:spPr>
      </p:sp>
      <p:pic>
        <p:nvPicPr>
          <p:cNvPr id="86" name="그림 8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624013"/>
            <a:ext cx="10991850" cy="7772400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876300"/>
            <a:ext cx="182880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00200" cy="91440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4" name="Text 2"/>
          <p:cNvSpPr/>
          <p:nvPr/>
        </p:nvSpPr>
        <p:spPr>
          <a:xfrm>
            <a:off x="560636" y="147638"/>
            <a:ext cx="55498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kern="0" spc="216" dirty="0">
                <a:solidFill>
                  <a:srgbClr val="FFFFFF">
                    <a:alpha val="5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35335" y="309563"/>
            <a:ext cx="6057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300" b="1" kern="0" spc="-33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27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828800" y="152400"/>
            <a:ext cx="1268039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700" b="1" kern="0" spc="-27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컴플라이언스 로그·감사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1828800" y="561975"/>
            <a:ext cx="1268039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Compliance Audit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14368463" y="0"/>
            <a:ext cx="9525" cy="914400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9" name="Shape 7"/>
          <p:cNvSpPr/>
          <p:nvPr/>
        </p:nvSpPr>
        <p:spPr>
          <a:xfrm>
            <a:off x="14644688" y="304800"/>
            <a:ext cx="692200" cy="304800"/>
          </a:xfrm>
          <a:prstGeom prst="roundRect">
            <a:avLst>
              <a:gd name="adj" fmla="val 12500"/>
            </a:avLst>
          </a:prstGeom>
          <a:solidFill>
            <a:srgbClr val="455A64"/>
          </a:solidFill>
          <a:ln w="9525">
            <a:solidFill>
              <a:srgbClr val="455A6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768513" y="314325"/>
            <a:ext cx="5207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관리자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15432137" y="304800"/>
            <a:ext cx="831503" cy="304800"/>
          </a:xfrm>
          <a:prstGeom prst="roundRect">
            <a:avLst>
              <a:gd name="adj" fmla="val 12500"/>
            </a:avLst>
          </a:prstGeom>
          <a:solidFill>
            <a:srgbClr val="0288D1"/>
          </a:solidFill>
          <a:ln w="9525">
            <a:solidFill>
              <a:srgbClr val="0288D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55962" y="314325"/>
            <a:ext cx="66005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MVP1~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16358890" y="314325"/>
            <a:ext cx="1662410" cy="28575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16473190" y="314325"/>
            <a:ext cx="151001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2026.05.14 · v1.0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28600" y="1066800"/>
            <a:ext cx="20286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와이어 / Hi-Fi Mockup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046964" y="1066800"/>
            <a:ext cx="27292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52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admin.garim.kr/compliance</a:t>
            </a:r>
            <a:endParaRPr lang="en-US" sz="1350" dirty="0"/>
          </a:p>
        </p:txBody>
      </p:sp>
      <p:grpSp>
        <p:nvGrpSpPr>
          <p:cNvPr id="87" name="그룹 86"/>
          <p:cNvGrpSpPr/>
          <p:nvPr/>
        </p:nvGrpSpPr>
        <p:grpSpPr>
          <a:xfrm>
            <a:off x="2467007" y="2676274"/>
            <a:ext cx="381000" cy="361950"/>
            <a:chOff x="5829300" y="1858417"/>
            <a:chExt cx="381000" cy="361950"/>
          </a:xfrm>
        </p:grpSpPr>
        <p:sp>
          <p:nvSpPr>
            <p:cNvPr id="19" name="Shape 16"/>
            <p:cNvSpPr/>
            <p:nvPr/>
          </p:nvSpPr>
          <p:spPr>
            <a:xfrm>
              <a:off x="5848350" y="1858417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0" name="Text 17"/>
            <p:cNvSpPr/>
            <p:nvPr/>
          </p:nvSpPr>
          <p:spPr>
            <a:xfrm>
              <a:off x="5829300" y="1877467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1</a:t>
              </a:r>
              <a:endParaRPr lang="en-US" sz="1350" dirty="0"/>
            </a:p>
          </p:txBody>
        </p:sp>
      </p:grpSp>
      <p:grpSp>
        <p:nvGrpSpPr>
          <p:cNvPr id="88" name="그룹 87"/>
          <p:cNvGrpSpPr/>
          <p:nvPr/>
        </p:nvGrpSpPr>
        <p:grpSpPr>
          <a:xfrm>
            <a:off x="9676679" y="3457575"/>
            <a:ext cx="381000" cy="361950"/>
            <a:chOff x="3516511" y="4229398"/>
            <a:chExt cx="381000" cy="361950"/>
          </a:xfrm>
        </p:grpSpPr>
        <p:sp>
          <p:nvSpPr>
            <p:cNvPr id="21" name="Shape 18"/>
            <p:cNvSpPr/>
            <p:nvPr/>
          </p:nvSpPr>
          <p:spPr>
            <a:xfrm>
              <a:off x="3535561" y="4229398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2" name="Text 19"/>
            <p:cNvSpPr/>
            <p:nvPr/>
          </p:nvSpPr>
          <p:spPr>
            <a:xfrm>
              <a:off x="3516511" y="4248448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2</a:t>
              </a:r>
              <a:endParaRPr lang="en-US" sz="1350" dirty="0"/>
            </a:p>
          </p:txBody>
        </p:sp>
      </p:grpSp>
      <p:grpSp>
        <p:nvGrpSpPr>
          <p:cNvPr id="89" name="그룹 88"/>
          <p:cNvGrpSpPr/>
          <p:nvPr/>
        </p:nvGrpSpPr>
        <p:grpSpPr>
          <a:xfrm>
            <a:off x="4619689" y="2600325"/>
            <a:ext cx="381000" cy="361950"/>
            <a:chOff x="8141940" y="4229398"/>
            <a:chExt cx="381000" cy="361950"/>
          </a:xfrm>
        </p:grpSpPr>
        <p:sp>
          <p:nvSpPr>
            <p:cNvPr id="23" name="Shape 20"/>
            <p:cNvSpPr/>
            <p:nvPr/>
          </p:nvSpPr>
          <p:spPr>
            <a:xfrm>
              <a:off x="8160990" y="4229398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4" name="Text 21"/>
            <p:cNvSpPr/>
            <p:nvPr/>
          </p:nvSpPr>
          <p:spPr>
            <a:xfrm>
              <a:off x="8141940" y="4248448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3</a:t>
              </a:r>
              <a:endParaRPr lang="en-US" sz="1350" dirty="0"/>
            </a:p>
          </p:txBody>
        </p:sp>
      </p:grpSp>
      <p:grpSp>
        <p:nvGrpSpPr>
          <p:cNvPr id="90" name="그룹 89"/>
          <p:cNvGrpSpPr/>
          <p:nvPr/>
        </p:nvGrpSpPr>
        <p:grpSpPr>
          <a:xfrm>
            <a:off x="5543550" y="2619375"/>
            <a:ext cx="381000" cy="361950"/>
            <a:chOff x="3516511" y="7108478"/>
            <a:chExt cx="381000" cy="361950"/>
          </a:xfrm>
        </p:grpSpPr>
        <p:sp>
          <p:nvSpPr>
            <p:cNvPr id="25" name="Shape 22"/>
            <p:cNvSpPr/>
            <p:nvPr/>
          </p:nvSpPr>
          <p:spPr>
            <a:xfrm>
              <a:off x="3535561" y="7108478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6" name="Text 23"/>
            <p:cNvSpPr/>
            <p:nvPr/>
          </p:nvSpPr>
          <p:spPr>
            <a:xfrm>
              <a:off x="3516511" y="7127528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4</a:t>
              </a:r>
              <a:endParaRPr lang="en-US" sz="1350" dirty="0"/>
            </a:p>
          </p:txBody>
        </p:sp>
      </p:grpSp>
      <p:grpSp>
        <p:nvGrpSpPr>
          <p:cNvPr id="91" name="그룹 90"/>
          <p:cNvGrpSpPr/>
          <p:nvPr/>
        </p:nvGrpSpPr>
        <p:grpSpPr>
          <a:xfrm>
            <a:off x="6800866" y="2619375"/>
            <a:ext cx="381000" cy="361950"/>
            <a:chOff x="8141940" y="7108478"/>
            <a:chExt cx="381000" cy="361950"/>
          </a:xfrm>
        </p:grpSpPr>
        <p:sp>
          <p:nvSpPr>
            <p:cNvPr id="27" name="Shape 24"/>
            <p:cNvSpPr/>
            <p:nvPr/>
          </p:nvSpPr>
          <p:spPr>
            <a:xfrm>
              <a:off x="8160990" y="7108478"/>
              <a:ext cx="342900" cy="342900"/>
            </a:xfrm>
            <a:prstGeom prst="ellipse">
              <a:avLst/>
            </a:prstGeom>
            <a:solidFill>
              <a:srgbClr val="D32F2F"/>
            </a:solidFill>
            <a:ln w="19050">
              <a:solidFill>
                <a:srgbClr val="FFFFFF"/>
              </a:solidFill>
              <a:prstDash val="solid"/>
            </a:ln>
            <a:effectLst>
              <a:outerShdw blurRad="57150" dist="19050" dir="5400000" algn="bl" rotWithShape="0">
                <a:srgbClr val="000000">
                  <a:alpha val="35000"/>
                </a:srgbClr>
              </a:outerShdw>
            </a:effectLst>
          </p:spPr>
        </p:sp>
        <p:sp>
          <p:nvSpPr>
            <p:cNvPr id="28" name="Text 25"/>
            <p:cNvSpPr/>
            <p:nvPr/>
          </p:nvSpPr>
          <p:spPr>
            <a:xfrm>
              <a:off x="8141940" y="7127528"/>
              <a:ext cx="381000" cy="342900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350" b="1" dirty="0">
                  <a:solidFill>
                    <a:srgbClr val="FFFFFF"/>
                  </a:solidFill>
                  <a:latin typeface="Pretendard" pitchFamily="34" charset="0"/>
                  <a:ea typeface="Pretendard" pitchFamily="34" charset="-122"/>
                  <a:cs typeface="Pretendard" pitchFamily="34" charset="-120"/>
                </a:rPr>
                <a:t>5</a:t>
              </a:r>
              <a:endParaRPr lang="en-US" sz="1350" dirty="0"/>
            </a:p>
          </p:txBody>
        </p:sp>
      </p:grpSp>
      <p:sp>
        <p:nvSpPr>
          <p:cNvPr id="29" name="Shape 26"/>
          <p:cNvSpPr/>
          <p:nvPr/>
        </p:nvSpPr>
        <p:spPr>
          <a:xfrm>
            <a:off x="12001500" y="131445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0" name="Text 27"/>
          <p:cNvSpPr/>
          <p:nvPr/>
        </p:nvSpPr>
        <p:spPr>
          <a:xfrm>
            <a:off x="12001500" y="1028700"/>
            <a:ext cx="129970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목적 · 컴포넌트</a:t>
            </a:r>
            <a:endParaRPr lang="en-US" sz="1650" dirty="0"/>
          </a:p>
        </p:txBody>
      </p:sp>
      <p:sp>
        <p:nvSpPr>
          <p:cNvPr id="31" name="Text 28"/>
          <p:cNvSpPr/>
          <p:nvPr/>
        </p:nvSpPr>
        <p:spPr>
          <a:xfrm>
            <a:off x="13320266" y="1104900"/>
            <a:ext cx="156537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Purpose · Components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2001500" y="1428750"/>
            <a:ext cx="6239637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B-1 자동 삭제 · B-3 처리 이력 · 동의 이력 · 수사 대응. 법적 분쟁 입증</a:t>
            </a:r>
            <a:endParaRPr lang="en-US" sz="1650" dirty="0"/>
          </a:p>
        </p:txBody>
      </p:sp>
      <p:sp>
        <p:nvSpPr>
          <p:cNvPr id="33" name="Shape 30"/>
          <p:cNvSpPr/>
          <p:nvPr/>
        </p:nvSpPr>
        <p:spPr>
          <a:xfrm>
            <a:off x="12001500" y="214312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4" name="Shape 31"/>
          <p:cNvSpPr/>
          <p:nvPr/>
        </p:nvSpPr>
        <p:spPr>
          <a:xfrm>
            <a:off x="12001500" y="18859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5" name="Text 32"/>
          <p:cNvSpPr/>
          <p:nvPr/>
        </p:nvSpPr>
        <p:spPr>
          <a:xfrm>
            <a:off x="11963400" y="18859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2287250" y="18669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탭 구성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① 자동 삭제 모니터 · ② 처리 이력 검색 · ③ 동의 이력 · ④ 신고·수사</a:t>
            </a:r>
            <a:endParaRPr lang="en-US" sz="1425" dirty="0"/>
          </a:p>
        </p:txBody>
      </p:sp>
      <p:sp>
        <p:nvSpPr>
          <p:cNvPr id="37" name="Shape 34"/>
          <p:cNvSpPr/>
          <p:nvPr/>
        </p:nvSpPr>
        <p:spPr>
          <a:xfrm>
            <a:off x="12001500" y="247650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8" name="Shape 35"/>
          <p:cNvSpPr/>
          <p:nvPr/>
        </p:nvSpPr>
        <p:spPr>
          <a:xfrm>
            <a:off x="12001500" y="221932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39" name="Text 36"/>
          <p:cNvSpPr/>
          <p:nvPr/>
        </p:nvSpPr>
        <p:spPr>
          <a:xfrm>
            <a:off x="11963400" y="221932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2287250" y="2200275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자동 삭제 정책 모니터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데이터 종류별 잔존 · 준수율 · 임박 알림</a:t>
            </a:r>
            <a:endParaRPr lang="en-US" sz="1425" dirty="0"/>
          </a:p>
        </p:txBody>
      </p:sp>
      <p:sp>
        <p:nvSpPr>
          <p:cNvPr id="41" name="Shape 38"/>
          <p:cNvSpPr/>
          <p:nvPr/>
        </p:nvSpPr>
        <p:spPr>
          <a:xfrm>
            <a:off x="12001500" y="3057525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2" name="Shape 39"/>
          <p:cNvSpPr/>
          <p:nvPr/>
        </p:nvSpPr>
        <p:spPr>
          <a:xfrm>
            <a:off x="12001500" y="255270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3" name="Text 40"/>
          <p:cNvSpPr/>
          <p:nvPr/>
        </p:nvSpPr>
        <p:spPr>
          <a:xfrm>
            <a:off x="11963400" y="255270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2287250" y="2533650"/>
            <a:ext cx="594531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처리 이력 + 워터마크 역추적 (B-3)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사용자 해시 검색 · 워터마크 hash → 메타데이터만 (원본은 자동 삭제)</a:t>
            </a:r>
            <a:endParaRPr lang="en-US" sz="1425" dirty="0"/>
          </a:p>
        </p:txBody>
      </p:sp>
      <p:sp>
        <p:nvSpPr>
          <p:cNvPr id="45" name="Shape 42"/>
          <p:cNvSpPr/>
          <p:nvPr/>
        </p:nvSpPr>
        <p:spPr>
          <a:xfrm>
            <a:off x="12001500" y="3638550"/>
            <a:ext cx="60579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6" name="Shape 43"/>
          <p:cNvSpPr/>
          <p:nvPr/>
        </p:nvSpPr>
        <p:spPr>
          <a:xfrm>
            <a:off x="12001500" y="3133725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47" name="Text 44"/>
          <p:cNvSpPr/>
          <p:nvPr/>
        </p:nvSpPr>
        <p:spPr>
          <a:xfrm>
            <a:off x="11963400" y="3133725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2287250" y="3114675"/>
            <a:ext cx="5945315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약관 동의 이력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사용자별 변경 이력 · 학습 동의 ON/OFF 통계 · 가입 시점 약관 버전</a:t>
            </a:r>
            <a:endParaRPr lang="en-US" sz="1425" dirty="0"/>
          </a:p>
        </p:txBody>
      </p:sp>
      <p:sp>
        <p:nvSpPr>
          <p:cNvPr id="49" name="Shape 46"/>
          <p:cNvSpPr/>
          <p:nvPr/>
        </p:nvSpPr>
        <p:spPr>
          <a:xfrm>
            <a:off x="12001500" y="3714750"/>
            <a:ext cx="190500" cy="190500"/>
          </a:xfrm>
          <a:prstGeom prst="ellipse">
            <a:avLst/>
          </a:prstGeom>
          <a:solidFill>
            <a:srgbClr val="D32F2F"/>
          </a:solidFill>
          <a:ln/>
        </p:spPr>
      </p:sp>
      <p:sp>
        <p:nvSpPr>
          <p:cNvPr id="50" name="Text 47"/>
          <p:cNvSpPr/>
          <p:nvPr/>
        </p:nvSpPr>
        <p:spPr>
          <a:xfrm>
            <a:off x="11963400" y="3714750"/>
            <a:ext cx="26670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 fontScale="92500"/>
          </a:bodyPr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00" dirty="0"/>
          </a:p>
        </p:txBody>
      </p:sp>
      <p:sp>
        <p:nvSpPr>
          <p:cNvPr id="51" name="Text 48"/>
          <p:cNvSpPr/>
          <p:nvPr/>
        </p:nvSpPr>
        <p:spPr>
          <a:xfrm>
            <a:off x="12287250" y="3695700"/>
            <a:ext cx="5945315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④ 신고·수사 요청 관리 </a:t>
            </a:r>
            <a:r>
              <a:rPr lang="en-US" sz="1425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— 외부 요청 접수 폼 · 응답 템플릿 · 응답 이력 로깅</a:t>
            </a:r>
            <a:endParaRPr lang="en-US" sz="1425" dirty="0"/>
          </a:p>
        </p:txBody>
      </p:sp>
      <p:sp>
        <p:nvSpPr>
          <p:cNvPr id="52" name="Shape 49"/>
          <p:cNvSpPr/>
          <p:nvPr/>
        </p:nvSpPr>
        <p:spPr>
          <a:xfrm>
            <a:off x="12001500" y="4352925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3" name="Text 50"/>
          <p:cNvSpPr/>
          <p:nvPr/>
        </p:nvSpPr>
        <p:spPr>
          <a:xfrm>
            <a:off x="12001500" y="4067175"/>
            <a:ext cx="96030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 / 이탈</a:t>
            </a:r>
            <a:endParaRPr lang="en-US" sz="1650" dirty="0"/>
          </a:p>
        </p:txBody>
      </p:sp>
      <p:sp>
        <p:nvSpPr>
          <p:cNvPr id="54" name="Text 51"/>
          <p:cNvSpPr/>
          <p:nvPr/>
        </p:nvSpPr>
        <p:spPr>
          <a:xfrm>
            <a:off x="12980938" y="4143375"/>
            <a:ext cx="78685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Entry · Exit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12006263" y="4471988"/>
            <a:ext cx="1047750" cy="6000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2091988" y="4519613"/>
            <a:ext cx="9525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</a:t>
            </a:r>
            <a:endParaRPr lang="en-US" sz="1425" dirty="0"/>
          </a:p>
        </p:txBody>
      </p:sp>
      <p:sp>
        <p:nvSpPr>
          <p:cNvPr id="57" name="Shape 54"/>
          <p:cNvSpPr/>
          <p:nvPr/>
        </p:nvSpPr>
        <p:spPr>
          <a:xfrm>
            <a:off x="13054013" y="4471988"/>
            <a:ext cx="5000625" cy="6000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3179743" y="4514850"/>
            <a:ext cx="487013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admin 대시보드 → 컴플라이언스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25 어뷰징 액션 후 감사</a:t>
            </a:r>
            <a:endParaRPr lang="en-US" sz="1425" dirty="0"/>
          </a:p>
        </p:txBody>
      </p:sp>
      <p:sp>
        <p:nvSpPr>
          <p:cNvPr id="59" name="Shape 56"/>
          <p:cNvSpPr/>
          <p:nvPr/>
        </p:nvSpPr>
        <p:spPr>
          <a:xfrm>
            <a:off x="12006263" y="5072063"/>
            <a:ext cx="1047750" cy="6000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12091988" y="5119688"/>
            <a:ext cx="9525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이탈 / 다음</a:t>
            </a:r>
            <a:endParaRPr lang="en-US" sz="1425" dirty="0"/>
          </a:p>
        </p:txBody>
      </p:sp>
      <p:sp>
        <p:nvSpPr>
          <p:cNvPr id="61" name="Shape 58"/>
          <p:cNvSpPr/>
          <p:nvPr/>
        </p:nvSpPr>
        <p:spPr>
          <a:xfrm>
            <a:off x="13054013" y="5072063"/>
            <a:ext cx="5000625" cy="6000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13179743" y="5114925"/>
            <a:ext cx="4870133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역추적 결과 · PDF 출력</a:t>
            </a:r>
            <a:endParaRPr lang="en-US" sz="1425" dirty="0"/>
          </a:p>
          <a:p>
            <a:pPr marL="126683" indent="-126683" algn="l">
              <a:lnSpc>
                <a:spcPct val="135000"/>
              </a:lnSpc>
              <a:buSzPct val="100000"/>
              <a:buChar char="•"/>
              <a:tabLst>
                <a:tab pos="126683" algn="l"/>
              </a:tabLst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수사 응답 발송</a:t>
            </a:r>
            <a:endParaRPr lang="en-US" sz="1425" dirty="0"/>
          </a:p>
        </p:txBody>
      </p:sp>
      <p:sp>
        <p:nvSpPr>
          <p:cNvPr id="63" name="Shape 60"/>
          <p:cNvSpPr/>
          <p:nvPr/>
        </p:nvSpPr>
        <p:spPr>
          <a:xfrm>
            <a:off x="12001500" y="6057900"/>
            <a:ext cx="60579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64" name="Text 61"/>
          <p:cNvSpPr/>
          <p:nvPr/>
        </p:nvSpPr>
        <p:spPr>
          <a:xfrm>
            <a:off x="12001500" y="5772150"/>
            <a:ext cx="84928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kern="0" spc="-16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분기·규칙</a:t>
            </a:r>
            <a:endParaRPr lang="en-US" sz="1650" dirty="0"/>
          </a:p>
        </p:txBody>
      </p:sp>
      <p:sp>
        <p:nvSpPr>
          <p:cNvPr id="65" name="Text 62"/>
          <p:cNvSpPr/>
          <p:nvPr/>
        </p:nvSpPr>
        <p:spPr>
          <a:xfrm>
            <a:off x="12869912" y="5848350"/>
            <a:ext cx="4344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050" kern="0" spc="42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Rules</a:t>
            </a:r>
            <a:endParaRPr lang="en-US" sz="1050" dirty="0"/>
          </a:p>
        </p:txBody>
      </p:sp>
      <p:sp>
        <p:nvSpPr>
          <p:cNvPr id="66" name="Shape 63"/>
          <p:cNvSpPr/>
          <p:nvPr/>
        </p:nvSpPr>
        <p:spPr>
          <a:xfrm>
            <a:off x="12006263" y="6176963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12091988" y="6224587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 관리자</a:t>
            </a:r>
            <a:endParaRPr lang="en-US" sz="1425" dirty="0"/>
          </a:p>
        </p:txBody>
      </p:sp>
      <p:sp>
        <p:nvSpPr>
          <p:cNvPr id="68" name="Shape 65"/>
          <p:cNvSpPr/>
          <p:nvPr/>
        </p:nvSpPr>
        <p:spPr>
          <a:xfrm>
            <a:off x="13054013" y="6176963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3139738" y="6224587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조회만</a:t>
            </a:r>
            <a:endParaRPr lang="en-US" sz="1425" dirty="0"/>
          </a:p>
        </p:txBody>
      </p:sp>
      <p:sp>
        <p:nvSpPr>
          <p:cNvPr id="70" name="Shape 67"/>
          <p:cNvSpPr/>
          <p:nvPr/>
        </p:nvSpPr>
        <p:spPr>
          <a:xfrm>
            <a:off x="12006263" y="6500813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12091988" y="6548438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법무 관리자</a:t>
            </a:r>
            <a:endParaRPr lang="en-US" sz="1425" dirty="0"/>
          </a:p>
        </p:txBody>
      </p:sp>
      <p:sp>
        <p:nvSpPr>
          <p:cNvPr id="72" name="Shape 69"/>
          <p:cNvSpPr/>
          <p:nvPr/>
        </p:nvSpPr>
        <p:spPr>
          <a:xfrm>
            <a:off x="13054013" y="6500813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13139738" y="6548438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신고·수사 응답</a:t>
            </a:r>
            <a:endParaRPr lang="en-US" sz="1425" dirty="0"/>
          </a:p>
        </p:txBody>
      </p:sp>
      <p:sp>
        <p:nvSpPr>
          <p:cNvPr id="74" name="Shape 71"/>
          <p:cNvSpPr/>
          <p:nvPr/>
        </p:nvSpPr>
        <p:spPr>
          <a:xfrm>
            <a:off x="12006263" y="6824663"/>
            <a:ext cx="1047750" cy="323850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12091988" y="6872288"/>
            <a:ext cx="9525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슈퍼관리자</a:t>
            </a:r>
            <a:endParaRPr lang="en-US" sz="1425" dirty="0"/>
          </a:p>
        </p:txBody>
      </p:sp>
      <p:sp>
        <p:nvSpPr>
          <p:cNvPr id="76" name="Shape 73"/>
          <p:cNvSpPr/>
          <p:nvPr/>
        </p:nvSpPr>
        <p:spPr>
          <a:xfrm>
            <a:off x="13054013" y="6824663"/>
            <a:ext cx="5000625" cy="323850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13139738" y="6872288"/>
            <a:ext cx="497919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권한 + 정책 변경</a:t>
            </a:r>
            <a:endParaRPr lang="en-US" sz="1425" dirty="0"/>
          </a:p>
        </p:txBody>
      </p:sp>
      <p:sp>
        <p:nvSpPr>
          <p:cNvPr id="78" name="Shape 75"/>
          <p:cNvSpPr/>
          <p:nvPr/>
        </p:nvSpPr>
        <p:spPr>
          <a:xfrm>
            <a:off x="12006263" y="7148513"/>
            <a:ext cx="1047750" cy="561975"/>
          </a:xfrm>
          <a:prstGeom prst="rect">
            <a:avLst/>
          </a:prstGeom>
          <a:solidFill>
            <a:srgbClr val="F6F7F9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12091988" y="7196137"/>
            <a:ext cx="952500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조회·응답</a:t>
            </a:r>
            <a:endParaRPr lang="en-US" sz="1425" dirty="0"/>
          </a:p>
        </p:txBody>
      </p:sp>
      <p:sp>
        <p:nvSpPr>
          <p:cNvPr id="80" name="Shape 77"/>
          <p:cNvSpPr/>
          <p:nvPr/>
        </p:nvSpPr>
        <p:spPr>
          <a:xfrm>
            <a:off x="13054013" y="7148513"/>
            <a:ext cx="5000625" cy="561975"/>
          </a:xfrm>
          <a:prstGeom prst="rect">
            <a:avLst/>
          </a:prstGeom>
          <a:ln w="9525">
            <a:solidFill>
              <a:srgbClr val="D8DCE3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13139738" y="7196137"/>
            <a:ext cx="4979194" cy="5048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425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자체 감사 로그에 기록 (관리자 행위 모니터링)</a:t>
            </a:r>
            <a:endParaRPr lang="en-US" sz="1425" dirty="0"/>
          </a:p>
        </p:txBody>
      </p:sp>
      <p:sp>
        <p:nvSpPr>
          <p:cNvPr id="82" name="Shape 79"/>
          <p:cNvSpPr/>
          <p:nvPr/>
        </p:nvSpPr>
        <p:spPr>
          <a:xfrm>
            <a:off x="0" y="9944100"/>
            <a:ext cx="18288000" cy="342900"/>
          </a:xfrm>
          <a:prstGeom prst="rect">
            <a:avLst/>
          </a:prstGeom>
          <a:solidFill>
            <a:srgbClr val="F8F9FB"/>
          </a:solidFill>
          <a:ln/>
        </p:spPr>
      </p:sp>
      <p:sp>
        <p:nvSpPr>
          <p:cNvPr id="83" name="Shape 80"/>
          <p:cNvSpPr/>
          <p:nvPr/>
        </p:nvSpPr>
        <p:spPr>
          <a:xfrm>
            <a:off x="0" y="9944100"/>
            <a:ext cx="182880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84" name="Text 81"/>
          <p:cNvSpPr/>
          <p:nvPr/>
        </p:nvSpPr>
        <p:spPr>
          <a:xfrm>
            <a:off x="304800" y="10034588"/>
            <a:ext cx="508641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200" kern="0" spc="54" dirty="0">
                <a:solidFill>
                  <a:srgbClr val="7981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Garim · 화면설계서 v1.0 · #admin.garim.kr/compliance</a:t>
            </a:r>
            <a:endParaRPr lang="en-US" sz="1200" dirty="0"/>
          </a:p>
        </p:txBody>
      </p:sp>
      <p:sp>
        <p:nvSpPr>
          <p:cNvPr id="85" name="Text 82"/>
          <p:cNvSpPr/>
          <p:nvPr/>
        </p:nvSpPr>
        <p:spPr>
          <a:xfrm>
            <a:off x="12347079" y="10020300"/>
            <a:ext cx="580520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kern="0" spc="54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P27 · 컴플라이언스 로그·감사 · ref: AWS CloudTrail · Datadog Audit Trail</a:t>
            </a:r>
            <a:endParaRPr lang="en-US" sz="13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1726692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54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부록 A · 핵심 사용자 플로우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62000" y="1666875"/>
            <a:ext cx="1726692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첫 검출 · SNS 셀프 점검 · 재방문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62000" y="2371725"/>
            <a:ext cx="5435501" cy="7381875"/>
          </a:xfrm>
          <a:prstGeom prst="roundRect">
            <a:avLst>
              <a:gd name="adj" fmla="val 701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0125" y="2943225"/>
            <a:ext cx="4959251" cy="19050"/>
          </a:xfrm>
          <a:prstGeom prst="rect">
            <a:avLst/>
          </a:prstGeom>
          <a:solidFill>
            <a:srgbClr val="0288D1"/>
          </a:solidFill>
          <a:ln/>
        </p:spPr>
      </p:sp>
      <p:sp>
        <p:nvSpPr>
          <p:cNvPr id="7" name="Text 5"/>
          <p:cNvSpPr/>
          <p:nvPr/>
        </p:nvSpPr>
        <p:spPr>
          <a:xfrm>
            <a:off x="1000125" y="2590800"/>
            <a:ext cx="51080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288D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플로우 1 · 신규 첫 검출 </a:t>
            </a:r>
            <a:r>
              <a:rPr lang="en-US" sz="120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 · v1 공통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076575"/>
            <a:ext cx="51868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314325" indent="-314325" algn="l">
              <a:lnSpc>
                <a:spcPct val="160000"/>
              </a:lnSpc>
              <a:buSzPct val="100000"/>
              <a:buFont typeface="+mj-lt"/>
              <a:buAutoNum type="arabicPeriod"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랜딩 </a:t>
            </a:r>
            <a:r>
              <a:rPr lang="en-US" sz="1650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(01) </a:t>
            </a: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"무료로 시작"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914400" y="3409950"/>
            <a:ext cx="51868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314325" indent="-314325" algn="l">
              <a:lnSpc>
                <a:spcPct val="160000"/>
              </a:lnSpc>
              <a:buSzPct val="100000"/>
              <a:buFont typeface="+mj-lt"/>
              <a:buAutoNum type="arabicPeriod" startAt="2"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회원가입 </a:t>
            </a:r>
            <a:r>
              <a:rPr lang="en-US" sz="1650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(05) </a:t>
            </a: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이메일 인증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14400" y="3743325"/>
            <a:ext cx="51868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314325" indent="-314325" algn="l">
              <a:lnSpc>
                <a:spcPct val="160000"/>
              </a:lnSpc>
              <a:buSzPct val="100000"/>
              <a:buFont typeface="+mj-lt"/>
              <a:buAutoNum type="arabicPeriod" startAt="3"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업로드 </a:t>
            </a:r>
            <a:r>
              <a:rPr lang="en-US" sz="1650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(08)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14400" y="4076700"/>
            <a:ext cx="51868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314325" indent="-314325" algn="l">
              <a:lnSpc>
                <a:spcPct val="160000"/>
              </a:lnSpc>
              <a:buSzPct val="100000"/>
              <a:buFont typeface="+mj-lt"/>
              <a:buAutoNum type="arabicPeriod" startAt="4"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진행 </a:t>
            </a:r>
            <a:r>
              <a:rPr lang="en-US" sz="1650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(09)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14400" y="4410075"/>
            <a:ext cx="51868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314325" indent="-314325" algn="l">
              <a:lnSpc>
                <a:spcPct val="160000"/>
              </a:lnSpc>
              <a:buSzPct val="100000"/>
              <a:buFont typeface="+mj-lt"/>
              <a:buAutoNum type="arabicPeriod" startAt="5"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 리포트 </a:t>
            </a:r>
            <a:r>
              <a:rPr lang="en-US" sz="1650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(10) </a:t>
            </a: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</a:t>
            </a:r>
            <a:r>
              <a:rPr lang="en-US" sz="1650" dirty="0">
                <a:solidFill>
                  <a:srgbClr val="D32F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충격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228725" y="4781550"/>
            <a:ext cx="142681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"보안 처리 요청"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72540" y="5133975"/>
            <a:ext cx="48230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146685" indent="-146685" algn="l">
              <a:lnSpc>
                <a:spcPct val="160000"/>
              </a:lnSpc>
              <a:buSzPct val="100000"/>
              <a:buChar char="○"/>
            </a:pPr>
            <a:r>
              <a:rPr lang="en-US" sz="1350" b="1" dirty="0">
                <a:solidFill>
                  <a:srgbClr val="01579B"/>
                </a:solidFill>
                <a:highlight>
                  <a:srgbClr val="E1F5FE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MVP1 </a:t>
            </a: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15 직행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72540" y="5467350"/>
            <a:ext cx="48230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146685" indent="-146685" algn="l">
              <a:lnSpc>
                <a:spcPct val="160000"/>
              </a:lnSpc>
              <a:buSzPct val="100000"/>
              <a:buChar char="○"/>
            </a:pPr>
            <a:r>
              <a:rPr lang="en-US" sz="1350" b="1" dirty="0">
                <a:solidFill>
                  <a:srgbClr val="1B5E20"/>
                </a:solidFill>
                <a:highlight>
                  <a:srgbClr val="E8F5E9"/>
                </a:highlight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 비결제 </a:t>
            </a: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13 → 14 → 15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1272540" y="5800725"/>
            <a:ext cx="482304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146685" indent="-146685" algn="l">
              <a:lnSpc>
                <a:spcPct val="160000"/>
              </a:lnSpc>
              <a:buSzPct val="100000"/>
              <a:buChar char="○"/>
              <a:tabLst>
                <a:tab pos="146685" algn="l"/>
              </a:tabLst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 한도 잔여 → 15 직행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914400" y="6134100"/>
            <a:ext cx="51868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314325" indent="-314325" algn="l">
              <a:lnSpc>
                <a:spcPct val="160000"/>
              </a:lnSpc>
              <a:buSzPct val="100000"/>
              <a:buFont typeface="+mj-lt"/>
              <a:buAutoNum type="arabicPeriod" startAt="7"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</a:t>
            </a:r>
            <a:r>
              <a:rPr lang="en-US" sz="1650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(15) </a:t>
            </a: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미리보기 </a:t>
            </a:r>
            <a:r>
              <a:rPr lang="en-US" sz="1650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(16)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14400" y="6467475"/>
            <a:ext cx="51868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314325" indent="-314325" algn="l">
              <a:lnSpc>
                <a:spcPct val="160000"/>
              </a:lnSpc>
              <a:buSzPct val="100000"/>
              <a:buFont typeface="+mj-lt"/>
              <a:buAutoNum type="arabicPeriod" startAt="8"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 </a:t>
            </a:r>
            <a:r>
              <a:rPr lang="en-US" sz="1650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(17) </a:t>
            </a: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다운로드 </a:t>
            </a:r>
            <a:r>
              <a:rPr lang="en-US" sz="1650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(18)</a:t>
            </a:r>
            <a:endParaRPr lang="en-US" sz="1650" dirty="0"/>
          </a:p>
        </p:txBody>
      </p:sp>
      <p:sp>
        <p:nvSpPr>
          <p:cNvPr id="19" name="Shape 17"/>
          <p:cNvSpPr/>
          <p:nvPr/>
        </p:nvSpPr>
        <p:spPr>
          <a:xfrm>
            <a:off x="6426101" y="2371725"/>
            <a:ext cx="5435650" cy="7381875"/>
          </a:xfrm>
          <a:prstGeom prst="roundRect">
            <a:avLst>
              <a:gd name="adj" fmla="val 701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64226" y="2943225"/>
            <a:ext cx="4959400" cy="19050"/>
          </a:xfrm>
          <a:prstGeom prst="rect">
            <a:avLst/>
          </a:prstGeom>
          <a:solidFill>
            <a:srgbClr val="9747FF"/>
          </a:solidFill>
          <a:ln/>
        </p:spPr>
      </p:sp>
      <p:sp>
        <p:nvSpPr>
          <p:cNvPr id="21" name="Text 19"/>
          <p:cNvSpPr/>
          <p:nvPr/>
        </p:nvSpPr>
        <p:spPr>
          <a:xfrm>
            <a:off x="6664226" y="2590800"/>
            <a:ext cx="510818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747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플로우 2 · SNS 셀프 점검 </a:t>
            </a:r>
            <a:r>
              <a:rPr lang="en-US" sz="120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B-2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92826" y="3114675"/>
            <a:ext cx="809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669839" y="3114675"/>
            <a:ext cx="51371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50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(19)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159651" y="3114675"/>
            <a:ext cx="14271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"내 인스타 점검"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892826" y="3448050"/>
            <a:ext cx="48727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또는 분석 리포트 (10) 권유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578501" y="3752850"/>
            <a:ext cx="51870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314325" indent="-314325" algn="l">
              <a:lnSpc>
                <a:spcPct val="160000"/>
              </a:lnSpc>
              <a:buSzPct val="100000"/>
              <a:buFont typeface="+mj-lt"/>
              <a:buAutoNum type="arabicPeriod" startAt="2"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SNS 연결 </a:t>
            </a:r>
            <a:r>
              <a:rPr lang="en-US" sz="1650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(11) </a:t>
            </a: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Facebook OAuth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578501" y="4086225"/>
            <a:ext cx="51870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314325" indent="-314325" algn="l">
              <a:lnSpc>
                <a:spcPct val="160000"/>
              </a:lnSpc>
              <a:buSzPct val="100000"/>
              <a:buFont typeface="+mj-lt"/>
              <a:buAutoNum type="arabicPeriod" startAt="3"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진단 결과 </a:t>
            </a:r>
            <a:r>
              <a:rPr lang="en-US" sz="1650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(12)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6892826" y="4457700"/>
            <a:ext cx="197013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위험 게시물 "처리하기"</a:t>
            </a:r>
            <a:endParaRPr lang="en-US" sz="1650" dirty="0"/>
          </a:p>
        </p:txBody>
      </p:sp>
      <p:sp>
        <p:nvSpPr>
          <p:cNvPr id="29" name="Text 27"/>
          <p:cNvSpPr/>
          <p:nvPr/>
        </p:nvSpPr>
        <p:spPr>
          <a:xfrm>
            <a:off x="6936641" y="4810125"/>
            <a:ext cx="476318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146685" indent="-146685" algn="l">
              <a:lnSpc>
                <a:spcPct val="160000"/>
              </a:lnSpc>
              <a:buSzPct val="100000"/>
              <a:buChar char="○"/>
              <a:tabLst>
                <a:tab pos="146685" algn="l"/>
              </a:tabLst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치환 플로우 → 15·16·17·18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6578501" y="5143500"/>
            <a:ext cx="5187049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314325" indent="-314325" algn="l">
              <a:lnSpc>
                <a:spcPct val="160000"/>
              </a:lnSpc>
              <a:buSzPct val="100000"/>
              <a:buFont typeface="+mj-lt"/>
              <a:buAutoNum type="arabicPeriod" startAt="5"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다운로드 </a:t>
            </a:r>
            <a:r>
              <a:rPr lang="en-US" sz="1650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(18)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6892826" y="5514975"/>
            <a:ext cx="1030021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50" b="1" dirty="0">
                <a:solidFill>
                  <a:srgbClr val="D32F2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사용자 직접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7892951" y="5514975"/>
            <a:ext cx="98792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인스타에서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6892826" y="5848350"/>
            <a:ext cx="2281591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삭제 + 새 버전 업로드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6892826" y="6181725"/>
            <a:ext cx="48727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Garim 자동 게시·삭제 ✕ (B-2)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12090350" y="2371725"/>
            <a:ext cx="5435501" cy="7381875"/>
          </a:xfrm>
          <a:prstGeom prst="roundRect">
            <a:avLst>
              <a:gd name="adj" fmla="val 701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328475" y="2943225"/>
            <a:ext cx="4959251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7" name="Text 35"/>
          <p:cNvSpPr/>
          <p:nvPr/>
        </p:nvSpPr>
        <p:spPr>
          <a:xfrm>
            <a:off x="12328475" y="2590800"/>
            <a:ext cx="51080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플로우 3 · 재방문 사용자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2557075" y="3114675"/>
            <a:ext cx="6286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로그인</a:t>
            </a:r>
            <a:endParaRPr lang="en-US" sz="1650" dirty="0"/>
          </a:p>
        </p:txBody>
      </p:sp>
      <p:sp>
        <p:nvSpPr>
          <p:cNvPr id="39" name="Text 37"/>
          <p:cNvSpPr/>
          <p:nvPr/>
        </p:nvSpPr>
        <p:spPr>
          <a:xfrm>
            <a:off x="13152983" y="3114675"/>
            <a:ext cx="51371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50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(06)</a:t>
            </a:r>
            <a:endParaRPr lang="en-US" sz="1650" dirty="0"/>
          </a:p>
        </p:txBody>
      </p:sp>
      <p:sp>
        <p:nvSpPr>
          <p:cNvPr id="40" name="Text 38"/>
          <p:cNvSpPr/>
          <p:nvPr/>
        </p:nvSpPr>
        <p:spPr>
          <a:xfrm>
            <a:off x="12557075" y="3448050"/>
            <a:ext cx="48725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또는 30일 자동 세션 복원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12557075" y="3790950"/>
            <a:ext cx="809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대시보드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13334088" y="3790950"/>
            <a:ext cx="513717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50" b="1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(19)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2557075" y="4124325"/>
            <a:ext cx="487257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1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활동 요약 + 진행 중 작업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12557075" y="4467225"/>
            <a:ext cx="43841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l">
              <a:lnSpc>
                <a:spcPct val="160000"/>
              </a:lnSpc>
              <a:buNone/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분기</a:t>
            </a:r>
            <a:endParaRPr lang="en-US" sz="1650" dirty="0"/>
          </a:p>
        </p:txBody>
      </p:sp>
      <p:sp>
        <p:nvSpPr>
          <p:cNvPr id="45" name="Text 43"/>
          <p:cNvSpPr/>
          <p:nvPr/>
        </p:nvSpPr>
        <p:spPr>
          <a:xfrm>
            <a:off x="12600890" y="4819650"/>
            <a:ext cx="4763036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146685" indent="-146685" algn="l">
              <a:lnSpc>
                <a:spcPct val="160000"/>
              </a:lnSpc>
              <a:buSzPct val="100000"/>
              <a:buChar char="○"/>
              <a:tabLst>
                <a:tab pos="146685" algn="l"/>
              </a:tabLst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"새 검출" → 08</a:t>
            </a:r>
            <a:endParaRPr lang="en-US" sz="1650" dirty="0"/>
          </a:p>
          <a:p>
            <a:pPr marL="146685" indent="-146685" algn="l">
              <a:lnSpc>
                <a:spcPct val="160000"/>
              </a:lnSpc>
              <a:buSzPct val="100000"/>
              <a:buChar char="○"/>
              <a:tabLst>
                <a:tab pos="146685" algn="l"/>
              </a:tabLst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"이력" → 20 → 카드 클릭 → 10/15/16/18</a:t>
            </a:r>
            <a:endParaRPr lang="en-US" sz="1650" dirty="0"/>
          </a:p>
          <a:p>
            <a:pPr marL="146685" indent="-146685" algn="l">
              <a:lnSpc>
                <a:spcPct val="160000"/>
              </a:lnSpc>
              <a:buSzPct val="100000"/>
              <a:buChar char="○"/>
              <a:tabLst>
                <a:tab pos="146685" algn="l"/>
              </a:tabLst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"설정" → 22</a:t>
            </a:r>
            <a:endParaRPr lang="en-US" sz="1650" dirty="0"/>
          </a:p>
          <a:p>
            <a:pPr marL="146685" indent="-146685" algn="l">
              <a:lnSpc>
                <a:spcPct val="160000"/>
              </a:lnSpc>
              <a:buSzPct val="100000"/>
              <a:buChar char="○"/>
              <a:tabLst>
                <a:tab pos="146685" algn="l"/>
              </a:tabLst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"플랜 관리" → 21 (v1 정식)</a:t>
            </a:r>
            <a:endParaRPr lang="en-US" sz="1650" dirty="0"/>
          </a:p>
        </p:txBody>
      </p:sp>
      <p:sp>
        <p:nvSpPr>
          <p:cNvPr id="46" name="Text 44"/>
          <p:cNvSpPr/>
          <p:nvPr/>
        </p:nvSpPr>
        <p:spPr>
          <a:xfrm>
            <a:off x="12242750" y="6153150"/>
            <a:ext cx="5186895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314325" indent="-314325" algn="l">
              <a:lnSpc>
                <a:spcPct val="160000"/>
              </a:lnSpc>
              <a:buSzPct val="100000"/>
              <a:buFont typeface="+mj-lt"/>
              <a:buAutoNum type="arabicPeriod" startAt="4"/>
              <a:tabLst>
                <a:tab pos="314325" algn="l"/>
              </a:tabLst>
            </a:pPr>
            <a:r>
              <a:rPr lang="en-US" sz="16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반복</a:t>
            </a:r>
            <a:endParaRPr lang="en-US" sz="1650" dirty="0"/>
          </a:p>
        </p:txBody>
      </p:sp>
      <p:sp>
        <p:nvSpPr>
          <p:cNvPr id="47" name="Shape 45"/>
          <p:cNvSpPr/>
          <p:nvPr/>
        </p:nvSpPr>
        <p:spPr>
          <a:xfrm>
            <a:off x="12328475" y="9210675"/>
            <a:ext cx="4959251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48" name="Text 46"/>
          <p:cNvSpPr/>
          <p:nvPr/>
        </p:nvSpPr>
        <p:spPr>
          <a:xfrm>
            <a:off x="12328475" y="9334500"/>
            <a:ext cx="51080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북극성 지표: 분석 리포트 (10) → 치환 옵션 (15) 전환율</a:t>
            </a:r>
            <a:endParaRPr lang="en-US" sz="13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71500"/>
            <a:ext cx="17266920" cy="752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kern="0" spc="-54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부록 B · 디자인 시스템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62000" y="1666875"/>
            <a:ext cx="1726692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MUI v5 + Pretendard · WCAG 2.1 AA 기본 준수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62000" y="2371725"/>
            <a:ext cx="5435501" cy="7381875"/>
          </a:xfrm>
          <a:prstGeom prst="roundRect">
            <a:avLst>
              <a:gd name="adj" fmla="val 701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0125" y="2943225"/>
            <a:ext cx="4959251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7" name="Text 5"/>
          <p:cNvSpPr/>
          <p:nvPr/>
        </p:nvSpPr>
        <p:spPr>
          <a:xfrm>
            <a:off x="1000125" y="2590800"/>
            <a:ext cx="51080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컬러 토큰 </a:t>
            </a:r>
            <a:r>
              <a:rPr lang="en-US" sz="120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Color tokens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00125" y="315753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1976D2"/>
          </a:solidFill>
          <a:ln/>
        </p:spPr>
      </p:sp>
      <p:sp>
        <p:nvSpPr>
          <p:cNvPr id="9" name="Text 7"/>
          <p:cNvSpPr/>
          <p:nvPr/>
        </p:nvSpPr>
        <p:spPr>
          <a:xfrm>
            <a:off x="1457325" y="3114675"/>
            <a:ext cx="7762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Primary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205186" y="3114675"/>
            <a:ext cx="9061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#1976D2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57325" y="3343275"/>
            <a:ext cx="1654076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헤더·CTA·강조 헤딩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000125" y="3681413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9747FF"/>
          </a:solidFill>
          <a:ln/>
        </p:spPr>
      </p:sp>
      <p:sp>
        <p:nvSpPr>
          <p:cNvPr id="13" name="Text 11"/>
          <p:cNvSpPr/>
          <p:nvPr/>
        </p:nvSpPr>
        <p:spPr>
          <a:xfrm>
            <a:off x="1457325" y="3638550"/>
            <a:ext cx="71681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Accent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145748" y="3638550"/>
            <a:ext cx="87057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#9747FF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57325" y="3867150"/>
            <a:ext cx="1559123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차별점·결론 박스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1000125" y="420528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D32F2F"/>
          </a:solidFill>
          <a:ln/>
        </p:spPr>
      </p:sp>
      <p:sp>
        <p:nvSpPr>
          <p:cNvPr id="17" name="Text 15"/>
          <p:cNvSpPr/>
          <p:nvPr/>
        </p:nvSpPr>
        <p:spPr>
          <a:xfrm>
            <a:off x="1457325" y="4162425"/>
            <a:ext cx="52026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Error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949202" y="4162425"/>
            <a:ext cx="884151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#D32F2F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57325" y="4391025"/>
            <a:ext cx="1391841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검출 위험·삭제·잠금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000125" y="4729163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ED6C02"/>
          </a:solidFill>
          <a:ln/>
        </p:spPr>
      </p:sp>
      <p:sp>
        <p:nvSpPr>
          <p:cNvPr id="21" name="Text 19"/>
          <p:cNvSpPr/>
          <p:nvPr/>
        </p:nvSpPr>
        <p:spPr>
          <a:xfrm>
            <a:off x="1457325" y="4686300"/>
            <a:ext cx="828619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Warning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257555" y="4686300"/>
            <a:ext cx="9122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#ED6C02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57325" y="4914900"/>
            <a:ext cx="1712565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한도 임박·해제 안내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000125" y="5253038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0288D1"/>
          </a:solidFill>
          <a:ln/>
        </p:spPr>
      </p:sp>
      <p:sp>
        <p:nvSpPr>
          <p:cNvPr id="25" name="Text 23"/>
          <p:cNvSpPr/>
          <p:nvPr/>
        </p:nvSpPr>
        <p:spPr>
          <a:xfrm>
            <a:off x="1457325" y="5210175"/>
            <a:ext cx="419342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Info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848278" y="5210175"/>
            <a:ext cx="9061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#0288D1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57325" y="5438775"/>
            <a:ext cx="1337667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 배지 (MVP1)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1000125" y="5776913"/>
            <a:ext cx="342900" cy="342900"/>
          </a:xfrm>
          <a:prstGeom prst="roundRect">
            <a:avLst>
              <a:gd name="adj" fmla="val 11111"/>
            </a:avLst>
          </a:prstGeom>
          <a:solidFill>
            <a:srgbClr val="2E7D32"/>
          </a:solidFill>
          <a:ln/>
        </p:spPr>
      </p:sp>
      <p:sp>
        <p:nvSpPr>
          <p:cNvPr id="29" name="Text 27"/>
          <p:cNvSpPr/>
          <p:nvPr/>
        </p:nvSpPr>
        <p:spPr>
          <a:xfrm>
            <a:off x="1457325" y="5734050"/>
            <a:ext cx="839316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Success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268252" y="5734050"/>
            <a:ext cx="89717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#2E7D32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457325" y="5962650"/>
            <a:ext cx="17081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검출 0건·완료 확인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1000125" y="6257925"/>
            <a:ext cx="4959251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0125" y="6343650"/>
            <a:ext cx="361950" cy="1905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476375" y="6324600"/>
            <a:ext cx="1403003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Grey </a:t>
            </a:r>
            <a:r>
              <a:rPr lang="en-US" sz="150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50 → 900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6426101" y="2371725"/>
            <a:ext cx="5435650" cy="7381875"/>
          </a:xfrm>
          <a:prstGeom prst="roundRect">
            <a:avLst>
              <a:gd name="adj" fmla="val 701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664226" y="2943225"/>
            <a:ext cx="4959400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37" name="Text 35"/>
          <p:cNvSpPr/>
          <p:nvPr/>
        </p:nvSpPr>
        <p:spPr>
          <a:xfrm>
            <a:off x="6664226" y="2590800"/>
            <a:ext cx="510818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타이포그래피 </a:t>
            </a:r>
            <a:r>
              <a:rPr lang="en-US" sz="120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Pretendard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664226" y="3114675"/>
            <a:ext cx="1806533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850" kern="0" spc="-29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 화면설계</a:t>
            </a:r>
            <a:endParaRPr lang="en-US" sz="2850" dirty="0"/>
          </a:p>
        </p:txBody>
      </p:sp>
      <p:sp>
        <p:nvSpPr>
          <p:cNvPr id="39" name="Text 37"/>
          <p:cNvSpPr/>
          <p:nvPr/>
        </p:nvSpPr>
        <p:spPr>
          <a:xfrm>
            <a:off x="6664226" y="3543300"/>
            <a:ext cx="510818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H1 · 38px / 300 · 헤드라인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664226" y="3876675"/>
            <a:ext cx="16821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 분석 리포트</a:t>
            </a:r>
            <a:endParaRPr lang="en-US" sz="2100" dirty="0"/>
          </a:p>
        </p:txBody>
      </p:sp>
      <p:sp>
        <p:nvSpPr>
          <p:cNvPr id="41" name="Text 39"/>
          <p:cNvSpPr/>
          <p:nvPr/>
        </p:nvSpPr>
        <p:spPr>
          <a:xfrm>
            <a:off x="6664226" y="4200525"/>
            <a:ext cx="510818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H4 · 28px / 500 · 섹션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6664226" y="4533900"/>
            <a:ext cx="2473542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 검출된 항목 리스트입니다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6664226" y="4781550"/>
            <a:ext cx="510818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Body1 · 22px / 400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664226" y="5114925"/>
            <a:ext cx="144495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4A526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Aa 설명 캡션 텍스트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6664226" y="5314950"/>
            <a:ext cx="510818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Caption · 18px / 400 / secondary</a:t>
            </a:r>
            <a:endParaRPr lang="en-US" sz="1350" dirty="0"/>
          </a:p>
        </p:txBody>
      </p:sp>
      <p:sp>
        <p:nvSpPr>
          <p:cNvPr id="46" name="Shape 44"/>
          <p:cNvSpPr/>
          <p:nvPr/>
        </p:nvSpPr>
        <p:spPr>
          <a:xfrm>
            <a:off x="6664226" y="5648325"/>
            <a:ext cx="4959400" cy="333375"/>
          </a:xfrm>
          <a:prstGeom prst="roundRect">
            <a:avLst>
              <a:gd name="adj" fmla="val 11429"/>
            </a:avLst>
          </a:prstGeom>
          <a:solidFill>
            <a:srgbClr val="1976D2"/>
          </a:solidFill>
          <a:ln/>
        </p:spPr>
      </p:sp>
      <p:sp>
        <p:nvSpPr>
          <p:cNvPr id="47" name="Text 45"/>
          <p:cNvSpPr/>
          <p:nvPr/>
        </p:nvSpPr>
        <p:spPr>
          <a:xfrm>
            <a:off x="6797576" y="5724525"/>
            <a:ext cx="484148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96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SUBMIT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664226" y="6115050"/>
            <a:ext cx="510818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Button · uppercase · 0.08em tracking · weight 500</a:t>
            </a:r>
            <a:endParaRPr lang="en-US" sz="1350" dirty="0"/>
          </a:p>
        </p:txBody>
      </p:sp>
      <p:sp>
        <p:nvSpPr>
          <p:cNvPr id="49" name="Shape 47"/>
          <p:cNvSpPr/>
          <p:nvPr/>
        </p:nvSpPr>
        <p:spPr>
          <a:xfrm>
            <a:off x="6664226" y="6448425"/>
            <a:ext cx="4959400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50" name="Text 48"/>
          <p:cNvSpPr/>
          <p:nvPr/>
        </p:nvSpPr>
        <p:spPr>
          <a:xfrm>
            <a:off x="6664226" y="6553200"/>
            <a:ext cx="510818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Font </a:t>
            </a: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Pretendard (한글 친화, Roboto 메트릭 호환) </a:t>
            </a:r>
            <a:r>
              <a:rPr lang="en-US" sz="1350" b="1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Substitution </a:t>
            </a: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Roboto → Pretendard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12090350" y="2371725"/>
            <a:ext cx="5435501" cy="7381875"/>
          </a:xfrm>
          <a:prstGeom prst="roundRect">
            <a:avLst>
              <a:gd name="adj" fmla="val 701"/>
            </a:avLst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2328475" y="2943225"/>
            <a:ext cx="4959251" cy="1905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3" name="Text 51"/>
          <p:cNvSpPr/>
          <p:nvPr/>
        </p:nvSpPr>
        <p:spPr>
          <a:xfrm>
            <a:off x="12328475" y="2590800"/>
            <a:ext cx="510802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스페이싱 · 형태 · 톤 </a:t>
            </a:r>
            <a:r>
              <a:rPr lang="en-US" sz="120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Spacing · Shape · Tone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12328475" y="3114675"/>
            <a:ext cx="925078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8pt 그리드</a:t>
            </a:r>
            <a:endParaRPr lang="en-US" sz="1500" dirty="0"/>
          </a:p>
        </p:txBody>
      </p:sp>
      <p:sp>
        <p:nvSpPr>
          <p:cNvPr id="55" name="Shape 53"/>
          <p:cNvSpPr/>
          <p:nvPr/>
        </p:nvSpPr>
        <p:spPr>
          <a:xfrm>
            <a:off x="12328475" y="3800475"/>
            <a:ext cx="76200" cy="2286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56" name="Shape 54"/>
          <p:cNvSpPr/>
          <p:nvPr/>
        </p:nvSpPr>
        <p:spPr>
          <a:xfrm>
            <a:off x="12480875" y="3724275"/>
            <a:ext cx="152400" cy="3048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57" name="Shape 55"/>
          <p:cNvSpPr/>
          <p:nvPr/>
        </p:nvSpPr>
        <p:spPr>
          <a:xfrm>
            <a:off x="12709475" y="3648075"/>
            <a:ext cx="228600" cy="3810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58" name="Shape 56"/>
          <p:cNvSpPr/>
          <p:nvPr/>
        </p:nvSpPr>
        <p:spPr>
          <a:xfrm>
            <a:off x="13014275" y="3571875"/>
            <a:ext cx="304800" cy="4572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59" name="Shape 57"/>
          <p:cNvSpPr/>
          <p:nvPr/>
        </p:nvSpPr>
        <p:spPr>
          <a:xfrm>
            <a:off x="13395275" y="3495675"/>
            <a:ext cx="381000" cy="5334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60" name="Shape 58"/>
          <p:cNvSpPr/>
          <p:nvPr/>
        </p:nvSpPr>
        <p:spPr>
          <a:xfrm>
            <a:off x="13852475" y="3419475"/>
            <a:ext cx="457200" cy="609600"/>
          </a:xfrm>
          <a:prstGeom prst="rect">
            <a:avLst/>
          </a:prstGeom>
          <a:solidFill>
            <a:srgbClr val="1976D2"/>
          </a:solidFill>
          <a:ln/>
        </p:spPr>
      </p:sp>
      <p:sp>
        <p:nvSpPr>
          <p:cNvPr id="61" name="Text 59"/>
          <p:cNvSpPr/>
          <p:nvPr/>
        </p:nvSpPr>
        <p:spPr>
          <a:xfrm>
            <a:off x="12328475" y="4029075"/>
            <a:ext cx="51080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· 16 · 24 · 32 · 40 · 48 · 56 · 64</a:t>
            </a:r>
            <a:endParaRPr lang="en-US" sz="1350" dirty="0"/>
          </a:p>
        </p:txBody>
      </p:sp>
      <p:sp>
        <p:nvSpPr>
          <p:cNvPr id="62" name="Shape 60"/>
          <p:cNvSpPr/>
          <p:nvPr/>
        </p:nvSpPr>
        <p:spPr>
          <a:xfrm>
            <a:off x="12328475" y="4362450"/>
            <a:ext cx="4959251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63" name="Text 61"/>
          <p:cNvSpPr/>
          <p:nvPr/>
        </p:nvSpPr>
        <p:spPr>
          <a:xfrm>
            <a:off x="12328475" y="4448175"/>
            <a:ext cx="68453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Radius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12328475" y="4752975"/>
            <a:ext cx="381000" cy="381000"/>
          </a:xfrm>
          <a:prstGeom prst="roundRect">
            <a:avLst>
              <a:gd name="adj" fmla="val 10000"/>
            </a:avLst>
          </a:prstGeom>
          <a:solidFill>
            <a:srgbClr val="1976D2"/>
          </a:solidFill>
          <a:ln/>
        </p:spPr>
      </p:sp>
      <p:sp>
        <p:nvSpPr>
          <p:cNvPr id="65" name="Shape 63"/>
          <p:cNvSpPr/>
          <p:nvPr/>
        </p:nvSpPr>
        <p:spPr>
          <a:xfrm>
            <a:off x="12842825" y="4752975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1976D2"/>
          </a:solidFill>
          <a:ln/>
        </p:spPr>
      </p:sp>
      <p:sp>
        <p:nvSpPr>
          <p:cNvPr id="66" name="Shape 64"/>
          <p:cNvSpPr/>
          <p:nvPr/>
        </p:nvSpPr>
        <p:spPr>
          <a:xfrm>
            <a:off x="13357175" y="4752975"/>
            <a:ext cx="381000" cy="381000"/>
          </a:xfrm>
          <a:prstGeom prst="ellipse">
            <a:avLst/>
          </a:prstGeom>
          <a:solidFill>
            <a:srgbClr val="1976D2"/>
          </a:solidFill>
          <a:ln/>
        </p:spPr>
      </p:sp>
      <p:sp>
        <p:nvSpPr>
          <p:cNvPr id="67" name="Text 65"/>
          <p:cNvSpPr/>
          <p:nvPr/>
        </p:nvSpPr>
        <p:spPr>
          <a:xfrm>
            <a:off x="12328475" y="5133975"/>
            <a:ext cx="51080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4px (기본) · 8px (큰 카드) · pill (FAB·Chip)</a:t>
            </a:r>
            <a:endParaRPr lang="en-US" sz="1350" dirty="0"/>
          </a:p>
        </p:txBody>
      </p:sp>
      <p:sp>
        <p:nvSpPr>
          <p:cNvPr id="68" name="Shape 66"/>
          <p:cNvSpPr/>
          <p:nvPr/>
        </p:nvSpPr>
        <p:spPr>
          <a:xfrm>
            <a:off x="12328475" y="5467350"/>
            <a:ext cx="4959251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69" name="Text 67"/>
          <p:cNvSpPr/>
          <p:nvPr/>
        </p:nvSpPr>
        <p:spPr>
          <a:xfrm>
            <a:off x="12328475" y="5553075"/>
            <a:ext cx="9001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Elevation</a:t>
            </a:r>
            <a:endParaRPr lang="en-US" sz="1500" dirty="0"/>
          </a:p>
        </p:txBody>
      </p:sp>
      <p:sp>
        <p:nvSpPr>
          <p:cNvPr id="70" name="Shape 68"/>
          <p:cNvSpPr/>
          <p:nvPr/>
        </p:nvSpPr>
        <p:spPr>
          <a:xfrm>
            <a:off x="12328475" y="5857875"/>
            <a:ext cx="476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  <a:effectLst>
            <a:outerShdw blurRad="9525" dist="1905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12938075" y="5857875"/>
            <a:ext cx="476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  <a:effectLst>
            <a:outerShdw blurRad="38100" dist="1905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13547675" y="5857875"/>
            <a:ext cx="476250" cy="476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CE3"/>
            </a:solidFill>
            <a:prstDash val="solid"/>
          </a:ln>
          <a:effectLst>
            <a:outerShdw blurRad="47625" dist="47625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12328475" y="6334125"/>
            <a:ext cx="5108028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79818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elev-1 카드 · elev-4 hover · elev-8 dialog</a:t>
            </a:r>
            <a:endParaRPr lang="en-US" sz="1350" dirty="0"/>
          </a:p>
        </p:txBody>
      </p:sp>
      <p:sp>
        <p:nvSpPr>
          <p:cNvPr id="74" name="Shape 72"/>
          <p:cNvSpPr/>
          <p:nvPr/>
        </p:nvSpPr>
        <p:spPr>
          <a:xfrm>
            <a:off x="12328475" y="6667500"/>
            <a:ext cx="4959251" cy="9525"/>
          </a:xfrm>
          <a:prstGeom prst="rect">
            <a:avLst/>
          </a:prstGeom>
          <a:solidFill>
            <a:srgbClr val="D8DCE3"/>
          </a:solidFill>
          <a:ln/>
        </p:spPr>
      </p:sp>
      <p:sp>
        <p:nvSpPr>
          <p:cNvPr id="75" name="Text 73"/>
          <p:cNvSpPr/>
          <p:nvPr/>
        </p:nvSpPr>
        <p:spPr>
          <a:xfrm>
            <a:off x="12328475" y="6753225"/>
            <a:ext cx="510802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톤·매너 </a:t>
            </a:r>
            <a:r>
              <a:rPr lang="en-US" sz="13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Sentence case · 이모지·느낌표 없음 · 차분 · 직설적 </a:t>
            </a:r>
            <a:r>
              <a:rPr lang="en-US" sz="1350" b="1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접근성 </a:t>
            </a:r>
            <a:r>
              <a:rPr lang="en-US" sz="1350" dirty="0">
                <a:solidFill>
                  <a:srgbClr val="1A1F2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WCAG 2.1 AA · 색맹 친화 대비 · 키보드 포커스 링</a:t>
            </a:r>
            <a:endParaRPr lang="en-US" sz="13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A0D13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2895600"/>
            <a:ext cx="4218316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kern="0" spc="264" dirty="0">
                <a:solidFill>
                  <a:srgbClr val="FFFFFF">
                    <a:alpha val="60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화면설계서 V1.0 · 27 페이지 명세 완료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1143000" y="3371850"/>
            <a:ext cx="4231652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0" b="1" kern="0" spc="-18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1143000" y="5124450"/>
            <a:ext cx="9809524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400" dirty="0">
                <a:solidFill>
                  <a:srgbClr val="FFFFFF">
                    <a:alpha val="7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Figma 와이어 변환 · 핵심 페이지 (08·10·15) 우선 작업 · 디자인 시스템 적용 후 인터랙션 프로토타입 → 사용자 테스트 → MVP1 개발 착수.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6877050"/>
            <a:ext cx="4557707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96" dirty="0">
                <a:solidFill>
                  <a:srgbClr val="FFFFFF">
                    <a:alpha val="4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REFERENCE DOCS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7115175"/>
            <a:ext cx="4557707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기획서 v1.0 · 요구사항정의서 (70 FR · 21 NFR)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177558" y="6877050"/>
            <a:ext cx="1804839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96" dirty="0">
                <a:solidFill>
                  <a:srgbClr val="FFFFFF">
                    <a:alpha val="4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OWNERS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77558" y="7115175"/>
            <a:ext cx="1804839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· </a:t>
            </a:r>
            <a:r>
              <a:rPr lang="en-US" sz="180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15796" y="6877050"/>
            <a:ext cx="131564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kern="0" spc="96" dirty="0">
                <a:solidFill>
                  <a:srgbClr val="FFFFFF">
                    <a:alpha val="45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UPDATED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15796" y="7115175"/>
            <a:ext cx="131564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2026.05.14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6720</Words>
  <Application>Microsoft Office PowerPoint</Application>
  <PresentationFormat>사용자 지정</PresentationFormat>
  <Paragraphs>1514</Paragraphs>
  <Slides>33</Slides>
  <Notes>33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9" baseType="lpstr">
      <vt:lpstr>Pretendard</vt:lpstr>
      <vt:lpstr>맑은 고딕</vt:lpstr>
      <vt:lpstr>Arial</vt:lpstr>
      <vt:lpstr>Calibri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human</cp:lastModifiedBy>
  <cp:revision>12</cp:revision>
  <dcterms:created xsi:type="dcterms:W3CDTF">2026-05-14T15:44:37Z</dcterms:created>
  <dcterms:modified xsi:type="dcterms:W3CDTF">2026-05-15T01:33:25Z</dcterms:modified>
</cp:coreProperties>
</file>